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media/image10.png" ContentType="image/pn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9.png" ContentType="image/png"/>
  <Override PartName="/ppt/media/image7.jpeg" ContentType="image/jpeg"/>
  <Override PartName="/ppt/media/image11.png" ContentType="image/png"/>
  <Override PartName="/ppt/media/image8.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3.xml.rels" ContentType="application/vnd.openxmlformats-package.relationships+xml"/>
  <Override PartName="/ppt/notesSlides/_rels/notesSlide1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5FD6073F-1FDB-45A6-B0BB-D06FD99D7DC7}"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3" name="PlaceHolder 1"/>
          <p:cNvSpPr>
            <a:spLocks noGrp="1"/>
          </p:cNvSpPr>
          <p:nvPr>
            <p:ph type="sldImg"/>
          </p:nvPr>
        </p:nvSpPr>
        <p:spPr>
          <a:xfrm>
            <a:off x="685800" y="1143000"/>
            <a:ext cx="5485680" cy="3085560"/>
          </a:xfrm>
          <a:prstGeom prst="rect">
            <a:avLst/>
          </a:prstGeom>
          <a:ln w="0">
            <a:noFill/>
          </a:ln>
        </p:spPr>
      </p:sp>
      <p:sp>
        <p:nvSpPr>
          <p:cNvPr id="89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0:35. Introduce the reproduction of Amer et al. (2025). The research question evolved from reproducing Decision Tree and KNN into understanding what high classification accuracy means when observations are rotational views of a small number of acquisition groups. The central message is not that the dataset is worthless, but that image-level accuracy and novel-crystal accuracy are different quantities.</a:t>
            </a:r>
            <a:endParaRPr b="0" lang="en-US" sz="2000" strike="noStrike" u="none">
              <a:solidFill>
                <a:srgbClr val="000000"/>
              </a:solidFill>
              <a:effectLst/>
              <a:uFillTx/>
              <a:latin typeface="Arial"/>
            </a:endParaRPr>
          </a:p>
        </p:txBody>
      </p:sp>
      <p:sp>
        <p:nvSpPr>
          <p:cNvPr id="895"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632A447-008B-4405-8DBB-65862CBBEE9A}"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6" name="PlaceHolder 1"/>
          <p:cNvSpPr>
            <a:spLocks noGrp="1"/>
          </p:cNvSpPr>
          <p:nvPr>
            <p:ph type="sldImg"/>
          </p:nvPr>
        </p:nvSpPr>
        <p:spPr>
          <a:xfrm>
            <a:off x="685800" y="1143000"/>
            <a:ext cx="5485680" cy="3085560"/>
          </a:xfrm>
          <a:prstGeom prst="rect">
            <a:avLst/>
          </a:prstGeom>
          <a:ln w="0">
            <a:noFill/>
          </a:ln>
        </p:spPr>
      </p:sp>
      <p:sp>
        <p:nvSpPr>
          <p:cNvPr id="89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0:45. Optical mineral classification is sensitive to extinction, birefringence, texture and angle. These three quartz photographs are from the experimental archive at different rotation angles and make the repeated-measurement nature intuitive. The next slide explains how the original paper formalized the rotation protocol.</a:t>
            </a:r>
            <a:endParaRPr b="0" lang="en-US" sz="2000" strike="noStrike" u="none">
              <a:solidFill>
                <a:srgbClr val="000000"/>
              </a:solidFill>
              <a:effectLst/>
              <a:uFillTx/>
              <a:latin typeface="Arial"/>
            </a:endParaRPr>
          </a:p>
        </p:txBody>
      </p:sp>
      <p:sp>
        <p:nvSpPr>
          <p:cNvPr id="898"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4F0D8295-594C-49FB-8564-8350148D3860}"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9" name="PlaceHolder 1"/>
          <p:cNvSpPr>
            <a:spLocks noGrp="1"/>
          </p:cNvSpPr>
          <p:nvPr>
            <p:ph type="sldImg"/>
          </p:nvPr>
        </p:nvSpPr>
        <p:spPr>
          <a:xfrm>
            <a:off x="685800" y="1143000"/>
            <a:ext cx="5485680" cy="3085560"/>
          </a:xfrm>
          <a:prstGeom prst="rect">
            <a:avLst/>
          </a:prstGeom>
          <a:ln w="0">
            <a:noFill/>
          </a:ln>
        </p:spPr>
      </p:sp>
      <p:sp>
        <p:nvSpPr>
          <p:cNvPr id="90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0:45. The paper is a data descriptor. The central advertised contributions are a high-resolution collection, systematic 360-degree rotation, filename traceability and baseline validation. The whole collection is described as 14,400 images, whereas the public XPL training subset is documented as 2,500 images. Reported resized KNN accuracy in Table 3 is 87.2%. The full collection should not be conflated with the public subset.</a:t>
            </a:r>
            <a:endParaRPr b="0" lang="en-US" sz="2000" strike="noStrike" u="none">
              <a:solidFill>
                <a:srgbClr val="000000"/>
              </a:solidFill>
              <a:effectLst/>
              <a:uFillTx/>
              <a:latin typeface="Arial"/>
            </a:endParaRPr>
          </a:p>
        </p:txBody>
      </p:sp>
      <p:sp>
        <p:nvSpPr>
          <p:cNvPr id="901"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E29FF27E-B934-4708-8657-7E6985B74319}"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2" name="PlaceHolder 1"/>
          <p:cNvSpPr>
            <a:spLocks noGrp="1"/>
          </p:cNvSpPr>
          <p:nvPr>
            <p:ph type="sldImg"/>
          </p:nvPr>
        </p:nvSpPr>
        <p:spPr>
          <a:xfrm>
            <a:off x="685800" y="1143000"/>
            <a:ext cx="5485680" cy="3085560"/>
          </a:xfrm>
          <a:prstGeom prst="rect">
            <a:avLst/>
          </a:prstGeom>
          <a:ln w="0">
            <a:noFill/>
          </a:ln>
        </p:spPr>
      </p:sp>
      <p:sp>
        <p:nvSpPr>
          <p:cNvPr id="90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0:55. Authors describe 72 images per crystal, using 5-degree increments over one 360-degree rotation in PPL and XPL. Their filename format includes slide, mineral, polarization type, crystal number, image number and angle. This is important because if filenames uniquely identified a physical crystal, group-aware validation could be designed confidently. The files we accessed contain ambiguities.</a:t>
            </a:r>
            <a:endParaRPr b="0" lang="en-US" sz="2000" strike="noStrike" u="none">
              <a:solidFill>
                <a:srgbClr val="000000"/>
              </a:solidFill>
              <a:effectLst/>
              <a:uFillTx/>
              <a:latin typeface="Arial"/>
            </a:endParaRPr>
          </a:p>
        </p:txBody>
      </p:sp>
      <p:sp>
        <p:nvSpPr>
          <p:cNvPr id="904"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1C35DE8C-773E-4CBF-A135-EC991F8BCB08}"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5" name="PlaceHolder 1"/>
          <p:cNvSpPr>
            <a:spLocks noGrp="1"/>
          </p:cNvSpPr>
          <p:nvPr>
            <p:ph type="sldImg"/>
          </p:nvPr>
        </p:nvSpPr>
        <p:spPr>
          <a:xfrm>
            <a:off x="685800" y="1143000"/>
            <a:ext cx="5485680" cy="3085560"/>
          </a:xfrm>
          <a:prstGeom prst="rect">
            <a:avLst/>
          </a:prstGeom>
          <a:ln w="0">
            <a:noFill/>
          </a:ln>
        </p:spPr>
      </p:sp>
      <p:sp>
        <p:nvSpPr>
          <p:cNvPr id="90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1:00. The full paper describes 14,400 high-resolution images. Its curated public XPL subset is described as 2,500 balanced crops. The file set we could load contains 583 images and is unbalanced. The metadata tables are for 2,500 records, not the 583 image archive. We do not assert that the 2,500 files do not exist anywhere; we state exactly what was accessible and reproducible using our provided ZIP.</a:t>
            </a:r>
            <a:endParaRPr b="0" lang="en-US" sz="2000" strike="noStrike" u="none">
              <a:solidFill>
                <a:srgbClr val="000000"/>
              </a:solidFill>
              <a:effectLst/>
              <a:uFillTx/>
              <a:latin typeface="Arial"/>
            </a:endParaRPr>
          </a:p>
        </p:txBody>
      </p:sp>
      <p:sp>
        <p:nvSpPr>
          <p:cNvPr id="907"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CEB41536-B305-45F0-9184-256892BF5016}"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8" name="PlaceHolder 1"/>
          <p:cNvSpPr>
            <a:spLocks noGrp="1"/>
          </p:cNvSpPr>
          <p:nvPr>
            <p:ph type="sldImg"/>
          </p:nvPr>
        </p:nvSpPr>
        <p:spPr>
          <a:xfrm>
            <a:off x="685800" y="1143000"/>
            <a:ext cx="5485680" cy="3085560"/>
          </a:xfrm>
          <a:prstGeom prst="rect">
            <a:avLst/>
          </a:prstGeom>
          <a:ln w="0">
            <a:noFill/>
          </a:ln>
        </p:spPr>
      </p:sp>
      <p:sp>
        <p:nvSpPr>
          <p:cNvPr id="90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1:05. There are 8 acquisition folders for five mineral classes: Biotite 2, Hornblende 1, Plagioclase 2, K-feldspar 1, Quartz 2. There are 583 images. Some full filenames repeat across folders even though the files differ visually; we found 176 distinct repeated names. Filenames in the article claim to encode crystal IDs, but this archive does not provide unambiguous physical identities. Preliminary visual inspection suggests one crystal per acquisition folder, but we explicitly label that a hypothesis, not a fact. Introduce the independence issue here without concluding leakage has been quantified.</a:t>
            </a:r>
            <a:endParaRPr b="0" lang="en-US" sz="2000" strike="noStrike" u="none">
              <a:solidFill>
                <a:srgbClr val="000000"/>
              </a:solidFill>
              <a:effectLst/>
              <a:uFillTx/>
              <a:latin typeface="Arial"/>
            </a:endParaRPr>
          </a:p>
        </p:txBody>
      </p:sp>
      <p:sp>
        <p:nvSpPr>
          <p:cNvPr id="910"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1AB95415-7C2E-4A86-AA55-14B9933C1DAC}"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1" name="PlaceHolder 1"/>
          <p:cNvSpPr>
            <a:spLocks noGrp="1"/>
          </p:cNvSpPr>
          <p:nvPr>
            <p:ph type="sldImg"/>
          </p:nvPr>
        </p:nvSpPr>
        <p:spPr>
          <a:xfrm>
            <a:off x="685800" y="1143000"/>
            <a:ext cx="5485680" cy="3085560"/>
          </a:xfrm>
          <a:prstGeom prst="rect">
            <a:avLst/>
          </a:prstGeom>
          <a:ln w="0">
            <a:noFill/>
          </a:ln>
        </p:spPr>
      </p:sp>
      <p:sp>
        <p:nvSpPr>
          <p:cNvPr id="91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1:00. Cropping isolates grains; resizing changes image dimensions. The article describes original crops versus 150×150 resized images. The notebook branch called Original cannot stack variable-sized crops, so it standardizes them internally to 224×224; this is NOT original full microscope resolution. Both pipelines normalize pixels, flatten them into feature vectors and use stratified 80/20 split at random seed 42. Baseline algorithms: default Gini Decision Tree and five-neighbor KNN with Euclidean distance.</a:t>
            </a:r>
            <a:endParaRPr b="0" lang="en-US" sz="2000" strike="noStrike" u="none">
              <a:solidFill>
                <a:srgbClr val="000000"/>
              </a:solidFill>
              <a:effectLst/>
              <a:uFillTx/>
              <a:latin typeface="Arial"/>
            </a:endParaRPr>
          </a:p>
        </p:txBody>
      </p:sp>
      <p:sp>
        <p:nvSpPr>
          <p:cNvPr id="913"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A03DF38B-977C-44DC-B2F1-3C0FA7CBCACE}"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4" name="PlaceHolder 1"/>
          <p:cNvSpPr>
            <a:spLocks noGrp="1"/>
          </p:cNvSpPr>
          <p:nvPr>
            <p:ph type="sldImg"/>
          </p:nvPr>
        </p:nvSpPr>
        <p:spPr>
          <a:xfrm>
            <a:off x="216000" y="812520"/>
            <a:ext cx="7126920" cy="4008600"/>
          </a:xfrm>
          <a:prstGeom prst="rect">
            <a:avLst/>
          </a:prstGeom>
          <a:ln w="0">
            <a:noFill/>
          </a:ln>
        </p:spPr>
      </p:sp>
      <p:sp>
        <p:nvSpPr>
          <p:cNvPr id="91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indent="0">
              <a:lnSpc>
                <a:spcPct val="100000"/>
              </a:lnSpc>
              <a:buNone/>
            </a:pPr>
            <a:r>
              <a:rPr b="0" lang="en-US" sz="2000" strike="noStrike" u="none">
                <a:solidFill>
                  <a:srgbClr val="000000"/>
                </a:solidFill>
                <a:effectLst/>
                <a:uFillTx/>
                <a:latin typeface="Arial"/>
              </a:rPr>
              <a:t>0:50. Explain that both baseline algorithms operate on the same normalized, flattened RGB pixel vectors; at 150 × 150 each image becomes 67,500 features. KNN is a lazy learner: fitting keeps the labeled training vectors. For a new photo, it computes distances to stored vectors, chooses five nearest images in the baseline, and assigns the most frequent mineral label. Decision Tree behaves differently: during training it learns feature thresholds that reduce Gini impurity; prediction follows those stored branches until a leaf class is reached. The pictured tree and vote are schematic illustrations, not actual model traces. Transition: now compare both classical models with the published paper.</a:t>
            </a:r>
            <a:endParaRPr b="0" lang="en-US" sz="2000" strike="noStrike" u="none">
              <a:solidFill>
                <a:srgbClr val="000000"/>
              </a:solidFill>
              <a:effectLst/>
              <a:uFillTx/>
              <a:latin typeface="Arial"/>
            </a:endParaRPr>
          </a:p>
        </p:txBody>
      </p:sp>
      <p:sp>
        <p:nvSpPr>
          <p:cNvPr id="916" name="PlaceHolder 3"/>
          <p:cNvSpPr>
            <a:spLocks noGrp="1"/>
          </p:cNvSpPr>
          <p:nvPr>
            <p:ph type="sldNum" idx="11"/>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03360AE-6003-4A4D-8980-680CEC768689}" type="slidenum">
              <a:rPr b="0" lang="en-US" sz="1400" strike="noStrike" u="none">
                <a:solidFill>
                  <a:srgbClr val="000000"/>
                </a:solidFill>
                <a:effectLst/>
                <a:uFillTx/>
                <a:latin typeface="Times New Roman"/>
              </a:rPr>
              <a:t>21</a:t>
            </a:fld>
            <a:endParaRPr b="0" lang="en-US" sz="14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PlaceHolder 1"/>
          <p:cNvSpPr>
            <a:spLocks noGrp="1"/>
          </p:cNvSpPr>
          <p:nvPr>
            <p:ph type="sldImg"/>
          </p:nvPr>
        </p:nvSpPr>
        <p:spPr>
          <a:xfrm>
            <a:off x="685800" y="1143000"/>
            <a:ext cx="5485680" cy="3085560"/>
          </a:xfrm>
          <a:prstGeom prst="rect">
            <a:avLst/>
          </a:prstGeom>
          <a:ln w="0">
            <a:noFill/>
          </a:ln>
        </p:spPr>
      </p:sp>
      <p:sp>
        <p:nvSpPr>
          <p:cNvPr id="91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1:00. This is the fuller baseline comparison requested in the evaluation rubric. At 150 × 150 the article reports Decision Tree accuracy 73.0, precision 74.1, recall 73.0, F1 74.7 percent, versus our 60.7, 61.1, 60.7, 59.6. KNN in the paper is 87.2, 85.1, 87.2, 87.2, versus our 75.2, 76.5, 75.2, 74.5. All our reported precision/recall/F1 are weighted averages; the paper does not fully document averaging, so numerical comparison should not be regarded as exactly like-for-like. Different underlying image sets are the primary barrier to an exact replication.</a:t>
            </a:r>
            <a:endParaRPr b="0" lang="en-US" sz="2000" strike="noStrike" u="none">
              <a:solidFill>
                <a:srgbClr val="000000"/>
              </a:solidFill>
              <a:effectLst/>
              <a:uFillTx/>
              <a:latin typeface="Arial"/>
            </a:endParaRPr>
          </a:p>
        </p:txBody>
      </p:sp>
      <p:sp>
        <p:nvSpPr>
          <p:cNvPr id="919"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E70C0E8-C9A7-448C-9655-07F1A24FEADB}"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0" name="PlaceHolder 1"/>
          <p:cNvSpPr>
            <a:spLocks noGrp="1"/>
          </p:cNvSpPr>
          <p:nvPr>
            <p:ph type="sldImg"/>
          </p:nvPr>
        </p:nvSpPr>
        <p:spPr>
          <a:xfrm>
            <a:off x="685800" y="1143000"/>
            <a:ext cx="5485680" cy="3085560"/>
          </a:xfrm>
          <a:prstGeom prst="rect">
            <a:avLst/>
          </a:prstGeom>
          <a:ln w="0">
            <a:noFill/>
          </a:ln>
        </p:spPr>
      </p:sp>
      <p:sp>
        <p:nvSpPr>
          <p:cNvPr id="92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1:10. A single train/test split gives only one estimate, and scores can change with data partition. Five-fold stratified cross-validation is applied only within the original 466-image training set, not the 117 holdout images. Accuracy varies for KNN 65.6–83.9% and Decision Tree 59.6–68.8%; average KNN 75.5±6.7 pp and DT 64.0±3.5 pp. The second chart shows Macro-F1 by fold; KNN 75.5±7.6 pp, DT 62.3±3.7 pp. CV does not address the same-folder problem because it is still image-level. Variation is not proof of leakage.</a:t>
            </a:r>
            <a:endParaRPr b="0" lang="en-US" sz="2000" strike="noStrike" u="none">
              <a:solidFill>
                <a:srgbClr val="000000"/>
              </a:solidFill>
              <a:effectLst/>
              <a:uFillTx/>
              <a:latin typeface="Arial"/>
            </a:endParaRPr>
          </a:p>
        </p:txBody>
      </p:sp>
      <p:sp>
        <p:nvSpPr>
          <p:cNvPr id="922"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D9D94096-9ED8-44BE-80F7-D269A4858C9C}"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3" name="PlaceHolder 1"/>
          <p:cNvSpPr>
            <a:spLocks noGrp="1"/>
          </p:cNvSpPr>
          <p:nvPr>
            <p:ph type="sldImg"/>
          </p:nvPr>
        </p:nvSpPr>
        <p:spPr>
          <a:xfrm>
            <a:off x="685800" y="1143000"/>
            <a:ext cx="5485680" cy="3085560"/>
          </a:xfrm>
          <a:prstGeom prst="rect">
            <a:avLst/>
          </a:prstGeom>
          <a:ln w="0">
            <a:noFill/>
          </a:ln>
        </p:spPr>
      </p:sp>
      <p:sp>
        <p:nvSpPr>
          <p:cNvPr id="92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1:00. Why macro-F1? Five classes are imbalanced: 73–147 images each. Hyperparameters are selected only using five-fold CV within training. KNN k=1 gives mean CV macro-F1 0.886, versus 0.755 for k=5. Values for k=3,7,9 are 0.823, 0.709, 0.676. Decision Tree max_depth=10,15,None tie at rounded mean macro-F1 0.623; 5 is lower at 0.578. Selection of k=1 raises a new question: do close views of the same acquisition group make single-neighbor matching unusually easy?</a:t>
            </a:r>
            <a:endParaRPr b="0" lang="en-US" sz="2000" strike="noStrike" u="none">
              <a:solidFill>
                <a:srgbClr val="000000"/>
              </a:solidFill>
              <a:effectLst/>
              <a:uFillTx/>
              <a:latin typeface="Arial"/>
            </a:endParaRPr>
          </a:p>
        </p:txBody>
      </p:sp>
      <p:sp>
        <p:nvSpPr>
          <p:cNvPr id="925"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0BA9C44D-4872-4D93-BE63-68CDEFCDBB44}" type="slidenum">
              <a:rPr b="0" lang="en-US" sz="1200" strike="noStrike" u="none">
                <a:solidFill>
                  <a:schemeClr val="dk1"/>
                </a:solidFill>
                <a:effectLst/>
                <a:uFillTx/>
                <a:latin typeface="+mn-lt"/>
                <a:ea typeface="+mn-ea"/>
              </a:rPr>
              <a:t>21</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6" name="PlaceHolder 1"/>
          <p:cNvSpPr>
            <a:spLocks noGrp="1"/>
          </p:cNvSpPr>
          <p:nvPr>
            <p:ph type="sldImg"/>
          </p:nvPr>
        </p:nvSpPr>
        <p:spPr>
          <a:xfrm>
            <a:off x="685800" y="1143000"/>
            <a:ext cx="5485680" cy="3085560"/>
          </a:xfrm>
          <a:prstGeom prst="rect">
            <a:avLst/>
          </a:prstGeom>
          <a:ln w="0">
            <a:noFill/>
          </a:ln>
        </p:spPr>
      </p:sp>
      <p:sp>
        <p:nvSpPr>
          <p:cNvPr id="92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0:50. After CV selects k=1, train on all 466 training images and evaluate the already used 117-image test split. Test accuracy increases from 75.2 to 87.2%, 15 errors remaining. Decision Tree stays 60.7%. Because the test set had been examined in baseline and later analyses, this should not be marketed as an untouched independent test after model exploration. This result sets up error analysis and nearest-neighbor provenance.</a:t>
            </a:r>
            <a:endParaRPr b="0" lang="en-US" sz="2000" strike="noStrike" u="none">
              <a:solidFill>
                <a:srgbClr val="000000"/>
              </a:solidFill>
              <a:effectLst/>
              <a:uFillTx/>
              <a:latin typeface="Arial"/>
            </a:endParaRPr>
          </a:p>
        </p:txBody>
      </p:sp>
      <p:sp>
        <p:nvSpPr>
          <p:cNvPr id="928"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F58A34A1-DD3F-4484-A8B4-1FEBFCC4D54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9" name="PlaceHolder 1"/>
          <p:cNvSpPr>
            <a:spLocks noGrp="1"/>
          </p:cNvSpPr>
          <p:nvPr>
            <p:ph type="sldImg"/>
          </p:nvPr>
        </p:nvSpPr>
        <p:spPr>
          <a:xfrm>
            <a:off x="685800" y="1143000"/>
            <a:ext cx="5485680" cy="3085560"/>
          </a:xfrm>
          <a:prstGeom prst="rect">
            <a:avLst/>
          </a:prstGeom>
          <a:ln w="0">
            <a:noFill/>
          </a:ln>
        </p:spPr>
      </p:sp>
      <p:sp>
        <p:nvSpPr>
          <p:cNvPr id="93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1:00. Read confusion matrices row by row: each row is the true class and each column is the predicted class. The diagonal is correct. KNN gets 102/117 correct; DT 71/117. KNN correctly identifies all 15 Hornblende tests, but only 10/15 Potassium Feldspar; the remaining five are predicted as Quartz. The images and class count show the type of errors rather than just average accuracy.</a:t>
            </a:r>
            <a:endParaRPr b="0" lang="en-US" sz="2000" strike="noStrike" u="none">
              <a:solidFill>
                <a:srgbClr val="000000"/>
              </a:solidFill>
              <a:effectLst/>
              <a:uFillTx/>
              <a:latin typeface="Arial"/>
            </a:endParaRPr>
          </a:p>
        </p:txBody>
      </p:sp>
      <p:sp>
        <p:nvSpPr>
          <p:cNvPr id="931"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9DFD2C6C-8682-46D6-9D1A-1EEA8C0683E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2" name="PlaceHolder 1"/>
          <p:cNvSpPr>
            <a:spLocks noGrp="1"/>
          </p:cNvSpPr>
          <p:nvPr>
            <p:ph type="sldImg"/>
          </p:nvPr>
        </p:nvSpPr>
        <p:spPr>
          <a:xfrm>
            <a:off x="685800" y="1143000"/>
            <a:ext cx="5485680" cy="3085560"/>
          </a:xfrm>
          <a:prstGeom prst="rect">
            <a:avLst/>
          </a:prstGeom>
          <a:ln w="0">
            <a:noFill/>
          </a:ln>
        </p:spPr>
      </p:sp>
      <p:sp>
        <p:nvSpPr>
          <p:cNvPr id="93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0:45. These are six actual errors from the tuned KNN, not new or independently selected test data. Labels above each picture give ground truth and prediction. Several K-feldspar samples are mistaken for Quartz; the matrix revealed five such errors. The photos are illustrative; do not claim to know the decisive learned feature just from their appearance.</a:t>
            </a:r>
            <a:endParaRPr b="0" lang="en-US" sz="2000" strike="noStrike" u="none">
              <a:solidFill>
                <a:srgbClr val="000000"/>
              </a:solidFill>
              <a:effectLst/>
              <a:uFillTx/>
              <a:latin typeface="Arial"/>
            </a:endParaRPr>
          </a:p>
        </p:txBody>
      </p:sp>
      <p:sp>
        <p:nvSpPr>
          <p:cNvPr id="934"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92C6E24-6608-44A5-8AEC-33FD579CFE2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5" name="PlaceHolder 1"/>
          <p:cNvSpPr>
            <a:spLocks noGrp="1"/>
          </p:cNvSpPr>
          <p:nvPr>
            <p:ph type="sldImg"/>
          </p:nvPr>
        </p:nvSpPr>
        <p:spPr>
          <a:xfrm>
            <a:off x="685800" y="1143000"/>
            <a:ext cx="5485680" cy="3085560"/>
          </a:xfrm>
          <a:prstGeom prst="rect">
            <a:avLst/>
          </a:prstGeom>
          <a:ln w="0">
            <a:noFill/>
          </a:ln>
        </p:spPr>
      </p:sp>
      <p:sp>
        <p:nvSpPr>
          <p:cNvPr id="93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1:05. We traced the closest training image for each test sample using tuned k=1 KNN. For 101/117 test samples, the nearest training image comes from the same acquisition folder. As each folder contains just one mineral class, those 101 are necessarily correctly classified. For 16 neighbors from other folders, only one is correct. Therefore 101/101 is an expected consequence of folder identity and k=1, not an independent validation of performance. If a folder is a single physical crystal, these predictions often match other angles of a crystal already encountered during training. The physical identification remains a hypothesis.</a:t>
            </a:r>
            <a:endParaRPr b="0" lang="en-US" sz="2000" strike="noStrike" u="none">
              <a:solidFill>
                <a:srgbClr val="000000"/>
              </a:solidFill>
              <a:effectLst/>
              <a:uFillTx/>
              <a:latin typeface="Arial"/>
            </a:endParaRPr>
          </a:p>
        </p:txBody>
      </p:sp>
      <p:sp>
        <p:nvSpPr>
          <p:cNvPr id="937" name="PlaceHolder 3"/>
          <p:cNvSpPr>
            <a:spLocks noGrp="1"/>
          </p:cNvSpPr>
          <p:nvPr>
            <p:ph type="sldNum" idx="1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909E7757-E0C7-4E6E-8F00-74EF72B4643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8" name="PlaceHolder 1"/>
          <p:cNvSpPr>
            <a:spLocks noGrp="1"/>
          </p:cNvSpPr>
          <p:nvPr>
            <p:ph type="sldImg"/>
          </p:nvPr>
        </p:nvSpPr>
        <p:spPr>
          <a:xfrm>
            <a:off x="685800" y="1143000"/>
            <a:ext cx="5485680" cy="3085560"/>
          </a:xfrm>
          <a:prstGeom prst="rect">
            <a:avLst/>
          </a:prstGeom>
          <a:ln w="0">
            <a:noFill/>
          </a:ln>
        </p:spPr>
      </p:sp>
      <p:sp>
        <p:nvSpPr>
          <p:cNvPr id="93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0:55. CNNs are pretrained on ImageNet; this is transfer learning, not training from scratch. Split derived from same original 466/117: 396 training and 70 validation images carved out of the training pool, 117 test. Stage 1 trains a new five-class classifier while freezing the backbone; Stage 2 fine-tunes the last block and classifier. Augmentations are only on training, and checkpoint selection uses validation. The separation is image-level, not acquisition-group-level. Input is 224×224.</a:t>
            </a:r>
            <a:endParaRPr b="0" lang="en-US" sz="2000" strike="noStrike" u="none">
              <a:solidFill>
                <a:srgbClr val="000000"/>
              </a:solidFill>
              <a:effectLst/>
              <a:uFillTx/>
              <a:latin typeface="Arial"/>
            </a:endParaRPr>
          </a:p>
        </p:txBody>
      </p:sp>
      <p:sp>
        <p:nvSpPr>
          <p:cNvPr id="940" name="PlaceHolder 3"/>
          <p:cNvSpPr>
            <a:spLocks noGrp="1"/>
          </p:cNvSpPr>
          <p:nvPr>
            <p:ph type="sldNum" idx="1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38A69274-B335-4185-9DD9-F15FF5B7EBF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1" name="PlaceHolder 1"/>
          <p:cNvSpPr>
            <a:spLocks noGrp="1"/>
          </p:cNvSpPr>
          <p:nvPr>
            <p:ph type="sldImg"/>
          </p:nvPr>
        </p:nvSpPr>
        <p:spPr>
          <a:xfrm>
            <a:off x="685800" y="1143000"/>
            <a:ext cx="5485680" cy="3085560"/>
          </a:xfrm>
          <a:prstGeom prst="rect">
            <a:avLst/>
          </a:prstGeom>
          <a:ln w="0">
            <a:noFill/>
          </a:ln>
        </p:spPr>
      </p:sp>
      <p:sp>
        <p:nvSpPr>
          <p:cNvPr id="94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1:00. The full five-metric comparison avoids over-reliance on accuracy. EfficientNet head-only gets test accuracy 96.6, weighted precision 97.0, weighted recall 96.6, weighted F1 96.6, macro-F1 96.6 percent. Fine-tuning improves to 99.1,99.2,99.1,99.1,99.3. ConvNeXt Tiny is 100% across all metrics in both head-only and fine-tuned stages. These are saved final notebook values, and the 117-image test is not independent of acquisition folders in training. It does not establish superior generalization to new crystals.</a:t>
            </a:r>
            <a:endParaRPr b="0" lang="en-US" sz="2000" strike="noStrike" u="none">
              <a:solidFill>
                <a:srgbClr val="000000"/>
              </a:solidFill>
              <a:effectLst/>
              <a:uFillTx/>
              <a:latin typeface="Arial"/>
            </a:endParaRPr>
          </a:p>
        </p:txBody>
      </p:sp>
      <p:sp>
        <p:nvSpPr>
          <p:cNvPr id="943" name="PlaceHolder 3"/>
          <p:cNvSpPr>
            <a:spLocks noGrp="1"/>
          </p:cNvSpPr>
          <p:nvPr>
            <p:ph type="sldNum" idx="2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94418DFE-5B77-4467-843E-1BCC2ED84D5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 name="PlaceHolder 1"/>
          <p:cNvSpPr>
            <a:spLocks noGrp="1"/>
          </p:cNvSpPr>
          <p:nvPr>
            <p:ph type="sldImg"/>
          </p:nvPr>
        </p:nvSpPr>
        <p:spPr>
          <a:xfrm>
            <a:off x="685800" y="1143000"/>
            <a:ext cx="5485680" cy="3085560"/>
          </a:xfrm>
          <a:prstGeom prst="rect">
            <a:avLst/>
          </a:prstGeom>
          <a:ln w="0">
            <a:noFill/>
          </a:ln>
        </p:spPr>
      </p:sp>
      <p:sp>
        <p:nvSpPr>
          <p:cNvPr id="94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0:45. The plots are the actual training traces from the final notebook. EfficientNet and ConvNeXt converge rapidly with pretrained ImageNet representations. ConvNeXt validation accuracy reaches 100 percent by epoch 5 of head-only training and remains there, while loss continues to decline. The stage boundary is shown with a vertical dashed line. EfficientNet validation accuracy fluctuates after fine-tuning, even when its test accuracy rises. The graphs show fitting and checkpoint selection on a related-image validation set—not validated generalization to independent crystals.</a:t>
            </a:r>
            <a:endParaRPr b="0" lang="en-US" sz="2000" strike="noStrike" u="none">
              <a:solidFill>
                <a:srgbClr val="000000"/>
              </a:solidFill>
              <a:effectLst/>
              <a:uFillTx/>
              <a:latin typeface="Arial"/>
            </a:endParaRPr>
          </a:p>
        </p:txBody>
      </p:sp>
      <p:sp>
        <p:nvSpPr>
          <p:cNvPr id="946" name="PlaceHolder 3"/>
          <p:cNvSpPr>
            <a:spLocks noGrp="1"/>
          </p:cNvSpPr>
          <p:nvPr>
            <p:ph type="sldNum" idx="2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CD8FDD50-33A0-4615-B572-D9C71E22DD2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7" name="PlaceHolder 1"/>
          <p:cNvSpPr>
            <a:spLocks noGrp="1"/>
          </p:cNvSpPr>
          <p:nvPr>
            <p:ph type="sldImg"/>
          </p:nvPr>
        </p:nvSpPr>
        <p:spPr>
          <a:xfrm>
            <a:off x="685800" y="1143000"/>
            <a:ext cx="5485680" cy="3085560"/>
          </a:xfrm>
          <a:prstGeom prst="rect">
            <a:avLst/>
          </a:prstGeom>
          <a:ln w="0">
            <a:noFill/>
          </a:ln>
        </p:spPr>
      </p:sp>
      <p:sp>
        <p:nvSpPr>
          <p:cNvPr id="94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1:10. The key issue is the unit of splitting. All eight acquisition folders are represented in both training and test (8/8 groups). Every one of the 117 test photographs belongs to a folder already represented in training (117/117 images); these counts describe group overlap, not model accuracy. Different rotation angles from the same folder can enter both sets. If each folder represents a distinct physical crystal, as preliminarily hypothesized but not verified, this is group-level leakage relative to testing on unseen crystals. We cannot quantify the inflation of model accuracy without a group-disjoint evaluation. The published metadata does not reliably identify physical crystals in this 583-image archive.</a:t>
            </a:r>
            <a:endParaRPr b="0" lang="en-US" sz="2000" strike="noStrike" u="none">
              <a:solidFill>
                <a:srgbClr val="000000"/>
              </a:solidFill>
              <a:effectLst/>
              <a:uFillTx/>
              <a:latin typeface="Arial"/>
            </a:endParaRPr>
          </a:p>
        </p:txBody>
      </p:sp>
      <p:sp>
        <p:nvSpPr>
          <p:cNvPr id="949" name="PlaceHolder 3"/>
          <p:cNvSpPr>
            <a:spLocks noGrp="1"/>
          </p:cNvSpPr>
          <p:nvPr>
            <p:ph type="sldNum" idx="2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DA6FAF95-D598-460B-8BF4-70A8EB28135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 name="PlaceHolder 1"/>
          <p:cNvSpPr>
            <a:spLocks noGrp="1"/>
          </p:cNvSpPr>
          <p:nvPr>
            <p:ph type="sldImg"/>
          </p:nvPr>
        </p:nvSpPr>
        <p:spPr>
          <a:xfrm>
            <a:off x="685800" y="1143000"/>
            <a:ext cx="5485680" cy="3085560"/>
          </a:xfrm>
          <a:prstGeom prst="rect">
            <a:avLst/>
          </a:prstGeom>
          <a:ln w="0">
            <a:noFill/>
          </a:ln>
        </p:spPr>
      </p:sp>
      <p:sp>
        <p:nvSpPr>
          <p:cNvPr id="95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0:45. We have a runnable notebook designed for Google Colab. The README explains dependencies, GPU setup, exact source archive and order of execution. A requirements file captures dependencies, and the notebook prints key library versions. All classical splits use seed 42; model parameters, CV procedures and experiment outputs are recorded. CNN uses pretrained weights downloaded from PyTorch and may not reproduce bit-for-bit across hardware versions. Local execution may require Colab path changes. Scientific reproduction is limited by ambiguous group IDs and the 583-file subset versus 2,500 documented images. This satisfies transparency without pretending that the code is universally platform-independent.</a:t>
            </a:r>
            <a:endParaRPr b="0" lang="en-US" sz="2000" strike="noStrike" u="none">
              <a:solidFill>
                <a:srgbClr val="000000"/>
              </a:solidFill>
              <a:effectLst/>
              <a:uFillTx/>
              <a:latin typeface="Arial"/>
            </a:endParaRPr>
          </a:p>
        </p:txBody>
      </p:sp>
      <p:sp>
        <p:nvSpPr>
          <p:cNvPr id="952" name="PlaceHolder 3"/>
          <p:cNvSpPr>
            <a:spLocks noGrp="1"/>
          </p:cNvSpPr>
          <p:nvPr>
            <p:ph type="sldNum" idx="2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C5F00B54-92AE-4413-A009-63AB835C52E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 name="PlaceHolder 1"/>
          <p:cNvSpPr>
            <a:spLocks noGrp="1"/>
          </p:cNvSpPr>
          <p:nvPr>
            <p:ph type="sldImg"/>
          </p:nvPr>
        </p:nvSpPr>
        <p:spPr>
          <a:xfrm>
            <a:off x="685800" y="1143000"/>
            <a:ext cx="5485680" cy="3085560"/>
          </a:xfrm>
          <a:prstGeom prst="rect">
            <a:avLst/>
          </a:prstGeom>
          <a:ln w="0">
            <a:noFill/>
          </a:ln>
        </p:spPr>
      </p:sp>
      <p:sp>
        <p:nvSpPr>
          <p:cNvPr id="95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0:45. Summarize the contributions: methodological reproduction of the paper’s pixel-based Decision Tree and KNN approach; controlled CV and hyperparameter tuning; detailed errors and nearest-neighbor examination; two pretrained CNNs; and a careful dataset audit. The most important claim is that image-level held-out photographs are not a substitute for verified new-crystal validation. We do not discard the dataset or dismiss the models. A future benchmark requires full documented data, unique physical specimen IDs and group-disjoint evaluation. Thank the audience and invite questions.</a:t>
            </a:r>
            <a:endParaRPr b="0" lang="en-US" sz="2000" strike="noStrike" u="none">
              <a:solidFill>
                <a:srgbClr val="000000"/>
              </a:solidFill>
              <a:effectLst/>
              <a:uFillTx/>
              <a:latin typeface="Arial"/>
            </a:endParaRPr>
          </a:p>
        </p:txBody>
      </p:sp>
      <p:sp>
        <p:nvSpPr>
          <p:cNvPr id="955" name="PlaceHolder 3"/>
          <p:cNvSpPr>
            <a:spLocks noGrp="1"/>
          </p:cNvSpPr>
          <p:nvPr>
            <p:ph type="sldNum" idx="2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5F2FB8FB-EDC6-41EE-A59B-1F37436821A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image" Target="../media/image4.jpeg"/><Relationship Id="rId5" Type="http://schemas.openxmlformats.org/officeDocument/2006/relationships/image" Target="../media/image5.jpeg"/><Relationship Id="rId6" Type="http://schemas.openxmlformats.org/officeDocument/2006/relationships/slideLayout" Target="../slideLayouts/slideLayout1.xml"/><Relationship Id="rId7"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slideLayout" Target="../slideLayouts/slideLayout1.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Shape 0"/>
          <p:cNvSpPr/>
          <p:nvPr/>
        </p:nvSpPr>
        <p:spPr>
          <a:xfrm>
            <a:off x="0" y="0"/>
            <a:ext cx="12191040" cy="6857280"/>
          </a:xfrm>
          <a:prstGeom prst="rect">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9" name="Shape 1"/>
          <p:cNvSpPr/>
          <p:nvPr/>
        </p:nvSpPr>
        <p:spPr>
          <a:xfrm>
            <a:off x="567000" y="511920"/>
            <a:ext cx="2605320" cy="310320"/>
          </a:xfrm>
          <a:prstGeom prst="roundRect">
            <a:avLst>
              <a:gd name="adj" fmla="val 38235"/>
            </a:avLst>
          </a:prstGeom>
          <a:solidFill>
            <a:srgbClr val="28484b"/>
          </a:solidFill>
          <a:ln w="12700">
            <a:solidFill>
              <a:srgbClr val="28484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0" name="Text 2"/>
          <p:cNvSpPr/>
          <p:nvPr/>
        </p:nvSpPr>
        <p:spPr>
          <a:xfrm>
            <a:off x="713160" y="567000"/>
            <a:ext cx="2331000" cy="200520"/>
          </a:xfrm>
          <a:prstGeom prst="rect">
            <a:avLst/>
          </a:prstGeom>
          <a:noFill/>
          <a:ln w="0">
            <a:noFill/>
          </a:ln>
        </p:spPr>
        <p:style>
          <a:lnRef idx="0"/>
          <a:fillRef idx="0"/>
          <a:effectRef idx="0"/>
          <a:fontRef idx="minor"/>
        </p:style>
        <p:txBody>
          <a:bodyPr lIns="0" rIns="0" tIns="0" bIns="0" anchor="ctr">
            <a:normAutofit fontScale="92500" lnSpcReduction="19999"/>
          </a:bodyPr>
          <a:p>
            <a:pPr defTabSz="914400">
              <a:lnSpc>
                <a:spcPct val="100000"/>
              </a:lnSpc>
              <a:tabLst>
                <a:tab algn="l" pos="0"/>
              </a:tabLst>
            </a:pPr>
            <a:r>
              <a:rPr b="1" lang="en-US" sz="950" spc="99" strike="noStrike" u="none">
                <a:solidFill>
                  <a:srgbClr val="bde2d9"/>
                </a:solidFill>
                <a:effectLst/>
                <a:uFillTx/>
                <a:latin typeface="Inter"/>
                <a:ea typeface="Inter"/>
              </a:rPr>
              <a:t>REPRODUCTION • CRITICAL EVALUATION</a:t>
            </a:r>
            <a:endParaRPr b="0" lang="en-US" sz="950" strike="noStrike" u="none">
              <a:solidFill>
                <a:srgbClr val="000000"/>
              </a:solidFill>
              <a:effectLst/>
              <a:uFillTx/>
              <a:latin typeface="Arial"/>
            </a:endParaRPr>
          </a:p>
        </p:txBody>
      </p:sp>
      <p:sp>
        <p:nvSpPr>
          <p:cNvPr id="11" name="Text 3"/>
          <p:cNvSpPr/>
          <p:nvPr/>
        </p:nvSpPr>
        <p:spPr>
          <a:xfrm>
            <a:off x="631080" y="1417320"/>
            <a:ext cx="6994440" cy="941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800" strike="noStrike" u="none">
                <a:solidFill>
                  <a:srgbClr val="ffffff"/>
                </a:solidFill>
                <a:effectLst/>
                <a:uFillTx/>
                <a:latin typeface="Inter Display"/>
                <a:ea typeface="Inter Display"/>
              </a:rPr>
              <a:t>100% ACCURACY</a:t>
            </a:r>
            <a:endParaRPr b="0" lang="en-US" sz="4800" strike="noStrike" u="none">
              <a:solidFill>
                <a:srgbClr val="000000"/>
              </a:solidFill>
              <a:effectLst/>
              <a:uFillTx/>
              <a:latin typeface="Arial"/>
            </a:endParaRPr>
          </a:p>
        </p:txBody>
      </p:sp>
      <p:sp>
        <p:nvSpPr>
          <p:cNvPr id="12" name="Text 4"/>
          <p:cNvSpPr/>
          <p:nvPr/>
        </p:nvSpPr>
        <p:spPr>
          <a:xfrm>
            <a:off x="631080" y="2368440"/>
            <a:ext cx="6903000" cy="959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400" strike="noStrike" u="none">
                <a:solidFill>
                  <a:srgbClr val="e7ac60"/>
                </a:solidFill>
                <a:effectLst/>
                <a:uFillTx/>
                <a:latin typeface="Inter Display"/>
                <a:ea typeface="Inter Display"/>
              </a:rPr>
              <a:t>— BUT ON WHAT?</a:t>
            </a:r>
            <a:endParaRPr b="0" lang="en-US" sz="4400" strike="noStrike" u="none">
              <a:solidFill>
                <a:srgbClr val="000000"/>
              </a:solidFill>
              <a:effectLst/>
              <a:uFillTx/>
              <a:latin typeface="Arial"/>
            </a:endParaRPr>
          </a:p>
        </p:txBody>
      </p:sp>
      <p:sp>
        <p:nvSpPr>
          <p:cNvPr id="13" name="Text 5"/>
          <p:cNvSpPr/>
          <p:nvPr/>
        </p:nvSpPr>
        <p:spPr>
          <a:xfrm>
            <a:off x="658440" y="3675960"/>
            <a:ext cx="5988600" cy="1005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2200" strike="noStrike" u="none">
                <a:solidFill>
                  <a:srgbClr val="d5e5e1"/>
                </a:solidFill>
                <a:effectLst/>
                <a:uFillTx/>
                <a:latin typeface="Inter"/>
                <a:ea typeface="Inter"/>
              </a:rPr>
              <a:t>Mineral photomicrograph classification</a:t>
            </a:r>
            <a:endParaRPr b="0" lang="en-US" sz="2200" strike="noStrike" u="none">
              <a:solidFill>
                <a:srgbClr val="000000"/>
              </a:solidFill>
              <a:effectLst/>
              <a:uFillTx/>
              <a:latin typeface="Arial"/>
            </a:endParaRPr>
          </a:p>
          <a:p>
            <a:pPr defTabSz="914400">
              <a:lnSpc>
                <a:spcPct val="100000"/>
              </a:lnSpc>
              <a:tabLst>
                <a:tab algn="l" pos="0"/>
              </a:tabLst>
            </a:pPr>
            <a:r>
              <a:rPr b="0" lang="en-US" sz="2200" strike="noStrike" u="none">
                <a:solidFill>
                  <a:srgbClr val="d5e5e1"/>
                </a:solidFill>
                <a:effectLst/>
                <a:uFillTx/>
                <a:latin typeface="Inter"/>
                <a:ea typeface="Inter"/>
              </a:rPr>
              <a:t>through the lens of dataset quality</a:t>
            </a:r>
            <a:endParaRPr b="0" lang="en-US" sz="2200" strike="noStrike" u="none">
              <a:solidFill>
                <a:srgbClr val="000000"/>
              </a:solidFill>
              <a:effectLst/>
              <a:uFillTx/>
              <a:latin typeface="Arial"/>
            </a:endParaRPr>
          </a:p>
        </p:txBody>
      </p:sp>
      <p:sp>
        <p:nvSpPr>
          <p:cNvPr id="14" name="Text 6"/>
          <p:cNvSpPr/>
          <p:nvPr/>
        </p:nvSpPr>
        <p:spPr>
          <a:xfrm>
            <a:off x="667440" y="5934600"/>
            <a:ext cx="6400080" cy="365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b2c9c3"/>
                </a:solidFill>
                <a:effectLst/>
                <a:uFillTx/>
                <a:latin typeface="Inter"/>
                <a:ea typeface="Inter"/>
              </a:rPr>
              <a:t>Reproducing Amer et al. (2025), Scientific Data</a:t>
            </a:r>
            <a:endParaRPr b="0" lang="en-US" sz="1300" strike="noStrike" u="none">
              <a:solidFill>
                <a:srgbClr val="000000"/>
              </a:solidFill>
              <a:effectLst/>
              <a:uFillTx/>
              <a:latin typeface="Arial"/>
            </a:endParaRPr>
          </a:p>
        </p:txBody>
      </p:sp>
      <p:sp>
        <p:nvSpPr>
          <p:cNvPr id="15" name="Shape 7"/>
          <p:cNvSpPr/>
          <p:nvPr/>
        </p:nvSpPr>
        <p:spPr>
          <a:xfrm>
            <a:off x="7452360" y="0"/>
            <a:ext cx="4735800" cy="6857280"/>
          </a:xfrm>
          <a:prstGeom prst="rect">
            <a:avLst/>
          </a:prstGeom>
          <a:solidFill>
            <a:srgbClr val="204144"/>
          </a:solidFill>
          <a:ln w="12700">
            <a:solidFill>
              <a:srgbClr val="20414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 name="Shape 8"/>
          <p:cNvSpPr/>
          <p:nvPr/>
        </p:nvSpPr>
        <p:spPr>
          <a:xfrm>
            <a:off x="7648920" y="543960"/>
            <a:ext cx="1965240" cy="163620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 name="Shape 9"/>
          <p:cNvSpPr/>
          <p:nvPr/>
        </p:nvSpPr>
        <p:spPr>
          <a:xfrm>
            <a:off x="7680960" y="576000"/>
            <a:ext cx="1901160" cy="157212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18" name="Image 0" descr="/mnt/data/MUMDMC2025_presentation_assets/Biotite_1.jpg"/>
          <p:cNvPicPr/>
          <p:nvPr/>
        </p:nvPicPr>
        <p:blipFill>
          <a:blip r:embed="rId1"/>
          <a:srcRect l="0" t="19130" r="0" b="19130"/>
          <a:stretch/>
        </p:blipFill>
        <p:spPr>
          <a:xfrm>
            <a:off x="7745040" y="640080"/>
            <a:ext cx="1773360" cy="1443960"/>
          </a:xfrm>
          <a:prstGeom prst="rect">
            <a:avLst/>
          </a:prstGeom>
          <a:noFill/>
          <a:ln w="0">
            <a:noFill/>
          </a:ln>
        </p:spPr>
      </p:pic>
      <p:sp>
        <p:nvSpPr>
          <p:cNvPr id="19" name="Shape 10"/>
          <p:cNvSpPr/>
          <p:nvPr/>
        </p:nvSpPr>
        <p:spPr>
          <a:xfrm>
            <a:off x="9788760" y="543960"/>
            <a:ext cx="1965240" cy="163620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0" name="Shape 11"/>
          <p:cNvSpPr/>
          <p:nvPr/>
        </p:nvSpPr>
        <p:spPr>
          <a:xfrm>
            <a:off x="9820800" y="576000"/>
            <a:ext cx="1901160" cy="157212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21" name="Image 1" descr="/mnt/data/MUMDMC2025_presentation_assets/Hornblende_2.jpg"/>
          <p:cNvPicPr/>
          <p:nvPr/>
        </p:nvPicPr>
        <p:blipFill>
          <a:blip r:embed="rId2"/>
          <a:srcRect l="0" t="15624" r="0" b="15624"/>
          <a:stretch/>
        </p:blipFill>
        <p:spPr>
          <a:xfrm>
            <a:off x="9884520" y="640080"/>
            <a:ext cx="1773360" cy="1443960"/>
          </a:xfrm>
          <a:prstGeom prst="rect">
            <a:avLst/>
          </a:prstGeom>
          <a:noFill/>
          <a:ln w="0">
            <a:noFill/>
          </a:ln>
        </p:spPr>
      </p:pic>
      <p:sp>
        <p:nvSpPr>
          <p:cNvPr id="22" name="Shape 12"/>
          <p:cNvSpPr/>
          <p:nvPr/>
        </p:nvSpPr>
        <p:spPr>
          <a:xfrm>
            <a:off x="7648920" y="2436840"/>
            <a:ext cx="1965240" cy="163620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 name="Shape 13"/>
          <p:cNvSpPr/>
          <p:nvPr/>
        </p:nvSpPr>
        <p:spPr>
          <a:xfrm>
            <a:off x="7680960" y="2468880"/>
            <a:ext cx="1901160" cy="157212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24" name="Image 2" descr="/mnt/data/MUMDMC2025_presentation_assets/Plagioclase_1.jpg"/>
          <p:cNvPicPr/>
          <p:nvPr/>
        </p:nvPicPr>
        <p:blipFill>
          <a:blip r:embed="rId3"/>
          <a:srcRect l="0" t="6143" r="0" b="6143"/>
          <a:stretch/>
        </p:blipFill>
        <p:spPr>
          <a:xfrm>
            <a:off x="7745040" y="2532960"/>
            <a:ext cx="1773360" cy="1443960"/>
          </a:xfrm>
          <a:prstGeom prst="rect">
            <a:avLst/>
          </a:prstGeom>
          <a:noFill/>
          <a:ln w="0">
            <a:noFill/>
          </a:ln>
        </p:spPr>
      </p:pic>
      <p:sp>
        <p:nvSpPr>
          <p:cNvPr id="25" name="Shape 14"/>
          <p:cNvSpPr/>
          <p:nvPr/>
        </p:nvSpPr>
        <p:spPr>
          <a:xfrm>
            <a:off x="9788760" y="2436840"/>
            <a:ext cx="1965240" cy="163620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6" name="Shape 15"/>
          <p:cNvSpPr/>
          <p:nvPr/>
        </p:nvSpPr>
        <p:spPr>
          <a:xfrm>
            <a:off x="9820800" y="2468880"/>
            <a:ext cx="1901160" cy="157212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27" name="Image 3" descr="/mnt/data/MUMDMC2025_presentation_assets/Potassium_Feldspar_0.jpg"/>
          <p:cNvPicPr/>
          <p:nvPr/>
        </p:nvPicPr>
        <p:blipFill>
          <a:blip r:embed="rId4"/>
          <a:srcRect l="0" t="842" r="0" b="842"/>
          <a:stretch/>
        </p:blipFill>
        <p:spPr>
          <a:xfrm>
            <a:off x="9884520" y="2532960"/>
            <a:ext cx="1773360" cy="1443960"/>
          </a:xfrm>
          <a:prstGeom prst="rect">
            <a:avLst/>
          </a:prstGeom>
          <a:noFill/>
          <a:ln w="0">
            <a:noFill/>
          </a:ln>
        </p:spPr>
      </p:pic>
      <p:sp>
        <p:nvSpPr>
          <p:cNvPr id="28" name="Shape 16"/>
          <p:cNvSpPr/>
          <p:nvPr/>
        </p:nvSpPr>
        <p:spPr>
          <a:xfrm>
            <a:off x="8691480" y="4329720"/>
            <a:ext cx="1965240" cy="1636200"/>
          </a:xfrm>
          <a:prstGeom prst="roundRect">
            <a:avLst>
              <a:gd name="adj" fmla="val 5587"/>
            </a:avLst>
          </a:prstGeom>
          <a:solidFill>
            <a:srgbClr val="31585a"/>
          </a:solidFill>
          <a:ln w="12700">
            <a:solidFill>
              <a:srgbClr val="31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9" name="Shape 17"/>
          <p:cNvSpPr/>
          <p:nvPr/>
        </p:nvSpPr>
        <p:spPr>
          <a:xfrm>
            <a:off x="8723520" y="4361760"/>
            <a:ext cx="1901160" cy="1572120"/>
          </a:xfrm>
          <a:prstGeom prst="roundRect">
            <a:avLst>
              <a:gd name="adj" fmla="val 4651"/>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30" name="Image 4" descr="/mnt/data/MUMDMC2025_presentation_assets/Quartz_3.jpg"/>
          <p:cNvPicPr/>
          <p:nvPr/>
        </p:nvPicPr>
        <p:blipFill>
          <a:blip r:embed="rId5"/>
          <a:srcRect l="0" t="7490" r="0" b="7490"/>
          <a:stretch/>
        </p:blipFill>
        <p:spPr>
          <a:xfrm>
            <a:off x="8787240" y="4425840"/>
            <a:ext cx="1773360" cy="144396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2" name="Shape 1"/>
          <p:cNvSpPr/>
          <p:nvPr/>
        </p:nvSpPr>
        <p:spPr>
          <a:xfrm>
            <a:off x="567000" y="356760"/>
            <a:ext cx="25120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3" name="Text 2"/>
          <p:cNvSpPr/>
          <p:nvPr/>
        </p:nvSpPr>
        <p:spPr>
          <a:xfrm>
            <a:off x="676800" y="379440"/>
            <a:ext cx="229248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34"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Why mineral recognition is challenging</a:t>
            </a:r>
            <a:endParaRPr b="0" lang="en-US" sz="3000" strike="noStrike" u="none">
              <a:solidFill>
                <a:srgbClr val="000000"/>
              </a:solidFill>
              <a:effectLst/>
              <a:uFillTx/>
              <a:latin typeface="Arial"/>
            </a:endParaRPr>
          </a:p>
        </p:txBody>
      </p:sp>
      <p:sp>
        <p:nvSpPr>
          <p:cNvPr id="35"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same mineral can look very different when the microscope stage rotates.</a:t>
            </a:r>
            <a:endParaRPr b="0" lang="en-US" sz="1430" strike="noStrike" u="none">
              <a:solidFill>
                <a:srgbClr val="000000"/>
              </a:solidFill>
              <a:effectLst/>
              <a:uFillTx/>
              <a:latin typeface="Arial"/>
            </a:endParaRPr>
          </a:p>
        </p:txBody>
      </p:sp>
      <p:sp>
        <p:nvSpPr>
          <p:cNvPr id="36"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7"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38"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02  /  21</a:t>
            </a:r>
            <a:endParaRPr b="0" lang="en-US" sz="900" strike="noStrike" u="none">
              <a:solidFill>
                <a:srgbClr val="000000"/>
              </a:solidFill>
              <a:effectLst/>
              <a:uFillTx/>
              <a:latin typeface="Arial"/>
            </a:endParaRPr>
          </a:p>
        </p:txBody>
      </p:sp>
      <p:sp>
        <p:nvSpPr>
          <p:cNvPr id="39" name="Shape 8"/>
          <p:cNvSpPr/>
          <p:nvPr/>
        </p:nvSpPr>
        <p:spPr>
          <a:xfrm>
            <a:off x="658440" y="2157840"/>
            <a:ext cx="2486520" cy="283392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40" name="Image 0" descr="/mnt/data/MUMDMC2025_presentation_assets/Quartz_0.jpg"/>
          <p:cNvPicPr/>
          <p:nvPr/>
        </p:nvPicPr>
        <p:blipFill>
          <a:blip r:embed="rId1"/>
          <a:stretch/>
        </p:blipFill>
        <p:spPr>
          <a:xfrm>
            <a:off x="826200" y="2377440"/>
            <a:ext cx="2151000" cy="2129760"/>
          </a:xfrm>
          <a:prstGeom prst="rect">
            <a:avLst/>
          </a:prstGeom>
          <a:noFill/>
          <a:ln w="0">
            <a:noFill/>
          </a:ln>
        </p:spPr>
      </p:pic>
      <p:sp>
        <p:nvSpPr>
          <p:cNvPr id="41" name="Shape 9"/>
          <p:cNvSpPr/>
          <p:nvPr/>
        </p:nvSpPr>
        <p:spPr>
          <a:xfrm>
            <a:off x="1536120" y="4608720"/>
            <a:ext cx="6850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42" name="Text 10"/>
          <p:cNvSpPr/>
          <p:nvPr/>
        </p:nvSpPr>
        <p:spPr>
          <a:xfrm>
            <a:off x="1645920" y="4631400"/>
            <a:ext cx="46548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a:t>
            </a:r>
            <a:endParaRPr b="0" lang="en-US" sz="1000" strike="noStrike" u="none">
              <a:solidFill>
                <a:srgbClr val="000000"/>
              </a:solidFill>
              <a:effectLst/>
              <a:uFillTx/>
              <a:latin typeface="Arial"/>
            </a:endParaRPr>
          </a:p>
        </p:txBody>
      </p:sp>
      <p:sp>
        <p:nvSpPr>
          <p:cNvPr id="43" name="Shape 11"/>
          <p:cNvSpPr/>
          <p:nvPr/>
        </p:nvSpPr>
        <p:spPr>
          <a:xfrm>
            <a:off x="3456360" y="2157840"/>
            <a:ext cx="2486520" cy="283392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44" name="Image 1" descr="/mnt/data/MUMDMC2025_presentation_assets/Quartz_2.jpg"/>
          <p:cNvPicPr/>
          <p:nvPr/>
        </p:nvPicPr>
        <p:blipFill>
          <a:blip r:embed="rId2"/>
          <a:stretch/>
        </p:blipFill>
        <p:spPr>
          <a:xfrm>
            <a:off x="3547800" y="2845080"/>
            <a:ext cx="2303640" cy="1194840"/>
          </a:xfrm>
          <a:prstGeom prst="rect">
            <a:avLst/>
          </a:prstGeom>
          <a:noFill/>
          <a:ln w="0">
            <a:noFill/>
          </a:ln>
        </p:spPr>
      </p:pic>
      <p:sp>
        <p:nvSpPr>
          <p:cNvPr id="45" name="Shape 12"/>
          <p:cNvSpPr/>
          <p:nvPr/>
        </p:nvSpPr>
        <p:spPr>
          <a:xfrm>
            <a:off x="4334400" y="4608720"/>
            <a:ext cx="6850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46" name="Text 13"/>
          <p:cNvSpPr/>
          <p:nvPr/>
        </p:nvSpPr>
        <p:spPr>
          <a:xfrm>
            <a:off x="4443840" y="4631400"/>
            <a:ext cx="46548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60°</a:t>
            </a:r>
            <a:endParaRPr b="0" lang="en-US" sz="1000" strike="noStrike" u="none">
              <a:solidFill>
                <a:srgbClr val="000000"/>
              </a:solidFill>
              <a:effectLst/>
              <a:uFillTx/>
              <a:latin typeface="Arial"/>
            </a:endParaRPr>
          </a:p>
        </p:txBody>
      </p:sp>
      <p:sp>
        <p:nvSpPr>
          <p:cNvPr id="47" name="Shape 14"/>
          <p:cNvSpPr/>
          <p:nvPr/>
        </p:nvSpPr>
        <p:spPr>
          <a:xfrm>
            <a:off x="6254640" y="2157840"/>
            <a:ext cx="2486520" cy="283392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48" name="Image 2" descr="/mnt/data/MUMDMC2025_presentation_assets/Quartz_4.jpg"/>
          <p:cNvPicPr/>
          <p:nvPr/>
        </p:nvPicPr>
        <p:blipFill>
          <a:blip r:embed="rId3"/>
          <a:stretch/>
        </p:blipFill>
        <p:spPr>
          <a:xfrm>
            <a:off x="6938640" y="2377440"/>
            <a:ext cx="1117800" cy="2129760"/>
          </a:xfrm>
          <a:prstGeom prst="rect">
            <a:avLst/>
          </a:prstGeom>
          <a:noFill/>
          <a:ln w="0">
            <a:noFill/>
          </a:ln>
        </p:spPr>
      </p:pic>
      <p:sp>
        <p:nvSpPr>
          <p:cNvPr id="49" name="Shape 15"/>
          <p:cNvSpPr/>
          <p:nvPr/>
        </p:nvSpPr>
        <p:spPr>
          <a:xfrm>
            <a:off x="7132320" y="4608720"/>
            <a:ext cx="6850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0" name="Text 16"/>
          <p:cNvSpPr/>
          <p:nvPr/>
        </p:nvSpPr>
        <p:spPr>
          <a:xfrm>
            <a:off x="7242120" y="4631400"/>
            <a:ext cx="46548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150°</a:t>
            </a:r>
            <a:endParaRPr b="0" lang="en-US" sz="1000" strike="noStrike" u="none">
              <a:solidFill>
                <a:srgbClr val="000000"/>
              </a:solidFill>
              <a:effectLst/>
              <a:uFillTx/>
              <a:latin typeface="Arial"/>
            </a:endParaRPr>
          </a:p>
        </p:txBody>
      </p:sp>
      <p:sp>
        <p:nvSpPr>
          <p:cNvPr id="51" name="Shape 17"/>
          <p:cNvSpPr/>
          <p:nvPr/>
        </p:nvSpPr>
        <p:spPr>
          <a:xfrm>
            <a:off x="9189720" y="2176200"/>
            <a:ext cx="2276280" cy="2797200"/>
          </a:xfrm>
          <a:prstGeom prst="roundRect">
            <a:avLst>
              <a:gd name="adj" fmla="val 6024"/>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2" name="Text 18"/>
          <p:cNvSpPr/>
          <p:nvPr/>
        </p:nvSpPr>
        <p:spPr>
          <a:xfrm>
            <a:off x="9464040" y="2679120"/>
            <a:ext cx="1718280" cy="785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400" strike="noStrike" u="none">
                <a:solidFill>
                  <a:srgbClr val="ffffff"/>
                </a:solidFill>
                <a:effectLst/>
                <a:uFillTx/>
                <a:latin typeface="Inter Display"/>
                <a:ea typeface="Inter Display"/>
              </a:rPr>
              <a:t>ONE</a:t>
            </a:r>
            <a:endParaRPr b="0" lang="en-US" sz="2400" strike="noStrike" u="none">
              <a:solidFill>
                <a:srgbClr val="000000"/>
              </a:solidFill>
              <a:effectLst/>
              <a:uFillTx/>
              <a:latin typeface="Arial"/>
            </a:endParaRPr>
          </a:p>
          <a:p>
            <a:pPr algn="ctr" defTabSz="914400">
              <a:lnSpc>
                <a:spcPct val="100000"/>
              </a:lnSpc>
              <a:tabLst>
                <a:tab algn="l" pos="0"/>
              </a:tabLst>
            </a:pPr>
            <a:r>
              <a:rPr b="1" lang="en-US" sz="2400" strike="noStrike" u="none">
                <a:solidFill>
                  <a:srgbClr val="ffffff"/>
                </a:solidFill>
                <a:effectLst/>
                <a:uFillTx/>
                <a:latin typeface="Inter Display"/>
                <a:ea typeface="Inter Display"/>
              </a:rPr>
              <a:t>MINERAL</a:t>
            </a:r>
            <a:endParaRPr b="0" lang="en-US" sz="2400" strike="noStrike" u="none">
              <a:solidFill>
                <a:srgbClr val="000000"/>
              </a:solidFill>
              <a:effectLst/>
              <a:uFillTx/>
              <a:latin typeface="Arial"/>
            </a:endParaRPr>
          </a:p>
        </p:txBody>
      </p:sp>
      <p:sp>
        <p:nvSpPr>
          <p:cNvPr id="53" name="Shape 19"/>
          <p:cNvSpPr/>
          <p:nvPr/>
        </p:nvSpPr>
        <p:spPr>
          <a:xfrm>
            <a:off x="9674280" y="3739680"/>
            <a:ext cx="1325880" cy="360"/>
          </a:xfrm>
          <a:prstGeom prst="line">
            <a:avLst/>
          </a:prstGeom>
          <a:ln w="25400">
            <a:solidFill>
              <a:srgbClr val="287f80"/>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4" name="Text 20"/>
          <p:cNvSpPr/>
          <p:nvPr/>
        </p:nvSpPr>
        <p:spPr>
          <a:xfrm>
            <a:off x="9491400" y="3922920"/>
            <a:ext cx="1736640" cy="593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500" strike="noStrike" u="none">
                <a:solidFill>
                  <a:srgbClr val="dce9e5"/>
                </a:solidFill>
                <a:effectLst/>
                <a:uFillTx/>
                <a:latin typeface="Inter"/>
                <a:ea typeface="Inter"/>
              </a:rPr>
              <a:t>many visual</a:t>
            </a:r>
            <a:endParaRPr b="0" lang="en-US" sz="1500" strike="noStrike" u="none">
              <a:solidFill>
                <a:srgbClr val="000000"/>
              </a:solidFill>
              <a:effectLst/>
              <a:uFillTx/>
              <a:latin typeface="Arial"/>
            </a:endParaRPr>
          </a:p>
          <a:p>
            <a:pPr algn="ctr" defTabSz="914400">
              <a:lnSpc>
                <a:spcPct val="100000"/>
              </a:lnSpc>
              <a:tabLst>
                <a:tab algn="l" pos="0"/>
              </a:tabLst>
            </a:pPr>
            <a:r>
              <a:rPr b="0" lang="en-US" sz="1500" strike="noStrike" u="none">
                <a:solidFill>
                  <a:srgbClr val="dce9e5"/>
                </a:solidFill>
                <a:effectLst/>
                <a:uFillTx/>
                <a:latin typeface="Inter"/>
                <a:ea typeface="Inter"/>
              </a:rPr>
              <a:t>appearances</a:t>
            </a:r>
            <a:endParaRPr b="0" lang="en-US" sz="1500" strike="noStrike" u="none">
              <a:solidFill>
                <a:srgbClr val="000000"/>
              </a:solidFill>
              <a:effectLst/>
              <a:uFillTx/>
              <a:latin typeface="Arial"/>
            </a:endParaRPr>
          </a:p>
        </p:txBody>
      </p:sp>
      <p:sp>
        <p:nvSpPr>
          <p:cNvPr id="55" name="Text 21"/>
          <p:cNvSpPr/>
          <p:nvPr/>
        </p:nvSpPr>
        <p:spPr>
          <a:xfrm>
            <a:off x="713160" y="5403960"/>
            <a:ext cx="10057680" cy="392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50" strike="noStrike" u="none">
                <a:solidFill>
                  <a:srgbClr val="667573"/>
                </a:solidFill>
                <a:effectLst/>
                <a:uFillTx/>
                <a:latin typeface="Inter"/>
                <a:ea typeface="Inter"/>
              </a:rPr>
              <a:t>Illustrative quartz images from one named acquisition folder in the experimental archive.</a:t>
            </a:r>
            <a:endParaRPr b="0" lang="en-US" sz="1350" strike="noStrike" u="none">
              <a:solidFill>
                <a:srgbClr val="000000"/>
              </a:solidFill>
              <a:effectLst/>
              <a:uFillTx/>
              <a:latin typeface="Arial"/>
            </a:endParaRPr>
          </a:p>
        </p:txBody>
      </p:sp>
      <p:sp>
        <p:nvSpPr>
          <p:cNvPr id="56" name="Text 22"/>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Visuals: MUMDMC2025 experimental archive; acquisition geometry: Amer et al. (2025).</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8" name="Shape 1"/>
          <p:cNvSpPr/>
          <p:nvPr/>
        </p:nvSpPr>
        <p:spPr>
          <a:xfrm>
            <a:off x="567000" y="356760"/>
            <a:ext cx="25120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9" name="Text 2"/>
          <p:cNvSpPr/>
          <p:nvPr/>
        </p:nvSpPr>
        <p:spPr>
          <a:xfrm>
            <a:off x="676800" y="379440"/>
            <a:ext cx="229248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60"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What the paper set out to deliver</a:t>
            </a:r>
            <a:endParaRPr b="0" lang="en-US" sz="3000" strike="noStrike" u="none">
              <a:solidFill>
                <a:srgbClr val="000000"/>
              </a:solidFill>
              <a:effectLst/>
              <a:uFillTx/>
              <a:latin typeface="Arial"/>
            </a:endParaRPr>
          </a:p>
        </p:txBody>
      </p:sp>
      <p:sp>
        <p:nvSpPr>
          <p:cNvPr id="61"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Amer et al. (2025) propose a systematic photomicrographic mineral dataset and validate it with classical ML.</a:t>
            </a:r>
            <a:endParaRPr b="0" lang="en-US" sz="1430" strike="noStrike" u="none">
              <a:solidFill>
                <a:srgbClr val="000000"/>
              </a:solidFill>
              <a:effectLst/>
              <a:uFillTx/>
              <a:latin typeface="Arial"/>
            </a:endParaRPr>
          </a:p>
        </p:txBody>
      </p:sp>
      <p:sp>
        <p:nvSpPr>
          <p:cNvPr id="62"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3"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4"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03  /  21</a:t>
            </a:r>
            <a:endParaRPr b="0" lang="en-US" sz="900" strike="noStrike" u="none">
              <a:solidFill>
                <a:srgbClr val="000000"/>
              </a:solidFill>
              <a:effectLst/>
              <a:uFillTx/>
              <a:latin typeface="Arial"/>
            </a:endParaRPr>
          </a:p>
        </p:txBody>
      </p:sp>
      <p:sp>
        <p:nvSpPr>
          <p:cNvPr id="65" name="Shape 8"/>
          <p:cNvSpPr/>
          <p:nvPr/>
        </p:nvSpPr>
        <p:spPr>
          <a:xfrm>
            <a:off x="667440" y="2322720"/>
            <a:ext cx="3437280" cy="21754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6" name="Text 9"/>
          <p:cNvSpPr/>
          <p:nvPr/>
        </p:nvSpPr>
        <p:spPr>
          <a:xfrm>
            <a:off x="868680" y="2569320"/>
            <a:ext cx="2998440" cy="685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287f80"/>
                </a:solidFill>
                <a:effectLst/>
                <a:uFillTx/>
                <a:latin typeface="Inter Display"/>
                <a:ea typeface="Inter Display"/>
              </a:rPr>
              <a:t>14,400</a:t>
            </a:r>
            <a:endParaRPr b="0" lang="en-US" sz="3800" strike="noStrike" u="none">
              <a:solidFill>
                <a:srgbClr val="000000"/>
              </a:solidFill>
              <a:effectLst/>
              <a:uFillTx/>
              <a:latin typeface="Arial"/>
            </a:endParaRPr>
          </a:p>
        </p:txBody>
      </p:sp>
      <p:sp>
        <p:nvSpPr>
          <p:cNvPr id="67" name="Text 10"/>
          <p:cNvSpPr/>
          <p:nvPr/>
        </p:nvSpPr>
        <p:spPr>
          <a:xfrm>
            <a:off x="877680" y="3438000"/>
            <a:ext cx="2989440" cy="410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images in the full collection</a:t>
            </a:r>
            <a:endParaRPr b="0" lang="en-US" sz="1600" strike="noStrike" u="none">
              <a:solidFill>
                <a:srgbClr val="000000"/>
              </a:solidFill>
              <a:effectLst/>
              <a:uFillTx/>
              <a:latin typeface="Arial"/>
            </a:endParaRPr>
          </a:p>
        </p:txBody>
      </p:sp>
      <p:sp>
        <p:nvSpPr>
          <p:cNvPr id="68" name="Text 11"/>
          <p:cNvSpPr/>
          <p:nvPr/>
        </p:nvSpPr>
        <p:spPr>
          <a:xfrm>
            <a:off x="877680" y="4005000"/>
            <a:ext cx="2925360" cy="32832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0" lang="en-US" sz="1100" strike="noStrike" u="none">
                <a:solidFill>
                  <a:srgbClr val="667573"/>
                </a:solidFill>
                <a:effectLst/>
                <a:uFillTx/>
                <a:latin typeface="Inter"/>
                <a:ea typeface="Inter"/>
              </a:rPr>
              <a:t>72 rotations × 5 minerals × 2 modes × 20 crystals</a:t>
            </a:r>
            <a:endParaRPr b="0" lang="en-US" sz="1100" strike="noStrike" u="none">
              <a:solidFill>
                <a:srgbClr val="000000"/>
              </a:solidFill>
              <a:effectLst/>
              <a:uFillTx/>
              <a:latin typeface="Arial"/>
            </a:endParaRPr>
          </a:p>
        </p:txBody>
      </p:sp>
      <p:sp>
        <p:nvSpPr>
          <p:cNvPr id="69" name="Shape 12"/>
          <p:cNvSpPr/>
          <p:nvPr/>
        </p:nvSpPr>
        <p:spPr>
          <a:xfrm>
            <a:off x="4462200" y="2322720"/>
            <a:ext cx="3437280" cy="21754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0" name="Text 13"/>
          <p:cNvSpPr/>
          <p:nvPr/>
        </p:nvSpPr>
        <p:spPr>
          <a:xfrm>
            <a:off x="4663440" y="2569320"/>
            <a:ext cx="2998440" cy="685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d9794a"/>
                </a:solidFill>
                <a:effectLst/>
                <a:uFillTx/>
                <a:latin typeface="Inter Display"/>
                <a:ea typeface="Inter Display"/>
              </a:rPr>
              <a:t>2,500</a:t>
            </a:r>
            <a:endParaRPr b="0" lang="en-US" sz="3800" strike="noStrike" u="none">
              <a:solidFill>
                <a:srgbClr val="000000"/>
              </a:solidFill>
              <a:effectLst/>
              <a:uFillTx/>
              <a:latin typeface="Arial"/>
            </a:endParaRPr>
          </a:p>
        </p:txBody>
      </p:sp>
      <p:sp>
        <p:nvSpPr>
          <p:cNvPr id="71" name="Text 14"/>
          <p:cNvSpPr/>
          <p:nvPr/>
        </p:nvSpPr>
        <p:spPr>
          <a:xfrm>
            <a:off x="4672440" y="3438000"/>
            <a:ext cx="2989440" cy="4107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600" strike="noStrike" u="none">
                <a:solidFill>
                  <a:srgbClr val="132b2d"/>
                </a:solidFill>
                <a:effectLst/>
                <a:uFillTx/>
                <a:latin typeface="Inter"/>
                <a:ea typeface="Inter"/>
              </a:rPr>
              <a:t>documented public XPL subset</a:t>
            </a:r>
            <a:endParaRPr b="0" lang="en-US" sz="1600" strike="noStrike" u="none">
              <a:solidFill>
                <a:srgbClr val="000000"/>
              </a:solidFill>
              <a:effectLst/>
              <a:uFillTx/>
              <a:latin typeface="Arial"/>
            </a:endParaRPr>
          </a:p>
        </p:txBody>
      </p:sp>
      <p:sp>
        <p:nvSpPr>
          <p:cNvPr id="72" name="Text 15"/>
          <p:cNvSpPr/>
          <p:nvPr/>
        </p:nvSpPr>
        <p:spPr>
          <a:xfrm>
            <a:off x="4672440" y="4005000"/>
            <a:ext cx="292536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500 photographs per mineral</a:t>
            </a:r>
            <a:endParaRPr b="0" lang="en-US" sz="1100" strike="noStrike" u="none">
              <a:solidFill>
                <a:srgbClr val="000000"/>
              </a:solidFill>
              <a:effectLst/>
              <a:uFillTx/>
              <a:latin typeface="Arial"/>
            </a:endParaRPr>
          </a:p>
        </p:txBody>
      </p:sp>
      <p:sp>
        <p:nvSpPr>
          <p:cNvPr id="73" name="Shape 16"/>
          <p:cNvSpPr/>
          <p:nvPr/>
        </p:nvSpPr>
        <p:spPr>
          <a:xfrm>
            <a:off x="8256960" y="2322720"/>
            <a:ext cx="3437280" cy="2175480"/>
          </a:xfrm>
          <a:prstGeom prst="roundRect">
            <a:avLst>
              <a:gd name="adj" fmla="val 5882"/>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4" name="Text 17"/>
          <p:cNvSpPr/>
          <p:nvPr/>
        </p:nvSpPr>
        <p:spPr>
          <a:xfrm>
            <a:off x="8458200" y="2569320"/>
            <a:ext cx="2998440" cy="685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287f80"/>
                </a:solidFill>
                <a:effectLst/>
                <a:uFillTx/>
                <a:latin typeface="Inter Display"/>
                <a:ea typeface="Inter Display"/>
              </a:rPr>
              <a:t>87.2%</a:t>
            </a:r>
            <a:endParaRPr b="0" lang="en-US" sz="3800" strike="noStrike" u="none">
              <a:solidFill>
                <a:srgbClr val="000000"/>
              </a:solidFill>
              <a:effectLst/>
              <a:uFillTx/>
              <a:latin typeface="Arial"/>
            </a:endParaRPr>
          </a:p>
        </p:txBody>
      </p:sp>
      <p:sp>
        <p:nvSpPr>
          <p:cNvPr id="75" name="Text 18"/>
          <p:cNvSpPr/>
          <p:nvPr/>
        </p:nvSpPr>
        <p:spPr>
          <a:xfrm>
            <a:off x="8467200" y="3438000"/>
            <a:ext cx="2989440" cy="410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reported KNN accuracy</a:t>
            </a:r>
            <a:endParaRPr b="0" lang="en-US" sz="1600" strike="noStrike" u="none">
              <a:solidFill>
                <a:srgbClr val="000000"/>
              </a:solidFill>
              <a:effectLst/>
              <a:uFillTx/>
              <a:latin typeface="Arial"/>
            </a:endParaRPr>
          </a:p>
        </p:txBody>
      </p:sp>
      <p:sp>
        <p:nvSpPr>
          <p:cNvPr id="76" name="Text 19"/>
          <p:cNvSpPr/>
          <p:nvPr/>
        </p:nvSpPr>
        <p:spPr>
          <a:xfrm>
            <a:off x="8467200" y="4005000"/>
            <a:ext cx="292536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on resized 150 × 150 images</a:t>
            </a:r>
            <a:endParaRPr b="0" lang="en-US" sz="1100" strike="noStrike" u="none">
              <a:solidFill>
                <a:srgbClr val="000000"/>
              </a:solidFill>
              <a:effectLst/>
              <a:uFillTx/>
              <a:latin typeface="Arial"/>
            </a:endParaRPr>
          </a:p>
        </p:txBody>
      </p:sp>
      <p:sp>
        <p:nvSpPr>
          <p:cNvPr id="77" name="Shape 20"/>
          <p:cNvSpPr/>
          <p:nvPr/>
        </p:nvSpPr>
        <p:spPr>
          <a:xfrm>
            <a:off x="704160" y="4846320"/>
            <a:ext cx="10752480" cy="703440"/>
          </a:xfrm>
          <a:prstGeom prst="roundRect">
            <a:avLst>
              <a:gd name="adj" fmla="val 15584"/>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8" name="Text 21"/>
          <p:cNvSpPr/>
          <p:nvPr/>
        </p:nvSpPr>
        <p:spPr>
          <a:xfrm>
            <a:off x="932760" y="5010840"/>
            <a:ext cx="10213200" cy="356040"/>
          </a:xfrm>
          <a:prstGeom prst="rect">
            <a:avLst/>
          </a:prstGeom>
          <a:noFill/>
          <a:ln w="0">
            <a:noFill/>
          </a:ln>
        </p:spPr>
        <p:style>
          <a:lnRef idx="0"/>
          <a:fillRef idx="0"/>
          <a:effectRef idx="0"/>
          <a:fontRef idx="minor"/>
        </p:style>
        <p:txBody>
          <a:bodyPr lIns="0" rIns="0" tIns="0" bIns="0" anchor="ctr">
            <a:normAutofit fontScale="85000" lnSpcReduction="9999"/>
          </a:bodyPr>
          <a:p>
            <a:pPr defTabSz="914400">
              <a:lnSpc>
                <a:spcPct val="100000"/>
              </a:lnSpc>
              <a:tabLst>
                <a:tab algn="l" pos="0"/>
              </a:tabLst>
            </a:pPr>
            <a:r>
              <a:rPr b="1" lang="en-US" sz="1700" strike="noStrike" u="none">
                <a:solidFill>
                  <a:srgbClr val="12585a"/>
                </a:solidFill>
                <a:effectLst/>
                <a:uFillTx/>
                <a:latin typeface="Inter"/>
                <a:ea typeface="Inter"/>
              </a:rPr>
              <a:t>Their premise: systematic acquisition + traceable metadata should support reliable mineral classification.</a:t>
            </a:r>
            <a:endParaRPr b="0" lang="en-US" sz="1700" strike="noStrike" u="none">
              <a:solidFill>
                <a:srgbClr val="000000"/>
              </a:solidFill>
              <a:effectLst/>
              <a:uFillTx/>
              <a:latin typeface="Arial"/>
            </a:endParaRPr>
          </a:p>
        </p:txBody>
      </p:sp>
      <p:sp>
        <p:nvSpPr>
          <p:cNvPr id="79" name="Text 22"/>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Amer et al., “A Photomicrographic Dataset of Rocks for the Accurate Classification of Minerals,” Scientific Data (2025), Table 3.</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1" name="Shape 1"/>
          <p:cNvSpPr/>
          <p:nvPr/>
        </p:nvSpPr>
        <p:spPr>
          <a:xfrm>
            <a:off x="567000" y="356760"/>
            <a:ext cx="25120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2" name="Text 2"/>
          <p:cNvSpPr/>
          <p:nvPr/>
        </p:nvSpPr>
        <p:spPr>
          <a:xfrm>
            <a:off x="676800" y="379440"/>
            <a:ext cx="229248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 / ORIGINAL STUDY</a:t>
            </a:r>
            <a:endParaRPr b="0" lang="en-US" sz="1000" strike="noStrike" u="none">
              <a:solidFill>
                <a:srgbClr val="000000"/>
              </a:solidFill>
              <a:effectLst/>
              <a:uFillTx/>
              <a:latin typeface="Arial"/>
            </a:endParaRPr>
          </a:p>
        </p:txBody>
      </p:sp>
      <p:sp>
        <p:nvSpPr>
          <p:cNvPr id="83"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How the data were produced</a:t>
            </a:r>
            <a:endParaRPr b="0" lang="en-US" sz="3000" strike="noStrike" u="none">
              <a:solidFill>
                <a:srgbClr val="000000"/>
              </a:solidFill>
              <a:effectLst/>
              <a:uFillTx/>
              <a:latin typeface="Arial"/>
            </a:endParaRPr>
          </a:p>
        </p:txBody>
      </p:sp>
      <p:sp>
        <p:nvSpPr>
          <p:cNvPr id="84"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original acquisition protocol samples rotations systematically, not independent specimens.</a:t>
            </a:r>
            <a:endParaRPr b="0" lang="en-US" sz="1430" strike="noStrike" u="none">
              <a:solidFill>
                <a:srgbClr val="000000"/>
              </a:solidFill>
              <a:effectLst/>
              <a:uFillTx/>
              <a:latin typeface="Arial"/>
            </a:endParaRPr>
          </a:p>
        </p:txBody>
      </p:sp>
      <p:sp>
        <p:nvSpPr>
          <p:cNvPr id="8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6"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7"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04  /  21</a:t>
            </a:r>
            <a:endParaRPr b="0" lang="en-US" sz="900" strike="noStrike" u="none">
              <a:solidFill>
                <a:srgbClr val="000000"/>
              </a:solidFill>
              <a:effectLst/>
              <a:uFillTx/>
              <a:latin typeface="Arial"/>
            </a:endParaRPr>
          </a:p>
        </p:txBody>
      </p:sp>
      <p:sp>
        <p:nvSpPr>
          <p:cNvPr id="88" name="Shape 8"/>
          <p:cNvSpPr/>
          <p:nvPr/>
        </p:nvSpPr>
        <p:spPr>
          <a:xfrm>
            <a:off x="694800" y="2039040"/>
            <a:ext cx="5193000" cy="3254400"/>
          </a:xfrm>
          <a:prstGeom prst="roundRect">
            <a:avLst>
              <a:gd name="adj" fmla="val 42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9" name="Shape 9"/>
          <p:cNvSpPr/>
          <p:nvPr/>
        </p:nvSpPr>
        <p:spPr>
          <a:xfrm>
            <a:off x="1234440" y="2468880"/>
            <a:ext cx="2148120" cy="2148120"/>
          </a:xfrm>
          <a:prstGeom prst="ellipse">
            <a:avLst/>
          </a:prstGeom>
          <a:noFill/>
          <a:ln w="38100">
            <a:solidFill>
              <a:srgbClr val="287f80"/>
            </a:solidFill>
            <a:prstDash val="dash"/>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90" name="Image 0" descr="/mnt/data/MUMDMC2025_presentation_assets/Hornblende_2.jpg"/>
          <p:cNvPicPr/>
          <p:nvPr/>
        </p:nvPicPr>
        <p:blipFill>
          <a:blip r:embed="rId1"/>
          <a:stretch/>
        </p:blipFill>
        <p:spPr>
          <a:xfrm>
            <a:off x="1665000" y="2788920"/>
            <a:ext cx="1296000" cy="1535400"/>
          </a:xfrm>
          <a:prstGeom prst="rect">
            <a:avLst/>
          </a:prstGeom>
          <a:noFill/>
          <a:ln w="0">
            <a:noFill/>
          </a:ln>
        </p:spPr>
      </p:pic>
      <p:sp>
        <p:nvSpPr>
          <p:cNvPr id="91" name="Text 10"/>
          <p:cNvSpPr/>
          <p:nvPr/>
        </p:nvSpPr>
        <p:spPr>
          <a:xfrm>
            <a:off x="3547800" y="2797920"/>
            <a:ext cx="206568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32b2d"/>
                </a:solidFill>
                <a:effectLst/>
                <a:uFillTx/>
                <a:latin typeface="Inter"/>
                <a:ea typeface="Inter"/>
              </a:rPr>
              <a:t>0° → 5° → 10° → … → 355°</a:t>
            </a:r>
            <a:endParaRPr b="0" lang="en-US" sz="1600" strike="noStrike" u="none">
              <a:solidFill>
                <a:srgbClr val="000000"/>
              </a:solidFill>
              <a:effectLst/>
              <a:uFillTx/>
              <a:latin typeface="Arial"/>
            </a:endParaRPr>
          </a:p>
        </p:txBody>
      </p:sp>
      <p:sp>
        <p:nvSpPr>
          <p:cNvPr id="92" name="Text 11"/>
          <p:cNvSpPr/>
          <p:nvPr/>
        </p:nvSpPr>
        <p:spPr>
          <a:xfrm>
            <a:off x="3538800" y="3831480"/>
            <a:ext cx="2157120" cy="456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287f80"/>
                </a:solidFill>
                <a:effectLst/>
                <a:uFillTx/>
                <a:latin typeface="Inter"/>
                <a:ea typeface="Inter"/>
              </a:rPr>
              <a:t>72 frames / revolution</a:t>
            </a:r>
            <a:endParaRPr b="0" lang="en-US" sz="1500" strike="noStrike" u="none">
              <a:solidFill>
                <a:srgbClr val="000000"/>
              </a:solidFill>
              <a:effectLst/>
              <a:uFillTx/>
              <a:latin typeface="Arial"/>
            </a:endParaRPr>
          </a:p>
        </p:txBody>
      </p:sp>
      <p:sp>
        <p:nvSpPr>
          <p:cNvPr id="93" name="Shape 12"/>
          <p:cNvSpPr/>
          <p:nvPr/>
        </p:nvSpPr>
        <p:spPr>
          <a:xfrm>
            <a:off x="6126480" y="2039040"/>
            <a:ext cx="5321160" cy="3254400"/>
          </a:xfrm>
          <a:prstGeom prst="roundRect">
            <a:avLst>
              <a:gd name="adj" fmla="val 42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94" name="Text 13"/>
          <p:cNvSpPr/>
          <p:nvPr/>
        </p:nvSpPr>
        <p:spPr>
          <a:xfrm>
            <a:off x="6382440" y="2322720"/>
            <a:ext cx="436104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DECLARED FILENAME SCHEME</a:t>
            </a:r>
            <a:endParaRPr b="0" lang="en-US" sz="1100" strike="noStrike" u="none">
              <a:solidFill>
                <a:srgbClr val="000000"/>
              </a:solidFill>
              <a:effectLst/>
              <a:uFillTx/>
              <a:latin typeface="Arial"/>
            </a:endParaRPr>
          </a:p>
        </p:txBody>
      </p:sp>
      <p:sp>
        <p:nvSpPr>
          <p:cNvPr id="95" name="Text 14"/>
          <p:cNvSpPr/>
          <p:nvPr/>
        </p:nvSpPr>
        <p:spPr>
          <a:xfrm>
            <a:off x="6364080" y="2807280"/>
            <a:ext cx="4818240" cy="474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132b2d"/>
                </a:solidFill>
                <a:effectLst/>
                <a:uFillTx/>
                <a:latin typeface="Inter"/>
                <a:ea typeface="Inter"/>
              </a:rPr>
              <a:t>F61-Quartz-CN-1-8-35deg</a:t>
            </a:r>
            <a:endParaRPr b="0" lang="en-US" sz="1900" strike="noStrike" u="none">
              <a:solidFill>
                <a:srgbClr val="000000"/>
              </a:solidFill>
              <a:effectLst/>
              <a:uFillTx/>
              <a:latin typeface="Arial"/>
            </a:endParaRPr>
          </a:p>
        </p:txBody>
      </p:sp>
      <p:sp>
        <p:nvSpPr>
          <p:cNvPr id="96" name="Shape 15"/>
          <p:cNvSpPr/>
          <p:nvPr/>
        </p:nvSpPr>
        <p:spPr>
          <a:xfrm>
            <a:off x="6409800" y="3584520"/>
            <a:ext cx="1434960" cy="53892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97" name="Text 16"/>
          <p:cNvSpPr/>
          <p:nvPr/>
        </p:nvSpPr>
        <p:spPr>
          <a:xfrm>
            <a:off x="6501240" y="3634920"/>
            <a:ext cx="1206360" cy="1731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F61</a:t>
            </a:r>
            <a:endParaRPr b="0" lang="en-US" sz="1200" strike="noStrike" u="none">
              <a:solidFill>
                <a:srgbClr val="000000"/>
              </a:solidFill>
              <a:effectLst/>
              <a:uFillTx/>
              <a:latin typeface="Arial"/>
            </a:endParaRPr>
          </a:p>
        </p:txBody>
      </p:sp>
      <p:sp>
        <p:nvSpPr>
          <p:cNvPr id="98" name="Text 17"/>
          <p:cNvSpPr/>
          <p:nvPr/>
        </p:nvSpPr>
        <p:spPr>
          <a:xfrm>
            <a:off x="6501240" y="3831480"/>
            <a:ext cx="1233720" cy="173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thin section</a:t>
            </a:r>
            <a:endParaRPr b="0" lang="en-US" sz="900" strike="noStrike" u="none">
              <a:solidFill>
                <a:srgbClr val="000000"/>
              </a:solidFill>
              <a:effectLst/>
              <a:uFillTx/>
              <a:latin typeface="Arial"/>
            </a:endParaRPr>
          </a:p>
        </p:txBody>
      </p:sp>
      <p:sp>
        <p:nvSpPr>
          <p:cNvPr id="99" name="Shape 18"/>
          <p:cNvSpPr/>
          <p:nvPr/>
        </p:nvSpPr>
        <p:spPr>
          <a:xfrm>
            <a:off x="7973640" y="3584520"/>
            <a:ext cx="1434960" cy="53892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00" name="Text 19"/>
          <p:cNvSpPr/>
          <p:nvPr/>
        </p:nvSpPr>
        <p:spPr>
          <a:xfrm>
            <a:off x="8065080" y="3634920"/>
            <a:ext cx="1206360" cy="1731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Quartz</a:t>
            </a:r>
            <a:endParaRPr b="0" lang="en-US" sz="1200" strike="noStrike" u="none">
              <a:solidFill>
                <a:srgbClr val="000000"/>
              </a:solidFill>
              <a:effectLst/>
              <a:uFillTx/>
              <a:latin typeface="Arial"/>
            </a:endParaRPr>
          </a:p>
        </p:txBody>
      </p:sp>
      <p:sp>
        <p:nvSpPr>
          <p:cNvPr id="101" name="Text 20"/>
          <p:cNvSpPr/>
          <p:nvPr/>
        </p:nvSpPr>
        <p:spPr>
          <a:xfrm>
            <a:off x="8065080" y="3831480"/>
            <a:ext cx="1233720" cy="173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mineral</a:t>
            </a:r>
            <a:endParaRPr b="0" lang="en-US" sz="900" strike="noStrike" u="none">
              <a:solidFill>
                <a:srgbClr val="000000"/>
              </a:solidFill>
              <a:effectLst/>
              <a:uFillTx/>
              <a:latin typeface="Arial"/>
            </a:endParaRPr>
          </a:p>
        </p:txBody>
      </p:sp>
      <p:sp>
        <p:nvSpPr>
          <p:cNvPr id="102" name="Shape 21"/>
          <p:cNvSpPr/>
          <p:nvPr/>
        </p:nvSpPr>
        <p:spPr>
          <a:xfrm>
            <a:off x="9537120" y="3584520"/>
            <a:ext cx="1434960" cy="53892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03" name="Text 22"/>
          <p:cNvSpPr/>
          <p:nvPr/>
        </p:nvSpPr>
        <p:spPr>
          <a:xfrm>
            <a:off x="9628560" y="3634920"/>
            <a:ext cx="1206360" cy="1731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CN</a:t>
            </a:r>
            <a:endParaRPr b="0" lang="en-US" sz="1200" strike="noStrike" u="none">
              <a:solidFill>
                <a:srgbClr val="000000"/>
              </a:solidFill>
              <a:effectLst/>
              <a:uFillTx/>
              <a:latin typeface="Arial"/>
            </a:endParaRPr>
          </a:p>
        </p:txBody>
      </p:sp>
      <p:sp>
        <p:nvSpPr>
          <p:cNvPr id="104" name="Text 23"/>
          <p:cNvSpPr/>
          <p:nvPr/>
        </p:nvSpPr>
        <p:spPr>
          <a:xfrm>
            <a:off x="9628560" y="3831480"/>
            <a:ext cx="1233720" cy="173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polarization</a:t>
            </a:r>
            <a:endParaRPr b="0" lang="en-US" sz="900" strike="noStrike" u="none">
              <a:solidFill>
                <a:srgbClr val="000000"/>
              </a:solidFill>
              <a:effectLst/>
              <a:uFillTx/>
              <a:latin typeface="Arial"/>
            </a:endParaRPr>
          </a:p>
        </p:txBody>
      </p:sp>
      <p:sp>
        <p:nvSpPr>
          <p:cNvPr id="105" name="Shape 24"/>
          <p:cNvSpPr/>
          <p:nvPr/>
        </p:nvSpPr>
        <p:spPr>
          <a:xfrm>
            <a:off x="6409800" y="4251960"/>
            <a:ext cx="1434960" cy="538920"/>
          </a:xfrm>
          <a:prstGeom prst="roundRect">
            <a:avLst>
              <a:gd name="adj" fmla="val 16949"/>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06" name="Text 25"/>
          <p:cNvSpPr/>
          <p:nvPr/>
        </p:nvSpPr>
        <p:spPr>
          <a:xfrm>
            <a:off x="6501240" y="4302360"/>
            <a:ext cx="1206360" cy="1731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ce6949"/>
                </a:solidFill>
                <a:effectLst/>
                <a:uFillTx/>
                <a:latin typeface="Inter"/>
                <a:ea typeface="Inter"/>
              </a:rPr>
              <a:t>1</a:t>
            </a:r>
            <a:endParaRPr b="0" lang="en-US" sz="1200" strike="noStrike" u="none">
              <a:solidFill>
                <a:srgbClr val="000000"/>
              </a:solidFill>
              <a:effectLst/>
              <a:uFillTx/>
              <a:latin typeface="Arial"/>
            </a:endParaRPr>
          </a:p>
        </p:txBody>
      </p:sp>
      <p:sp>
        <p:nvSpPr>
          <p:cNvPr id="107" name="Text 26"/>
          <p:cNvSpPr/>
          <p:nvPr/>
        </p:nvSpPr>
        <p:spPr>
          <a:xfrm>
            <a:off x="6501240" y="4498920"/>
            <a:ext cx="1233720" cy="173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crystal</a:t>
            </a:r>
            <a:endParaRPr b="0" lang="en-US" sz="900" strike="noStrike" u="none">
              <a:solidFill>
                <a:srgbClr val="000000"/>
              </a:solidFill>
              <a:effectLst/>
              <a:uFillTx/>
              <a:latin typeface="Arial"/>
            </a:endParaRPr>
          </a:p>
        </p:txBody>
      </p:sp>
      <p:sp>
        <p:nvSpPr>
          <p:cNvPr id="108" name="Shape 27"/>
          <p:cNvSpPr/>
          <p:nvPr/>
        </p:nvSpPr>
        <p:spPr>
          <a:xfrm>
            <a:off x="7973640" y="4251960"/>
            <a:ext cx="1434960" cy="53892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09" name="Text 28"/>
          <p:cNvSpPr/>
          <p:nvPr/>
        </p:nvSpPr>
        <p:spPr>
          <a:xfrm>
            <a:off x="8065080" y="4302360"/>
            <a:ext cx="1206360" cy="1731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8</a:t>
            </a:r>
            <a:endParaRPr b="0" lang="en-US" sz="1200" strike="noStrike" u="none">
              <a:solidFill>
                <a:srgbClr val="000000"/>
              </a:solidFill>
              <a:effectLst/>
              <a:uFillTx/>
              <a:latin typeface="Arial"/>
            </a:endParaRPr>
          </a:p>
        </p:txBody>
      </p:sp>
      <p:sp>
        <p:nvSpPr>
          <p:cNvPr id="110" name="Text 29"/>
          <p:cNvSpPr/>
          <p:nvPr/>
        </p:nvSpPr>
        <p:spPr>
          <a:xfrm>
            <a:off x="8065080" y="4498920"/>
            <a:ext cx="1233720" cy="173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frame</a:t>
            </a:r>
            <a:endParaRPr b="0" lang="en-US" sz="900" strike="noStrike" u="none">
              <a:solidFill>
                <a:srgbClr val="000000"/>
              </a:solidFill>
              <a:effectLst/>
              <a:uFillTx/>
              <a:latin typeface="Arial"/>
            </a:endParaRPr>
          </a:p>
        </p:txBody>
      </p:sp>
      <p:sp>
        <p:nvSpPr>
          <p:cNvPr id="111" name="Shape 30"/>
          <p:cNvSpPr/>
          <p:nvPr/>
        </p:nvSpPr>
        <p:spPr>
          <a:xfrm>
            <a:off x="9537120" y="4251960"/>
            <a:ext cx="1434960" cy="538920"/>
          </a:xfrm>
          <a:prstGeom prst="roundRect">
            <a:avLst>
              <a:gd name="adj" fmla="val 1694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12" name="Text 31"/>
          <p:cNvSpPr/>
          <p:nvPr/>
        </p:nvSpPr>
        <p:spPr>
          <a:xfrm>
            <a:off x="9628560" y="4302360"/>
            <a:ext cx="1206360" cy="17316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2585a"/>
                </a:solidFill>
                <a:effectLst/>
                <a:uFillTx/>
                <a:latin typeface="Inter"/>
                <a:ea typeface="Inter"/>
              </a:rPr>
              <a:t>35°</a:t>
            </a:r>
            <a:endParaRPr b="0" lang="en-US" sz="1200" strike="noStrike" u="none">
              <a:solidFill>
                <a:srgbClr val="000000"/>
              </a:solidFill>
              <a:effectLst/>
              <a:uFillTx/>
              <a:latin typeface="Arial"/>
            </a:endParaRPr>
          </a:p>
        </p:txBody>
      </p:sp>
      <p:sp>
        <p:nvSpPr>
          <p:cNvPr id="113" name="Text 32"/>
          <p:cNvSpPr/>
          <p:nvPr/>
        </p:nvSpPr>
        <p:spPr>
          <a:xfrm>
            <a:off x="9628560" y="4498920"/>
            <a:ext cx="1233720" cy="173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rotation</a:t>
            </a:r>
            <a:endParaRPr b="0" lang="en-US" sz="900" strike="noStrike" u="none">
              <a:solidFill>
                <a:srgbClr val="000000"/>
              </a:solidFill>
              <a:effectLst/>
              <a:uFillTx/>
              <a:latin typeface="Arial"/>
            </a:endParaRPr>
          </a:p>
        </p:txBody>
      </p:sp>
      <p:sp>
        <p:nvSpPr>
          <p:cNvPr id="114" name="Text 33"/>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Amer et al. (2025), dataset acquisition and filename convention, pp. 7–9.</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16" name="Shape 1"/>
          <p:cNvSpPr/>
          <p:nvPr/>
        </p:nvSpPr>
        <p:spPr>
          <a:xfrm>
            <a:off x="567000" y="356760"/>
            <a:ext cx="21754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17" name="Text 2"/>
          <p:cNvSpPr/>
          <p:nvPr/>
        </p:nvSpPr>
        <p:spPr>
          <a:xfrm>
            <a:off x="676800" y="379440"/>
            <a:ext cx="195624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02 / DATA AUDIT</a:t>
            </a:r>
            <a:endParaRPr b="0" lang="en-US" sz="1000" strike="noStrike" u="none">
              <a:solidFill>
                <a:srgbClr val="000000"/>
              </a:solidFill>
              <a:effectLst/>
              <a:uFillTx/>
              <a:latin typeface="Arial"/>
            </a:endParaRPr>
          </a:p>
        </p:txBody>
      </p:sp>
      <p:sp>
        <p:nvSpPr>
          <p:cNvPr id="118"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first reproducibility gap</a:t>
            </a:r>
            <a:endParaRPr b="0" lang="en-US" sz="3000" strike="noStrike" u="none">
              <a:solidFill>
                <a:srgbClr val="000000"/>
              </a:solidFill>
              <a:effectLst/>
              <a:uFillTx/>
              <a:latin typeface="Arial"/>
            </a:endParaRPr>
          </a:p>
        </p:txBody>
      </p:sp>
      <p:sp>
        <p:nvSpPr>
          <p:cNvPr id="119"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archive we could actually use did not match the 2,500-image subset described by the paper.</a:t>
            </a:r>
            <a:endParaRPr b="0" lang="en-US" sz="1430" strike="noStrike" u="none">
              <a:solidFill>
                <a:srgbClr val="000000"/>
              </a:solidFill>
              <a:effectLst/>
              <a:uFillTx/>
              <a:latin typeface="Arial"/>
            </a:endParaRPr>
          </a:p>
        </p:txBody>
      </p:sp>
      <p:sp>
        <p:nvSpPr>
          <p:cNvPr id="12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21"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22"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05  /  21</a:t>
            </a:r>
            <a:endParaRPr b="0" lang="en-US" sz="900" strike="noStrike" u="none">
              <a:solidFill>
                <a:srgbClr val="000000"/>
              </a:solidFill>
              <a:effectLst/>
              <a:uFillTx/>
              <a:latin typeface="Arial"/>
            </a:endParaRPr>
          </a:p>
        </p:txBody>
      </p:sp>
      <p:sp>
        <p:nvSpPr>
          <p:cNvPr id="123" name="Shape 8"/>
          <p:cNvSpPr/>
          <p:nvPr/>
        </p:nvSpPr>
        <p:spPr>
          <a:xfrm>
            <a:off x="658440" y="2295000"/>
            <a:ext cx="3428280" cy="2522880"/>
          </a:xfrm>
          <a:prstGeom prst="roundRect">
            <a:avLst>
              <a:gd name="adj" fmla="val 543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24" name="Text 9"/>
          <p:cNvSpPr/>
          <p:nvPr/>
        </p:nvSpPr>
        <p:spPr>
          <a:xfrm>
            <a:off x="868680" y="2514600"/>
            <a:ext cx="3007800" cy="959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132b2d"/>
                </a:solidFill>
                <a:effectLst/>
                <a:uFillTx/>
                <a:latin typeface="Inter Display"/>
                <a:ea typeface="Inter Display"/>
              </a:rPr>
              <a:t>14,400</a:t>
            </a:r>
            <a:endParaRPr b="0" lang="en-US" sz="4600" strike="noStrike" u="none">
              <a:solidFill>
                <a:srgbClr val="000000"/>
              </a:solidFill>
              <a:effectLst/>
              <a:uFillTx/>
              <a:latin typeface="Arial"/>
            </a:endParaRPr>
          </a:p>
        </p:txBody>
      </p:sp>
      <p:sp>
        <p:nvSpPr>
          <p:cNvPr id="125" name="Text 10"/>
          <p:cNvSpPr/>
          <p:nvPr/>
        </p:nvSpPr>
        <p:spPr>
          <a:xfrm>
            <a:off x="859680" y="3675960"/>
            <a:ext cx="3062520" cy="456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Full collection described</a:t>
            </a:r>
            <a:endParaRPr b="0" lang="en-US" sz="1520" strike="noStrike" u="none">
              <a:solidFill>
                <a:srgbClr val="000000"/>
              </a:solidFill>
              <a:effectLst/>
              <a:uFillTx/>
              <a:latin typeface="Arial"/>
            </a:endParaRPr>
          </a:p>
        </p:txBody>
      </p:sp>
      <p:sp>
        <p:nvSpPr>
          <p:cNvPr id="126" name="Text 11"/>
          <p:cNvSpPr/>
          <p:nvPr/>
        </p:nvSpPr>
        <p:spPr>
          <a:xfrm>
            <a:off x="859680" y="4251960"/>
            <a:ext cx="301680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Research paper · PPL + XPL</a:t>
            </a:r>
            <a:endParaRPr b="0" lang="en-US" sz="1100" strike="noStrike" u="none">
              <a:solidFill>
                <a:srgbClr val="000000"/>
              </a:solidFill>
              <a:effectLst/>
              <a:uFillTx/>
              <a:latin typeface="Arial"/>
            </a:endParaRPr>
          </a:p>
        </p:txBody>
      </p:sp>
      <p:sp>
        <p:nvSpPr>
          <p:cNvPr id="127" name="Shape 12"/>
          <p:cNvSpPr/>
          <p:nvPr/>
        </p:nvSpPr>
        <p:spPr>
          <a:xfrm>
            <a:off x="4480560" y="2295000"/>
            <a:ext cx="3428280" cy="2522880"/>
          </a:xfrm>
          <a:prstGeom prst="roundRect">
            <a:avLst>
              <a:gd name="adj" fmla="val 543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28" name="Text 13"/>
          <p:cNvSpPr/>
          <p:nvPr/>
        </p:nvSpPr>
        <p:spPr>
          <a:xfrm>
            <a:off x="4690800" y="2514600"/>
            <a:ext cx="3007800" cy="959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287f80"/>
                </a:solidFill>
                <a:effectLst/>
                <a:uFillTx/>
                <a:latin typeface="Inter Display"/>
                <a:ea typeface="Inter Display"/>
              </a:rPr>
              <a:t>2,500</a:t>
            </a:r>
            <a:endParaRPr b="0" lang="en-US" sz="4600" strike="noStrike" u="none">
              <a:solidFill>
                <a:srgbClr val="000000"/>
              </a:solidFill>
              <a:effectLst/>
              <a:uFillTx/>
              <a:latin typeface="Arial"/>
            </a:endParaRPr>
          </a:p>
        </p:txBody>
      </p:sp>
      <p:sp>
        <p:nvSpPr>
          <p:cNvPr id="129" name="Text 14"/>
          <p:cNvSpPr/>
          <p:nvPr/>
        </p:nvSpPr>
        <p:spPr>
          <a:xfrm>
            <a:off x="4681800" y="3675960"/>
            <a:ext cx="3062520" cy="456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Public XPL subset described</a:t>
            </a:r>
            <a:endParaRPr b="0" lang="en-US" sz="1520" strike="noStrike" u="none">
              <a:solidFill>
                <a:srgbClr val="000000"/>
              </a:solidFill>
              <a:effectLst/>
              <a:uFillTx/>
              <a:latin typeface="Arial"/>
            </a:endParaRPr>
          </a:p>
        </p:txBody>
      </p:sp>
      <p:sp>
        <p:nvSpPr>
          <p:cNvPr id="130" name="Text 15"/>
          <p:cNvSpPr/>
          <p:nvPr/>
        </p:nvSpPr>
        <p:spPr>
          <a:xfrm>
            <a:off x="4681800" y="4251960"/>
            <a:ext cx="301680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Metadata spreadsheets · 500/class</a:t>
            </a:r>
            <a:endParaRPr b="0" lang="en-US" sz="1100" strike="noStrike" u="none">
              <a:solidFill>
                <a:srgbClr val="000000"/>
              </a:solidFill>
              <a:effectLst/>
              <a:uFillTx/>
              <a:latin typeface="Arial"/>
            </a:endParaRPr>
          </a:p>
        </p:txBody>
      </p:sp>
      <p:sp>
        <p:nvSpPr>
          <p:cNvPr id="131" name="Shape 16"/>
          <p:cNvSpPr/>
          <p:nvPr/>
        </p:nvSpPr>
        <p:spPr>
          <a:xfrm>
            <a:off x="8302680" y="2295000"/>
            <a:ext cx="3428280" cy="2522880"/>
          </a:xfrm>
          <a:prstGeom prst="roundRect">
            <a:avLst>
              <a:gd name="adj" fmla="val 5435"/>
            </a:avLst>
          </a:prstGeom>
          <a:solidFill>
            <a:srgbClr val="faebe0"/>
          </a:solidFill>
          <a:ln w="12700">
            <a:solidFill>
              <a:srgbClr val="e8bcab"/>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32" name="Text 17"/>
          <p:cNvSpPr/>
          <p:nvPr/>
        </p:nvSpPr>
        <p:spPr>
          <a:xfrm>
            <a:off x="8512920" y="2514600"/>
            <a:ext cx="3007800" cy="959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600" strike="noStrike" u="none">
                <a:solidFill>
                  <a:srgbClr val="d9794a"/>
                </a:solidFill>
                <a:effectLst/>
                <a:uFillTx/>
                <a:latin typeface="Inter Display"/>
                <a:ea typeface="Inter Display"/>
              </a:rPr>
              <a:t>583</a:t>
            </a:r>
            <a:endParaRPr b="0" lang="en-US" sz="4600" strike="noStrike" u="none">
              <a:solidFill>
                <a:srgbClr val="000000"/>
              </a:solidFill>
              <a:effectLst/>
              <a:uFillTx/>
              <a:latin typeface="Arial"/>
            </a:endParaRPr>
          </a:p>
        </p:txBody>
      </p:sp>
      <p:sp>
        <p:nvSpPr>
          <p:cNvPr id="133" name="Text 18"/>
          <p:cNvSpPr/>
          <p:nvPr/>
        </p:nvSpPr>
        <p:spPr>
          <a:xfrm>
            <a:off x="8503920" y="3675960"/>
            <a:ext cx="3062520" cy="456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20" strike="noStrike" u="none">
                <a:solidFill>
                  <a:srgbClr val="132b2d"/>
                </a:solidFill>
                <a:effectLst/>
                <a:uFillTx/>
                <a:latin typeface="Inter"/>
                <a:ea typeface="Inter"/>
              </a:rPr>
              <a:t>Images in our working ZIP</a:t>
            </a:r>
            <a:endParaRPr b="0" lang="en-US" sz="1520" strike="noStrike" u="none">
              <a:solidFill>
                <a:srgbClr val="000000"/>
              </a:solidFill>
              <a:effectLst/>
              <a:uFillTx/>
              <a:latin typeface="Arial"/>
            </a:endParaRPr>
          </a:p>
        </p:txBody>
      </p:sp>
      <p:sp>
        <p:nvSpPr>
          <p:cNvPr id="134" name="Text 19"/>
          <p:cNvSpPr/>
          <p:nvPr/>
        </p:nvSpPr>
        <p:spPr>
          <a:xfrm>
            <a:off x="8503920" y="4251960"/>
            <a:ext cx="301680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Five classes · 8 acquisition folders</a:t>
            </a:r>
            <a:endParaRPr b="0" lang="en-US" sz="1100" strike="noStrike" u="none">
              <a:solidFill>
                <a:srgbClr val="000000"/>
              </a:solidFill>
              <a:effectLst/>
              <a:uFillTx/>
              <a:latin typeface="Arial"/>
            </a:endParaRPr>
          </a:p>
        </p:txBody>
      </p:sp>
      <p:sp>
        <p:nvSpPr>
          <p:cNvPr id="135" name="Shape 20"/>
          <p:cNvSpPr/>
          <p:nvPr/>
        </p:nvSpPr>
        <p:spPr>
          <a:xfrm>
            <a:off x="960120" y="5139000"/>
            <a:ext cx="10185840" cy="630360"/>
          </a:xfrm>
          <a:prstGeom prst="roundRect">
            <a:avLst>
              <a:gd name="adj" fmla="val 17391"/>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36" name="Text 21"/>
          <p:cNvSpPr/>
          <p:nvPr/>
        </p:nvSpPr>
        <p:spPr>
          <a:xfrm>
            <a:off x="1152000" y="5285160"/>
            <a:ext cx="9810720" cy="34668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0" lang="en-US" sz="1400" strike="noStrike" u="none">
                <a:solidFill>
                  <a:srgbClr val="ffffff"/>
                </a:solidFill>
                <a:effectLst/>
                <a:uFillTx/>
                <a:latin typeface="Inter"/>
                <a:ea typeface="Inter"/>
              </a:rPr>
              <a:t>Scope of our claim: a mismatch in the archive used for reproduction, not proof that every published file is unavailable.</a:t>
            </a:r>
            <a:endParaRPr b="0" lang="en-US" sz="1400" strike="noStrike" u="none">
              <a:solidFill>
                <a:srgbClr val="000000"/>
              </a:solidFill>
              <a:effectLst/>
              <a:uFillTx/>
              <a:latin typeface="Arial"/>
            </a:endParaRPr>
          </a:p>
        </p:txBody>
      </p:sp>
      <p:sp>
        <p:nvSpPr>
          <p:cNvPr id="137" name="Text 22"/>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Sources: Scientific Data (2025); accompanying five metadata spreadsheets (500 rows each); experimental ZIP count.</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39" name="Shape 1"/>
          <p:cNvSpPr/>
          <p:nvPr/>
        </p:nvSpPr>
        <p:spPr>
          <a:xfrm>
            <a:off x="567000" y="356760"/>
            <a:ext cx="21754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0" name="Text 2"/>
          <p:cNvSpPr/>
          <p:nvPr/>
        </p:nvSpPr>
        <p:spPr>
          <a:xfrm>
            <a:off x="676800" y="379440"/>
            <a:ext cx="195624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02 / DATA AUDIT</a:t>
            </a:r>
            <a:endParaRPr b="0" lang="en-US" sz="1000" strike="noStrike" u="none">
              <a:solidFill>
                <a:srgbClr val="000000"/>
              </a:solidFill>
              <a:effectLst/>
              <a:uFillTx/>
              <a:latin typeface="Arial"/>
            </a:endParaRPr>
          </a:p>
        </p:txBody>
      </p:sp>
      <p:sp>
        <p:nvSpPr>
          <p:cNvPr id="141"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Eight acquisition groups, uncertain identities</a:t>
            </a:r>
            <a:endParaRPr b="0" lang="en-US" sz="3000" strike="noStrike" u="none">
              <a:solidFill>
                <a:srgbClr val="000000"/>
              </a:solidFill>
              <a:effectLst/>
              <a:uFillTx/>
              <a:latin typeface="Arial"/>
            </a:endParaRPr>
          </a:p>
        </p:txBody>
      </p:sp>
      <p:sp>
        <p:nvSpPr>
          <p:cNvPr id="142"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files form eight rotational folders. A folder may represent a crystal—but that is not independently verified.</a:t>
            </a:r>
            <a:endParaRPr b="0" lang="en-US" sz="1430" strike="noStrike" u="none">
              <a:solidFill>
                <a:srgbClr val="000000"/>
              </a:solidFill>
              <a:effectLst/>
              <a:uFillTx/>
              <a:latin typeface="Arial"/>
            </a:endParaRPr>
          </a:p>
        </p:txBody>
      </p:sp>
      <p:sp>
        <p:nvSpPr>
          <p:cNvPr id="143"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44"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45"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06  /  21</a:t>
            </a:r>
            <a:endParaRPr b="0" lang="en-US" sz="900" strike="noStrike" u="none">
              <a:solidFill>
                <a:srgbClr val="000000"/>
              </a:solidFill>
              <a:effectLst/>
              <a:uFillTx/>
              <a:latin typeface="Arial"/>
            </a:endParaRPr>
          </a:p>
        </p:txBody>
      </p:sp>
      <p:sp>
        <p:nvSpPr>
          <p:cNvPr id="146" name="Shape 8"/>
          <p:cNvSpPr/>
          <p:nvPr/>
        </p:nvSpPr>
        <p:spPr>
          <a:xfrm>
            <a:off x="667440" y="2084760"/>
            <a:ext cx="7012800" cy="3291120"/>
          </a:xfrm>
          <a:prstGeom prst="roundRect">
            <a:avLst>
              <a:gd name="adj" fmla="val 416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7" name="Text 9"/>
          <p:cNvSpPr/>
          <p:nvPr/>
        </p:nvSpPr>
        <p:spPr>
          <a:xfrm>
            <a:off x="941760" y="2331720"/>
            <a:ext cx="64000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IMAGE COUNTS BY MINERAL AND ACQUISITION GROUP</a:t>
            </a:r>
            <a:endParaRPr b="0" lang="en-US" sz="1100" strike="noStrike" u="none">
              <a:solidFill>
                <a:srgbClr val="000000"/>
              </a:solidFill>
              <a:effectLst/>
              <a:uFillTx/>
              <a:latin typeface="Arial"/>
            </a:endParaRPr>
          </a:p>
        </p:txBody>
      </p:sp>
      <p:sp>
        <p:nvSpPr>
          <p:cNvPr id="148" name="Text 10"/>
          <p:cNvSpPr/>
          <p:nvPr/>
        </p:nvSpPr>
        <p:spPr>
          <a:xfrm>
            <a:off x="941760" y="2734200"/>
            <a:ext cx="178236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32b2d"/>
                </a:solidFill>
                <a:effectLst/>
                <a:uFillTx/>
                <a:latin typeface="Inter"/>
                <a:ea typeface="Inter"/>
              </a:rPr>
              <a:t>Biotite</a:t>
            </a:r>
            <a:endParaRPr b="0" lang="en-US" sz="1300" strike="noStrike" u="none">
              <a:solidFill>
                <a:srgbClr val="000000"/>
              </a:solidFill>
              <a:effectLst/>
              <a:uFillTx/>
              <a:latin typeface="Arial"/>
            </a:endParaRPr>
          </a:p>
        </p:txBody>
      </p:sp>
      <p:sp>
        <p:nvSpPr>
          <p:cNvPr id="149" name="Shape 11"/>
          <p:cNvSpPr/>
          <p:nvPr/>
        </p:nvSpPr>
        <p:spPr>
          <a:xfrm>
            <a:off x="2853000" y="2752200"/>
            <a:ext cx="3876480" cy="24624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0" name="Shape 12"/>
          <p:cNvSpPr/>
          <p:nvPr/>
        </p:nvSpPr>
        <p:spPr>
          <a:xfrm>
            <a:off x="2853000" y="2752200"/>
            <a:ext cx="1743840" cy="24624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1" name="Shape 13"/>
          <p:cNvSpPr/>
          <p:nvPr/>
        </p:nvSpPr>
        <p:spPr>
          <a:xfrm>
            <a:off x="4597560" y="2752200"/>
            <a:ext cx="1816560" cy="24624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2" name="Text 14"/>
          <p:cNvSpPr/>
          <p:nvPr/>
        </p:nvSpPr>
        <p:spPr>
          <a:xfrm>
            <a:off x="6821280" y="2734200"/>
            <a:ext cx="593640" cy="255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147</a:t>
            </a:r>
            <a:endParaRPr b="0" lang="en-US" sz="1200" strike="noStrike" u="none">
              <a:solidFill>
                <a:srgbClr val="000000"/>
              </a:solidFill>
              <a:effectLst/>
              <a:uFillTx/>
              <a:latin typeface="Arial"/>
            </a:endParaRPr>
          </a:p>
        </p:txBody>
      </p:sp>
      <p:sp>
        <p:nvSpPr>
          <p:cNvPr id="153" name="Text 15"/>
          <p:cNvSpPr/>
          <p:nvPr/>
        </p:nvSpPr>
        <p:spPr>
          <a:xfrm>
            <a:off x="941760" y="3218760"/>
            <a:ext cx="178236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Hornblende</a:t>
            </a:r>
            <a:endParaRPr b="0" lang="en-US" sz="1300" strike="noStrike" u="none">
              <a:solidFill>
                <a:srgbClr val="000000"/>
              </a:solidFill>
              <a:effectLst/>
              <a:uFillTx/>
              <a:latin typeface="Arial"/>
            </a:endParaRPr>
          </a:p>
        </p:txBody>
      </p:sp>
      <p:sp>
        <p:nvSpPr>
          <p:cNvPr id="154" name="Shape 16"/>
          <p:cNvSpPr/>
          <p:nvPr/>
        </p:nvSpPr>
        <p:spPr>
          <a:xfrm>
            <a:off x="2853000" y="3237120"/>
            <a:ext cx="3876480" cy="24624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5" name="Shape 17"/>
          <p:cNvSpPr/>
          <p:nvPr/>
        </p:nvSpPr>
        <p:spPr>
          <a:xfrm>
            <a:off x="2853000" y="3237120"/>
            <a:ext cx="1768320" cy="24624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56" name="Text 18"/>
          <p:cNvSpPr/>
          <p:nvPr/>
        </p:nvSpPr>
        <p:spPr>
          <a:xfrm>
            <a:off x="6821280" y="3218760"/>
            <a:ext cx="593640" cy="255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73</a:t>
            </a:r>
            <a:endParaRPr b="0" lang="en-US" sz="1200" strike="noStrike" u="none">
              <a:solidFill>
                <a:srgbClr val="000000"/>
              </a:solidFill>
              <a:effectLst/>
              <a:uFillTx/>
              <a:latin typeface="Arial"/>
            </a:endParaRPr>
          </a:p>
        </p:txBody>
      </p:sp>
      <p:sp>
        <p:nvSpPr>
          <p:cNvPr id="157" name="Text 19"/>
          <p:cNvSpPr/>
          <p:nvPr/>
        </p:nvSpPr>
        <p:spPr>
          <a:xfrm>
            <a:off x="941760" y="3703320"/>
            <a:ext cx="178236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Plagioclase</a:t>
            </a:r>
            <a:endParaRPr b="0" lang="en-US" sz="1300" strike="noStrike" u="none">
              <a:solidFill>
                <a:srgbClr val="000000"/>
              </a:solidFill>
              <a:effectLst/>
              <a:uFillTx/>
              <a:latin typeface="Arial"/>
            </a:endParaRPr>
          </a:p>
        </p:txBody>
      </p:sp>
      <p:sp>
        <p:nvSpPr>
          <p:cNvPr id="158" name="Shape 20"/>
          <p:cNvSpPr/>
          <p:nvPr/>
        </p:nvSpPr>
        <p:spPr>
          <a:xfrm>
            <a:off x="2853000" y="3721680"/>
            <a:ext cx="3876480" cy="24624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9" name="Shape 21"/>
          <p:cNvSpPr/>
          <p:nvPr/>
        </p:nvSpPr>
        <p:spPr>
          <a:xfrm>
            <a:off x="2853000" y="3721680"/>
            <a:ext cx="1768320" cy="24624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0" name="Shape 22"/>
          <p:cNvSpPr/>
          <p:nvPr/>
        </p:nvSpPr>
        <p:spPr>
          <a:xfrm>
            <a:off x="4621680" y="3721680"/>
            <a:ext cx="1768320" cy="24624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1" name="Text 23"/>
          <p:cNvSpPr/>
          <p:nvPr/>
        </p:nvSpPr>
        <p:spPr>
          <a:xfrm>
            <a:off x="6821280" y="3703320"/>
            <a:ext cx="593640" cy="255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146</a:t>
            </a:r>
            <a:endParaRPr b="0" lang="en-US" sz="1200" strike="noStrike" u="none">
              <a:solidFill>
                <a:srgbClr val="000000"/>
              </a:solidFill>
              <a:effectLst/>
              <a:uFillTx/>
              <a:latin typeface="Arial"/>
            </a:endParaRPr>
          </a:p>
        </p:txBody>
      </p:sp>
      <p:sp>
        <p:nvSpPr>
          <p:cNvPr id="162" name="Text 24"/>
          <p:cNvSpPr/>
          <p:nvPr/>
        </p:nvSpPr>
        <p:spPr>
          <a:xfrm>
            <a:off x="941760" y="4187880"/>
            <a:ext cx="178236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Potassium feldspar</a:t>
            </a:r>
            <a:endParaRPr b="0" lang="en-US" sz="1300" strike="noStrike" u="none">
              <a:solidFill>
                <a:srgbClr val="000000"/>
              </a:solidFill>
              <a:effectLst/>
              <a:uFillTx/>
              <a:latin typeface="Arial"/>
            </a:endParaRPr>
          </a:p>
        </p:txBody>
      </p:sp>
      <p:sp>
        <p:nvSpPr>
          <p:cNvPr id="163" name="Shape 25"/>
          <p:cNvSpPr/>
          <p:nvPr/>
        </p:nvSpPr>
        <p:spPr>
          <a:xfrm>
            <a:off x="2853000" y="4206240"/>
            <a:ext cx="3876480" cy="24624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64" name="Shape 26"/>
          <p:cNvSpPr/>
          <p:nvPr/>
        </p:nvSpPr>
        <p:spPr>
          <a:xfrm>
            <a:off x="2853000" y="4206240"/>
            <a:ext cx="1768320" cy="24624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5" name="Text 27"/>
          <p:cNvSpPr/>
          <p:nvPr/>
        </p:nvSpPr>
        <p:spPr>
          <a:xfrm>
            <a:off x="6821280" y="4187880"/>
            <a:ext cx="593640" cy="255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73</a:t>
            </a:r>
            <a:endParaRPr b="0" lang="en-US" sz="1200" strike="noStrike" u="none">
              <a:solidFill>
                <a:srgbClr val="000000"/>
              </a:solidFill>
              <a:effectLst/>
              <a:uFillTx/>
              <a:latin typeface="Arial"/>
            </a:endParaRPr>
          </a:p>
        </p:txBody>
      </p:sp>
      <p:sp>
        <p:nvSpPr>
          <p:cNvPr id="166" name="Text 28"/>
          <p:cNvSpPr/>
          <p:nvPr/>
        </p:nvSpPr>
        <p:spPr>
          <a:xfrm>
            <a:off x="941760" y="4672440"/>
            <a:ext cx="178236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132b2d"/>
                </a:solidFill>
                <a:effectLst/>
                <a:uFillTx/>
                <a:latin typeface="Inter"/>
                <a:ea typeface="Inter"/>
              </a:rPr>
              <a:t>Quartz</a:t>
            </a:r>
            <a:endParaRPr b="0" lang="en-US" sz="1300" strike="noStrike" u="none">
              <a:solidFill>
                <a:srgbClr val="000000"/>
              </a:solidFill>
              <a:effectLst/>
              <a:uFillTx/>
              <a:latin typeface="Arial"/>
            </a:endParaRPr>
          </a:p>
        </p:txBody>
      </p:sp>
      <p:sp>
        <p:nvSpPr>
          <p:cNvPr id="167" name="Shape 29"/>
          <p:cNvSpPr/>
          <p:nvPr/>
        </p:nvSpPr>
        <p:spPr>
          <a:xfrm>
            <a:off x="2853000" y="4690800"/>
            <a:ext cx="3876480" cy="246240"/>
          </a:xfrm>
          <a:prstGeom prst="roundRect">
            <a:avLst>
              <a:gd name="adj" fmla="val 22222"/>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68" name="Shape 30"/>
          <p:cNvSpPr/>
          <p:nvPr/>
        </p:nvSpPr>
        <p:spPr>
          <a:xfrm>
            <a:off x="2853000" y="4690800"/>
            <a:ext cx="1743840" cy="246240"/>
          </a:xfrm>
          <a:prstGeom prst="roundRect">
            <a:avLst>
              <a:gd name="adj" fmla="val 14815"/>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69" name="Shape 31"/>
          <p:cNvSpPr/>
          <p:nvPr/>
        </p:nvSpPr>
        <p:spPr>
          <a:xfrm>
            <a:off x="4597560" y="4690800"/>
            <a:ext cx="1743840" cy="24624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70" name="Text 32"/>
          <p:cNvSpPr/>
          <p:nvPr/>
        </p:nvSpPr>
        <p:spPr>
          <a:xfrm>
            <a:off x="6821280" y="4672440"/>
            <a:ext cx="593640" cy="25524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00" strike="noStrike" u="none">
                <a:solidFill>
                  <a:srgbClr val="132b2d"/>
                </a:solidFill>
                <a:effectLst/>
                <a:uFillTx/>
                <a:latin typeface="Inter"/>
                <a:ea typeface="Inter"/>
              </a:rPr>
              <a:t>144</a:t>
            </a:r>
            <a:endParaRPr b="0" lang="en-US" sz="1200" strike="noStrike" u="none">
              <a:solidFill>
                <a:srgbClr val="000000"/>
              </a:solidFill>
              <a:effectLst/>
              <a:uFillTx/>
              <a:latin typeface="Arial"/>
            </a:endParaRPr>
          </a:p>
        </p:txBody>
      </p:sp>
      <p:sp>
        <p:nvSpPr>
          <p:cNvPr id="171" name="Shape 33"/>
          <p:cNvSpPr/>
          <p:nvPr/>
        </p:nvSpPr>
        <p:spPr>
          <a:xfrm>
            <a:off x="2898720" y="5139000"/>
            <a:ext cx="109080" cy="10908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2760" bIns="32760" anchor="t">
            <a:noAutofit/>
          </a:bodyPr>
          <a:p>
            <a:pPr>
              <a:lnSpc>
                <a:spcPct val="100000"/>
              </a:lnSpc>
            </a:pPr>
            <a:endParaRPr b="0" lang="en-US" sz="1800" strike="noStrike" u="none">
              <a:solidFill>
                <a:srgbClr val="ffffff"/>
              </a:solidFill>
              <a:effectLst/>
              <a:uFillTx/>
              <a:latin typeface="Arial"/>
            </a:endParaRPr>
          </a:p>
        </p:txBody>
      </p:sp>
      <p:sp>
        <p:nvSpPr>
          <p:cNvPr id="172" name="Text 34"/>
          <p:cNvSpPr/>
          <p:nvPr/>
        </p:nvSpPr>
        <p:spPr>
          <a:xfrm>
            <a:off x="3063240" y="5065920"/>
            <a:ext cx="1188000" cy="227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573"/>
                </a:solidFill>
                <a:effectLst/>
                <a:uFillTx/>
                <a:latin typeface="Inter"/>
                <a:ea typeface="Inter"/>
              </a:rPr>
              <a:t>Group A</a:t>
            </a:r>
            <a:endParaRPr b="0" lang="en-US" sz="1050" strike="noStrike" u="none">
              <a:solidFill>
                <a:srgbClr val="000000"/>
              </a:solidFill>
              <a:effectLst/>
              <a:uFillTx/>
              <a:latin typeface="Arial"/>
            </a:endParaRPr>
          </a:p>
        </p:txBody>
      </p:sp>
      <p:sp>
        <p:nvSpPr>
          <p:cNvPr id="173" name="Shape 35"/>
          <p:cNvSpPr/>
          <p:nvPr/>
        </p:nvSpPr>
        <p:spPr>
          <a:xfrm>
            <a:off x="4306680" y="5139000"/>
            <a:ext cx="109080" cy="10908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2760" bIns="32760" anchor="t">
            <a:noAutofit/>
          </a:bodyPr>
          <a:p>
            <a:pPr>
              <a:lnSpc>
                <a:spcPct val="100000"/>
              </a:lnSpc>
            </a:pPr>
            <a:endParaRPr b="0" lang="en-US" sz="1800" strike="noStrike" u="none">
              <a:solidFill>
                <a:srgbClr val="ffffff"/>
              </a:solidFill>
              <a:effectLst/>
              <a:uFillTx/>
              <a:latin typeface="Arial"/>
            </a:endParaRPr>
          </a:p>
        </p:txBody>
      </p:sp>
      <p:sp>
        <p:nvSpPr>
          <p:cNvPr id="174" name="Text 36"/>
          <p:cNvSpPr/>
          <p:nvPr/>
        </p:nvSpPr>
        <p:spPr>
          <a:xfrm>
            <a:off x="4489560" y="5065920"/>
            <a:ext cx="1188000" cy="227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667573"/>
                </a:solidFill>
                <a:effectLst/>
                <a:uFillTx/>
                <a:latin typeface="Inter"/>
                <a:ea typeface="Inter"/>
              </a:rPr>
              <a:t>Group B</a:t>
            </a:r>
            <a:endParaRPr b="0" lang="en-US" sz="1050" strike="noStrike" u="none">
              <a:solidFill>
                <a:srgbClr val="000000"/>
              </a:solidFill>
              <a:effectLst/>
              <a:uFillTx/>
              <a:latin typeface="Arial"/>
            </a:endParaRPr>
          </a:p>
        </p:txBody>
      </p:sp>
      <p:sp>
        <p:nvSpPr>
          <p:cNvPr id="175" name="Shape 37"/>
          <p:cNvSpPr/>
          <p:nvPr/>
        </p:nvSpPr>
        <p:spPr>
          <a:xfrm>
            <a:off x="7900560" y="2084760"/>
            <a:ext cx="3556440" cy="1434960"/>
          </a:xfrm>
          <a:prstGeom prst="roundRect">
            <a:avLst>
              <a:gd name="adj" fmla="val 9554"/>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76" name="Text 38"/>
          <p:cNvSpPr/>
          <p:nvPr/>
        </p:nvSpPr>
        <p:spPr>
          <a:xfrm>
            <a:off x="8147160" y="2295000"/>
            <a:ext cx="1828080" cy="6760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500" strike="noStrike" u="none">
                <a:solidFill>
                  <a:srgbClr val="ce6949"/>
                </a:solidFill>
                <a:effectLst/>
                <a:uFillTx/>
                <a:latin typeface="Inter"/>
                <a:ea typeface="Inter"/>
              </a:rPr>
              <a:t>176</a:t>
            </a:r>
            <a:endParaRPr b="0" lang="en-US" sz="3500" strike="noStrike" u="none">
              <a:solidFill>
                <a:srgbClr val="000000"/>
              </a:solidFill>
              <a:effectLst/>
              <a:uFillTx/>
              <a:latin typeface="Arial"/>
            </a:endParaRPr>
          </a:p>
        </p:txBody>
      </p:sp>
      <p:sp>
        <p:nvSpPr>
          <p:cNvPr id="177" name="Text 39"/>
          <p:cNvSpPr/>
          <p:nvPr/>
        </p:nvSpPr>
        <p:spPr>
          <a:xfrm>
            <a:off x="9198720" y="2414160"/>
            <a:ext cx="2065680" cy="5846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32b2d"/>
                </a:solidFill>
                <a:effectLst/>
                <a:uFillTx/>
                <a:latin typeface="Inter"/>
                <a:ea typeface="Inter"/>
              </a:rPr>
              <a:t>filenames repeated</a:t>
            </a:r>
            <a:endParaRPr b="0" lang="en-US" sz="1300" strike="noStrike" u="none">
              <a:solidFill>
                <a:srgbClr val="000000"/>
              </a:solidFill>
              <a:effectLst/>
              <a:uFillTx/>
              <a:latin typeface="Arial"/>
            </a:endParaRPr>
          </a:p>
          <a:p>
            <a:pPr defTabSz="914400">
              <a:lnSpc>
                <a:spcPct val="100000"/>
              </a:lnSpc>
              <a:tabLst>
                <a:tab algn="l" pos="0"/>
              </a:tabLst>
            </a:pPr>
            <a:r>
              <a:rPr b="1" lang="en-US" sz="1300" strike="noStrike" u="none">
                <a:solidFill>
                  <a:srgbClr val="132b2d"/>
                </a:solidFill>
                <a:effectLst/>
                <a:uFillTx/>
                <a:latin typeface="Inter"/>
                <a:ea typeface="Inter"/>
              </a:rPr>
              <a:t>across folders</a:t>
            </a:r>
            <a:endParaRPr b="0" lang="en-US" sz="1300" strike="noStrike" u="none">
              <a:solidFill>
                <a:srgbClr val="000000"/>
              </a:solidFill>
              <a:effectLst/>
              <a:uFillTx/>
              <a:latin typeface="Arial"/>
            </a:endParaRPr>
          </a:p>
        </p:txBody>
      </p:sp>
      <p:sp>
        <p:nvSpPr>
          <p:cNvPr id="178" name="Shape 40"/>
          <p:cNvSpPr/>
          <p:nvPr/>
        </p:nvSpPr>
        <p:spPr>
          <a:xfrm>
            <a:off x="7900560" y="3740040"/>
            <a:ext cx="3556440" cy="1636200"/>
          </a:xfrm>
          <a:prstGeom prst="roundRect">
            <a:avLst>
              <a:gd name="adj" fmla="val 8380"/>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79" name="Text 41"/>
          <p:cNvSpPr/>
          <p:nvPr/>
        </p:nvSpPr>
        <p:spPr>
          <a:xfrm>
            <a:off x="8183880" y="3986640"/>
            <a:ext cx="2888640" cy="319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12585a"/>
                </a:solidFill>
                <a:effectLst/>
                <a:uFillTx/>
                <a:latin typeface="Inter"/>
                <a:ea typeface="Inter"/>
              </a:rPr>
              <a:t>Working hypothesis</a:t>
            </a:r>
            <a:endParaRPr b="0" lang="en-US" sz="1300" strike="noStrike" u="none">
              <a:solidFill>
                <a:srgbClr val="000000"/>
              </a:solidFill>
              <a:effectLst/>
              <a:uFillTx/>
              <a:latin typeface="Arial"/>
            </a:endParaRPr>
          </a:p>
        </p:txBody>
      </p:sp>
      <p:sp>
        <p:nvSpPr>
          <p:cNvPr id="180" name="Text 42"/>
          <p:cNvSpPr/>
          <p:nvPr/>
        </p:nvSpPr>
        <p:spPr>
          <a:xfrm>
            <a:off x="8183880" y="4434840"/>
            <a:ext cx="2788200" cy="44748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700" strike="noStrike" u="none">
                <a:solidFill>
                  <a:srgbClr val="132b2d"/>
                </a:solidFill>
                <a:effectLst/>
                <a:uFillTx/>
                <a:latin typeface="Inter"/>
                <a:ea typeface="Inter"/>
              </a:rPr>
              <a:t>8 groups ≈ 8 individual crystals</a:t>
            </a:r>
            <a:endParaRPr b="0" lang="en-US" sz="1700" strike="noStrike" u="none">
              <a:solidFill>
                <a:srgbClr val="000000"/>
              </a:solidFill>
              <a:effectLst/>
              <a:uFillTx/>
              <a:latin typeface="Arial"/>
            </a:endParaRPr>
          </a:p>
        </p:txBody>
      </p:sp>
      <p:sp>
        <p:nvSpPr>
          <p:cNvPr id="181" name="Text 43"/>
          <p:cNvSpPr/>
          <p:nvPr/>
        </p:nvSpPr>
        <p:spPr>
          <a:xfrm>
            <a:off x="8183880" y="5001840"/>
            <a:ext cx="2852280" cy="191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00" strike="noStrike" u="none">
                <a:solidFill>
                  <a:srgbClr val="667573"/>
                </a:solidFill>
                <a:effectLst/>
                <a:uFillTx/>
                <a:latin typeface="Inter"/>
                <a:ea typeface="Inter"/>
              </a:rPr>
              <a:t>Visual inference, not validated metadata</a:t>
            </a:r>
            <a:endParaRPr b="0" lang="en-US" sz="1000" strike="noStrike" u="none">
              <a:solidFill>
                <a:srgbClr val="000000"/>
              </a:solidFill>
              <a:effectLst/>
              <a:uFillTx/>
              <a:latin typeface="Arial"/>
            </a:endParaRPr>
          </a:p>
        </p:txBody>
      </p:sp>
      <p:sp>
        <p:nvSpPr>
          <p:cNvPr id="182" name="Text 44"/>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Sources: experimental ZIP folder audit and accompanying 2,500-record metadata tables.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84" name="Shape 1"/>
          <p:cNvSpPr/>
          <p:nvPr/>
        </p:nvSpPr>
        <p:spPr>
          <a:xfrm>
            <a:off x="567000" y="356760"/>
            <a:ext cx="200736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85" name="Text 2"/>
          <p:cNvSpPr/>
          <p:nvPr/>
        </p:nvSpPr>
        <p:spPr>
          <a:xfrm>
            <a:off x="676800" y="379440"/>
            <a:ext cx="178776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 / BASELINE</a:t>
            </a:r>
            <a:endParaRPr b="0" lang="en-US" sz="1000" strike="noStrike" u="none">
              <a:solidFill>
                <a:srgbClr val="000000"/>
              </a:solidFill>
              <a:effectLst/>
              <a:uFillTx/>
              <a:latin typeface="Arial"/>
            </a:endParaRPr>
          </a:p>
        </p:txBody>
      </p:sp>
      <p:sp>
        <p:nvSpPr>
          <p:cNvPr id="186"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Reproducing the classification pipeline</a:t>
            </a:r>
            <a:endParaRPr b="0" lang="en-US" sz="3000" strike="noStrike" u="none">
              <a:solidFill>
                <a:srgbClr val="000000"/>
              </a:solidFill>
              <a:effectLst/>
              <a:uFillTx/>
              <a:latin typeface="Arial"/>
            </a:endParaRPr>
          </a:p>
        </p:txBody>
      </p:sp>
      <p:sp>
        <p:nvSpPr>
          <p:cNvPr id="187"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followed the article’s classical-ML logic on the subset available to us.</a:t>
            </a:r>
            <a:endParaRPr b="0" lang="en-US" sz="1430" strike="noStrike" u="none">
              <a:solidFill>
                <a:srgbClr val="000000"/>
              </a:solidFill>
              <a:effectLst/>
              <a:uFillTx/>
              <a:latin typeface="Arial"/>
            </a:endParaRPr>
          </a:p>
        </p:txBody>
      </p:sp>
      <p:sp>
        <p:nvSpPr>
          <p:cNvPr id="188"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89"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190"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07  /  21</a:t>
            </a:r>
            <a:endParaRPr b="0" lang="en-US" sz="900" strike="noStrike" u="none">
              <a:solidFill>
                <a:srgbClr val="000000"/>
              </a:solidFill>
              <a:effectLst/>
              <a:uFillTx/>
              <a:latin typeface="Arial"/>
            </a:endParaRPr>
          </a:p>
        </p:txBody>
      </p:sp>
      <p:sp>
        <p:nvSpPr>
          <p:cNvPr id="191" name="Shape 8"/>
          <p:cNvSpPr/>
          <p:nvPr/>
        </p:nvSpPr>
        <p:spPr>
          <a:xfrm>
            <a:off x="640080" y="2286000"/>
            <a:ext cx="2102400" cy="208404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92" name="Shape 9"/>
          <p:cNvSpPr/>
          <p:nvPr/>
        </p:nvSpPr>
        <p:spPr>
          <a:xfrm>
            <a:off x="777240" y="2450520"/>
            <a:ext cx="4654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93" name="Text 10"/>
          <p:cNvSpPr/>
          <p:nvPr/>
        </p:nvSpPr>
        <p:spPr>
          <a:xfrm>
            <a:off x="887040" y="2473560"/>
            <a:ext cx="24624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01</a:t>
            </a:r>
            <a:endParaRPr b="0" lang="en-US" sz="1000" strike="noStrike" u="none">
              <a:solidFill>
                <a:srgbClr val="000000"/>
              </a:solidFill>
              <a:effectLst/>
              <a:uFillTx/>
              <a:latin typeface="Arial"/>
            </a:endParaRPr>
          </a:p>
        </p:txBody>
      </p:sp>
      <p:sp>
        <p:nvSpPr>
          <p:cNvPr id="194" name="Text 11"/>
          <p:cNvSpPr/>
          <p:nvPr/>
        </p:nvSpPr>
        <p:spPr>
          <a:xfrm>
            <a:off x="768240" y="3035880"/>
            <a:ext cx="1846440" cy="365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CROPPED IMAGE</a:t>
            </a:r>
            <a:endParaRPr b="0" lang="en-US" sz="1500" strike="noStrike" u="none">
              <a:solidFill>
                <a:srgbClr val="000000"/>
              </a:solidFill>
              <a:effectLst/>
              <a:uFillTx/>
              <a:latin typeface="Arial"/>
            </a:endParaRPr>
          </a:p>
        </p:txBody>
      </p:sp>
      <p:sp>
        <p:nvSpPr>
          <p:cNvPr id="195" name="Text 12"/>
          <p:cNvSpPr/>
          <p:nvPr/>
        </p:nvSpPr>
        <p:spPr>
          <a:xfrm>
            <a:off x="768240" y="3602880"/>
            <a:ext cx="1846440" cy="429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Five mineral labels</a:t>
            </a:r>
            <a:endParaRPr b="0" lang="en-US" sz="1200" strike="noStrike" u="none">
              <a:solidFill>
                <a:srgbClr val="000000"/>
              </a:solidFill>
              <a:effectLst/>
              <a:uFillTx/>
              <a:latin typeface="Arial"/>
            </a:endParaRPr>
          </a:p>
        </p:txBody>
      </p:sp>
      <p:sp>
        <p:nvSpPr>
          <p:cNvPr id="196" name="Text 13"/>
          <p:cNvSpPr/>
          <p:nvPr/>
        </p:nvSpPr>
        <p:spPr>
          <a:xfrm>
            <a:off x="2770560" y="3090600"/>
            <a:ext cx="200520" cy="273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197" name="Shape 14"/>
          <p:cNvSpPr/>
          <p:nvPr/>
        </p:nvSpPr>
        <p:spPr>
          <a:xfrm>
            <a:off x="2962800" y="2286000"/>
            <a:ext cx="2102400" cy="2084040"/>
          </a:xfrm>
          <a:prstGeom prst="roundRect">
            <a:avLst>
              <a:gd name="adj" fmla="val 6140"/>
            </a:avLst>
          </a:prstGeom>
          <a:solidFill>
            <a:srgbClr val="eaf3e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98" name="Shape 15"/>
          <p:cNvSpPr/>
          <p:nvPr/>
        </p:nvSpPr>
        <p:spPr>
          <a:xfrm>
            <a:off x="3099960" y="2450520"/>
            <a:ext cx="465480" cy="264600"/>
          </a:xfrm>
          <a:prstGeom prst="roundRect">
            <a:avLst>
              <a:gd name="adj" fmla="val 3793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199" name="Text 16"/>
          <p:cNvSpPr/>
          <p:nvPr/>
        </p:nvSpPr>
        <p:spPr>
          <a:xfrm>
            <a:off x="3209400" y="2473560"/>
            <a:ext cx="24624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ffffff"/>
                </a:solidFill>
                <a:effectLst/>
                <a:uFillTx/>
                <a:latin typeface="Inter"/>
                <a:ea typeface="Inter"/>
              </a:rPr>
              <a:t>02</a:t>
            </a:r>
            <a:endParaRPr b="0" lang="en-US" sz="1000" strike="noStrike" u="none">
              <a:solidFill>
                <a:srgbClr val="000000"/>
              </a:solidFill>
              <a:effectLst/>
              <a:uFillTx/>
              <a:latin typeface="Arial"/>
            </a:endParaRPr>
          </a:p>
        </p:txBody>
      </p:sp>
      <p:sp>
        <p:nvSpPr>
          <p:cNvPr id="200" name="Text 17"/>
          <p:cNvSpPr/>
          <p:nvPr/>
        </p:nvSpPr>
        <p:spPr>
          <a:xfrm>
            <a:off x="3090600" y="3035880"/>
            <a:ext cx="1846440" cy="365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STANDARDIZE</a:t>
            </a:r>
            <a:endParaRPr b="0" lang="en-US" sz="1500" strike="noStrike" u="none">
              <a:solidFill>
                <a:srgbClr val="000000"/>
              </a:solidFill>
              <a:effectLst/>
              <a:uFillTx/>
              <a:latin typeface="Arial"/>
            </a:endParaRPr>
          </a:p>
        </p:txBody>
      </p:sp>
      <p:sp>
        <p:nvSpPr>
          <p:cNvPr id="201" name="Text 18"/>
          <p:cNvSpPr/>
          <p:nvPr/>
        </p:nvSpPr>
        <p:spPr>
          <a:xfrm>
            <a:off x="3090600" y="3602880"/>
            <a:ext cx="1846440" cy="429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224 × 224  /  150 × 150</a:t>
            </a:r>
            <a:endParaRPr b="0" lang="en-US" sz="1200" strike="noStrike" u="none">
              <a:solidFill>
                <a:srgbClr val="000000"/>
              </a:solidFill>
              <a:effectLst/>
              <a:uFillTx/>
              <a:latin typeface="Arial"/>
            </a:endParaRPr>
          </a:p>
        </p:txBody>
      </p:sp>
      <p:sp>
        <p:nvSpPr>
          <p:cNvPr id="202" name="Text 19"/>
          <p:cNvSpPr/>
          <p:nvPr/>
        </p:nvSpPr>
        <p:spPr>
          <a:xfrm>
            <a:off x="5093280" y="3090600"/>
            <a:ext cx="200520" cy="273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03" name="Shape 20"/>
          <p:cNvSpPr/>
          <p:nvPr/>
        </p:nvSpPr>
        <p:spPr>
          <a:xfrm>
            <a:off x="5285160" y="2286000"/>
            <a:ext cx="2102400" cy="208404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04" name="Shape 21"/>
          <p:cNvSpPr/>
          <p:nvPr/>
        </p:nvSpPr>
        <p:spPr>
          <a:xfrm>
            <a:off x="5422320" y="2450520"/>
            <a:ext cx="4654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05" name="Text 22"/>
          <p:cNvSpPr/>
          <p:nvPr/>
        </p:nvSpPr>
        <p:spPr>
          <a:xfrm>
            <a:off x="5532120" y="2473560"/>
            <a:ext cx="24624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a:t>
            </a:r>
            <a:endParaRPr b="0" lang="en-US" sz="1000" strike="noStrike" u="none">
              <a:solidFill>
                <a:srgbClr val="000000"/>
              </a:solidFill>
              <a:effectLst/>
              <a:uFillTx/>
              <a:latin typeface="Arial"/>
            </a:endParaRPr>
          </a:p>
        </p:txBody>
      </p:sp>
      <p:sp>
        <p:nvSpPr>
          <p:cNvPr id="206" name="Text 23"/>
          <p:cNvSpPr/>
          <p:nvPr/>
        </p:nvSpPr>
        <p:spPr>
          <a:xfrm>
            <a:off x="5413320" y="3035880"/>
            <a:ext cx="1846440" cy="365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PIXEL FEATURES</a:t>
            </a:r>
            <a:endParaRPr b="0" lang="en-US" sz="1500" strike="noStrike" u="none">
              <a:solidFill>
                <a:srgbClr val="000000"/>
              </a:solidFill>
              <a:effectLst/>
              <a:uFillTx/>
              <a:latin typeface="Arial"/>
            </a:endParaRPr>
          </a:p>
        </p:txBody>
      </p:sp>
      <p:sp>
        <p:nvSpPr>
          <p:cNvPr id="207" name="Text 24"/>
          <p:cNvSpPr/>
          <p:nvPr/>
        </p:nvSpPr>
        <p:spPr>
          <a:xfrm>
            <a:off x="5413320" y="3602880"/>
            <a:ext cx="1846440" cy="429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Scale 0–1 · flatten RGB</a:t>
            </a:r>
            <a:endParaRPr b="0" lang="en-US" sz="1200" strike="noStrike" u="none">
              <a:solidFill>
                <a:srgbClr val="000000"/>
              </a:solidFill>
              <a:effectLst/>
              <a:uFillTx/>
              <a:latin typeface="Arial"/>
            </a:endParaRPr>
          </a:p>
        </p:txBody>
      </p:sp>
      <p:sp>
        <p:nvSpPr>
          <p:cNvPr id="208" name="Text 25"/>
          <p:cNvSpPr/>
          <p:nvPr/>
        </p:nvSpPr>
        <p:spPr>
          <a:xfrm>
            <a:off x="7415640" y="3090600"/>
            <a:ext cx="200520" cy="273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09" name="Shape 26"/>
          <p:cNvSpPr/>
          <p:nvPr/>
        </p:nvSpPr>
        <p:spPr>
          <a:xfrm>
            <a:off x="7607880" y="2286000"/>
            <a:ext cx="2102400" cy="208404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10" name="Shape 27"/>
          <p:cNvSpPr/>
          <p:nvPr/>
        </p:nvSpPr>
        <p:spPr>
          <a:xfrm>
            <a:off x="7745040" y="2450520"/>
            <a:ext cx="4654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11" name="Text 28"/>
          <p:cNvSpPr/>
          <p:nvPr/>
        </p:nvSpPr>
        <p:spPr>
          <a:xfrm>
            <a:off x="7854840" y="2473560"/>
            <a:ext cx="24624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a:t>
            </a:r>
            <a:endParaRPr b="0" lang="en-US" sz="1000" strike="noStrike" u="none">
              <a:solidFill>
                <a:srgbClr val="000000"/>
              </a:solidFill>
              <a:effectLst/>
              <a:uFillTx/>
              <a:latin typeface="Arial"/>
            </a:endParaRPr>
          </a:p>
        </p:txBody>
      </p:sp>
      <p:sp>
        <p:nvSpPr>
          <p:cNvPr id="212" name="Text 29"/>
          <p:cNvSpPr/>
          <p:nvPr/>
        </p:nvSpPr>
        <p:spPr>
          <a:xfrm>
            <a:off x="7735680" y="3035880"/>
            <a:ext cx="1846440" cy="365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SPLIT</a:t>
            </a:r>
            <a:endParaRPr b="0" lang="en-US" sz="1500" strike="noStrike" u="none">
              <a:solidFill>
                <a:srgbClr val="000000"/>
              </a:solidFill>
              <a:effectLst/>
              <a:uFillTx/>
              <a:latin typeface="Arial"/>
            </a:endParaRPr>
          </a:p>
        </p:txBody>
      </p:sp>
      <p:sp>
        <p:nvSpPr>
          <p:cNvPr id="213" name="Text 30"/>
          <p:cNvSpPr/>
          <p:nvPr/>
        </p:nvSpPr>
        <p:spPr>
          <a:xfrm>
            <a:off x="7735680" y="3602880"/>
            <a:ext cx="1846440" cy="429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80% train · 20% test</a:t>
            </a:r>
            <a:endParaRPr b="0" lang="en-US" sz="1200" strike="noStrike" u="none">
              <a:solidFill>
                <a:srgbClr val="000000"/>
              </a:solidFill>
              <a:effectLst/>
              <a:uFillTx/>
              <a:latin typeface="Arial"/>
            </a:endParaRPr>
          </a:p>
        </p:txBody>
      </p:sp>
      <p:sp>
        <p:nvSpPr>
          <p:cNvPr id="214" name="Text 31"/>
          <p:cNvSpPr/>
          <p:nvPr/>
        </p:nvSpPr>
        <p:spPr>
          <a:xfrm>
            <a:off x="9738360" y="3090600"/>
            <a:ext cx="200520" cy="273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900" strike="noStrike" u="none">
                <a:solidFill>
                  <a:srgbClr val="287f80"/>
                </a:solidFill>
                <a:effectLst/>
                <a:uFillTx/>
                <a:latin typeface="Inter"/>
                <a:ea typeface="Inter"/>
              </a:rPr>
              <a:t>→</a:t>
            </a:r>
            <a:endParaRPr b="0" lang="en-US" sz="1900" strike="noStrike" u="none">
              <a:solidFill>
                <a:srgbClr val="000000"/>
              </a:solidFill>
              <a:effectLst/>
              <a:uFillTx/>
              <a:latin typeface="Arial"/>
            </a:endParaRPr>
          </a:p>
        </p:txBody>
      </p:sp>
      <p:sp>
        <p:nvSpPr>
          <p:cNvPr id="215" name="Shape 32"/>
          <p:cNvSpPr/>
          <p:nvPr/>
        </p:nvSpPr>
        <p:spPr>
          <a:xfrm>
            <a:off x="9930240" y="2286000"/>
            <a:ext cx="2102400" cy="2084040"/>
          </a:xfrm>
          <a:prstGeom prst="roundRect">
            <a:avLst>
              <a:gd name="adj" fmla="val 614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16" name="Shape 33"/>
          <p:cNvSpPr/>
          <p:nvPr/>
        </p:nvSpPr>
        <p:spPr>
          <a:xfrm>
            <a:off x="10067400" y="2450520"/>
            <a:ext cx="46548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17" name="Text 34"/>
          <p:cNvSpPr/>
          <p:nvPr/>
        </p:nvSpPr>
        <p:spPr>
          <a:xfrm>
            <a:off x="10177200" y="2473560"/>
            <a:ext cx="24624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a:t>
            </a:r>
            <a:endParaRPr b="0" lang="en-US" sz="1000" strike="noStrike" u="none">
              <a:solidFill>
                <a:srgbClr val="000000"/>
              </a:solidFill>
              <a:effectLst/>
              <a:uFillTx/>
              <a:latin typeface="Arial"/>
            </a:endParaRPr>
          </a:p>
        </p:txBody>
      </p:sp>
      <p:sp>
        <p:nvSpPr>
          <p:cNvPr id="218" name="Text 35"/>
          <p:cNvSpPr/>
          <p:nvPr/>
        </p:nvSpPr>
        <p:spPr>
          <a:xfrm>
            <a:off x="10058400" y="3035880"/>
            <a:ext cx="1846440" cy="365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CLASSIFY</a:t>
            </a:r>
            <a:endParaRPr b="0" lang="en-US" sz="1500" strike="noStrike" u="none">
              <a:solidFill>
                <a:srgbClr val="000000"/>
              </a:solidFill>
              <a:effectLst/>
              <a:uFillTx/>
              <a:latin typeface="Arial"/>
            </a:endParaRPr>
          </a:p>
        </p:txBody>
      </p:sp>
      <p:sp>
        <p:nvSpPr>
          <p:cNvPr id="219" name="Text 36"/>
          <p:cNvSpPr/>
          <p:nvPr/>
        </p:nvSpPr>
        <p:spPr>
          <a:xfrm>
            <a:off x="10058400" y="3602880"/>
            <a:ext cx="1846440" cy="429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Decision Tree + KNN</a:t>
            </a:r>
            <a:endParaRPr b="0" lang="en-US" sz="1200" strike="noStrike" u="none">
              <a:solidFill>
                <a:srgbClr val="000000"/>
              </a:solidFill>
              <a:effectLst/>
              <a:uFillTx/>
              <a:latin typeface="Arial"/>
            </a:endParaRPr>
          </a:p>
        </p:txBody>
      </p:sp>
      <p:sp>
        <p:nvSpPr>
          <p:cNvPr id="220" name="Shape 37"/>
          <p:cNvSpPr/>
          <p:nvPr/>
        </p:nvSpPr>
        <p:spPr>
          <a:xfrm>
            <a:off x="704160" y="4818960"/>
            <a:ext cx="10697760" cy="968400"/>
          </a:xfrm>
          <a:prstGeom prst="roundRect">
            <a:avLst>
              <a:gd name="adj" fmla="val 13208"/>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21" name="Text 38"/>
          <p:cNvSpPr/>
          <p:nvPr/>
        </p:nvSpPr>
        <p:spPr>
          <a:xfrm>
            <a:off x="951120" y="4992480"/>
            <a:ext cx="313560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ce6949"/>
                </a:solidFill>
                <a:effectLst/>
                <a:uFillTx/>
                <a:latin typeface="Inter"/>
                <a:ea typeface="Inter"/>
              </a:rPr>
              <a:t>Important implementation detail</a:t>
            </a:r>
            <a:endParaRPr b="0" lang="en-US" sz="1500" strike="noStrike" u="none">
              <a:solidFill>
                <a:srgbClr val="000000"/>
              </a:solidFill>
              <a:effectLst/>
              <a:uFillTx/>
              <a:latin typeface="Arial"/>
            </a:endParaRPr>
          </a:p>
        </p:txBody>
      </p:sp>
      <p:sp>
        <p:nvSpPr>
          <p:cNvPr id="222" name="Text 39"/>
          <p:cNvSpPr/>
          <p:nvPr/>
        </p:nvSpPr>
        <p:spPr>
          <a:xfrm>
            <a:off x="4078080" y="4965120"/>
            <a:ext cx="6921360" cy="538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20" strike="noStrike" u="none">
                <a:solidFill>
                  <a:srgbClr val="132b2d"/>
                </a:solidFill>
                <a:effectLst/>
                <a:uFillTx/>
                <a:latin typeface="Inter"/>
                <a:ea typeface="Inter"/>
              </a:rPr>
              <a:t>The notebook’s “Original” branch standardizes variable crops to 224 × 224. It is not native microscope resolution.</a:t>
            </a:r>
            <a:endParaRPr b="0" lang="en-US" sz="1420" strike="noStrike" u="none">
              <a:solidFill>
                <a:srgbClr val="000000"/>
              </a:solidFill>
              <a:effectLst/>
              <a:uFillTx/>
              <a:latin typeface="Arial"/>
            </a:endParaRPr>
          </a:p>
        </p:txBody>
      </p:sp>
      <p:sp>
        <p:nvSpPr>
          <p:cNvPr id="223" name="Text 40"/>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Method: article, Table 3 and ML validation framework; implementation: final notebook, Experiment 1.</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Rectangle 1"/>
          <p:cNvSpPr/>
          <p:nvPr/>
        </p:nvSpPr>
        <p:spPr>
          <a:xfrm>
            <a:off x="0" y="0"/>
            <a:ext cx="12191760" cy="6857640"/>
          </a:xfrm>
          <a:prstGeom prst="rect">
            <a:avLst/>
          </a:prstGeom>
          <a:solidFill>
            <a:srgbClr val="f6f4e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25" name="Rounded Rectangle 2"/>
          <p:cNvSpPr/>
          <p:nvPr/>
        </p:nvSpPr>
        <p:spPr>
          <a:xfrm>
            <a:off x="567000" y="356760"/>
            <a:ext cx="2199600" cy="264600"/>
          </a:xfrm>
          <a:prstGeom prst="roundRect">
            <a:avLst>
              <a:gd name="adj" fmla="val 19000"/>
            </a:avLst>
          </a:prstGeom>
          <a:solidFill>
            <a:srgbClr val="eaf3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26" name="TextBox 3"/>
          <p:cNvSpPr/>
          <p:nvPr/>
        </p:nvSpPr>
        <p:spPr>
          <a:xfrm>
            <a:off x="676800" y="379440"/>
            <a:ext cx="1969560" cy="20052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000" strike="noStrike" u="none">
                <a:solidFill>
                  <a:srgbClr val="12585a"/>
                </a:solidFill>
                <a:effectLst/>
                <a:uFillTx/>
                <a:latin typeface="Inter"/>
              </a:rPr>
              <a:t>03 / BASELINE</a:t>
            </a:r>
            <a:endParaRPr b="0" lang="en-US" sz="1000" strike="noStrike" u="none">
              <a:solidFill>
                <a:srgbClr val="000000"/>
              </a:solidFill>
              <a:effectLst/>
              <a:uFillTx/>
              <a:latin typeface="Arial"/>
            </a:endParaRPr>
          </a:p>
        </p:txBody>
      </p:sp>
      <p:sp>
        <p:nvSpPr>
          <p:cNvPr id="227" name="TextBox 4"/>
          <p:cNvSpPr/>
          <p:nvPr/>
        </p:nvSpPr>
        <p:spPr>
          <a:xfrm>
            <a:off x="567000" y="841320"/>
            <a:ext cx="11099520" cy="61200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2960" strike="noStrike" u="none">
                <a:solidFill>
                  <a:srgbClr val="132b2d"/>
                </a:solidFill>
                <a:effectLst/>
                <a:uFillTx/>
                <a:latin typeface="Inter Display"/>
              </a:rPr>
              <a:t>How do KNN and Decision Trees classify minerals?</a:t>
            </a:r>
            <a:endParaRPr b="0" lang="en-US" sz="2960" strike="noStrike" u="none">
              <a:solidFill>
                <a:srgbClr val="000000"/>
              </a:solidFill>
              <a:effectLst/>
              <a:uFillTx/>
              <a:latin typeface="Arial"/>
            </a:endParaRPr>
          </a:p>
        </p:txBody>
      </p:sp>
      <p:sp>
        <p:nvSpPr>
          <p:cNvPr id="228" name="TextBox 5"/>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1400" strike="noStrike" u="none">
                <a:solidFill>
                  <a:srgbClr val="667573"/>
                </a:solidFill>
                <a:effectLst/>
                <a:uFillTx/>
                <a:latin typeface="Inter"/>
              </a:rPr>
              <a:t>Both receive the same pixel features, but learn and predict in different ways.</a:t>
            </a:r>
            <a:endParaRPr b="0" lang="en-US" sz="1400" strike="noStrike" u="none">
              <a:solidFill>
                <a:srgbClr val="000000"/>
              </a:solidFill>
              <a:effectLst/>
              <a:uFillTx/>
              <a:latin typeface="Arial"/>
            </a:endParaRPr>
          </a:p>
        </p:txBody>
      </p:sp>
      <p:sp>
        <p:nvSpPr>
          <p:cNvPr id="229" name="Rounded Rectangle 6"/>
          <p:cNvSpPr/>
          <p:nvPr/>
        </p:nvSpPr>
        <p:spPr>
          <a:xfrm>
            <a:off x="619920" y="2160000"/>
            <a:ext cx="5179680" cy="3569760"/>
          </a:xfrm>
          <a:prstGeom prst="roundRect">
            <a:avLst>
              <a:gd name="adj" fmla="val 6000"/>
            </a:avLst>
          </a:prstGeom>
          <a:solidFill>
            <a:srgbClr val="ffffff"/>
          </a:solidFill>
          <a:ln w="12700">
            <a:solidFill>
              <a:srgbClr val="d6ded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30" name="Rounded Rectangle 7"/>
          <p:cNvSpPr/>
          <p:nvPr/>
        </p:nvSpPr>
        <p:spPr>
          <a:xfrm>
            <a:off x="6339960" y="2160000"/>
            <a:ext cx="5179680" cy="3569760"/>
          </a:xfrm>
          <a:prstGeom prst="roundRect">
            <a:avLst>
              <a:gd name="adj" fmla="val 6000"/>
            </a:avLst>
          </a:prstGeom>
          <a:solidFill>
            <a:srgbClr val="ffffff"/>
          </a:solidFill>
          <a:ln w="12700">
            <a:solidFill>
              <a:srgbClr val="d6ded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31" name="Rounded Rectangle 8"/>
          <p:cNvSpPr/>
          <p:nvPr/>
        </p:nvSpPr>
        <p:spPr>
          <a:xfrm>
            <a:off x="789840" y="2324880"/>
            <a:ext cx="2369520" cy="304560"/>
          </a:xfrm>
          <a:prstGeom prst="roundRect">
            <a:avLst>
              <a:gd name="adj" fmla="val 15000"/>
            </a:avLst>
          </a:prstGeom>
          <a:solidFill>
            <a:srgbClr val="eaf3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32" name="TextBox 9"/>
          <p:cNvSpPr/>
          <p:nvPr/>
        </p:nvSpPr>
        <p:spPr>
          <a:xfrm>
            <a:off x="905040" y="2352960"/>
            <a:ext cx="2149560" cy="2145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140" strike="noStrike" u="none">
                <a:solidFill>
                  <a:srgbClr val="12585a"/>
                </a:solidFill>
                <a:effectLst/>
                <a:uFillTx/>
                <a:latin typeface="Inter"/>
              </a:rPr>
              <a:t>K-NEAREST NEIGHBORS</a:t>
            </a:r>
            <a:endParaRPr b="0" lang="en-US" sz="1140" strike="noStrike" u="none">
              <a:solidFill>
                <a:srgbClr val="000000"/>
              </a:solidFill>
              <a:effectLst/>
              <a:uFillTx/>
              <a:latin typeface="Arial"/>
            </a:endParaRPr>
          </a:p>
        </p:txBody>
      </p:sp>
      <p:sp>
        <p:nvSpPr>
          <p:cNvPr id="233" name="Rounded Rectangle 10"/>
          <p:cNvSpPr/>
          <p:nvPr/>
        </p:nvSpPr>
        <p:spPr>
          <a:xfrm>
            <a:off x="6509880" y="2324880"/>
            <a:ext cx="1769760" cy="304560"/>
          </a:xfrm>
          <a:prstGeom prst="roundRect">
            <a:avLst>
              <a:gd name="adj" fmla="val 15000"/>
            </a:avLst>
          </a:prstGeom>
          <a:solidFill>
            <a:srgbClr val="faebe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34" name="TextBox 11"/>
          <p:cNvSpPr/>
          <p:nvPr/>
        </p:nvSpPr>
        <p:spPr>
          <a:xfrm>
            <a:off x="6625080" y="2352960"/>
            <a:ext cx="1559520" cy="2145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140" strike="noStrike" u="none">
                <a:solidFill>
                  <a:srgbClr val="ce6949"/>
                </a:solidFill>
                <a:effectLst/>
                <a:uFillTx/>
                <a:latin typeface="Inter"/>
              </a:rPr>
              <a:t>DECISION TREE</a:t>
            </a:r>
            <a:endParaRPr b="0" lang="en-US" sz="1140" strike="noStrike" u="none">
              <a:solidFill>
                <a:srgbClr val="000000"/>
              </a:solidFill>
              <a:effectLst/>
              <a:uFillTx/>
              <a:latin typeface="Arial"/>
            </a:endParaRPr>
          </a:p>
        </p:txBody>
      </p:sp>
      <p:sp>
        <p:nvSpPr>
          <p:cNvPr id="235" name="TextBox 12"/>
          <p:cNvSpPr/>
          <p:nvPr/>
        </p:nvSpPr>
        <p:spPr>
          <a:xfrm>
            <a:off x="830160" y="2755080"/>
            <a:ext cx="749520" cy="2847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080" strike="noStrike" u="none">
                <a:solidFill>
                  <a:srgbClr val="12585a"/>
                </a:solidFill>
                <a:effectLst/>
                <a:uFillTx/>
                <a:latin typeface="Inter"/>
              </a:rPr>
              <a:t>FIT</a:t>
            </a:r>
            <a:endParaRPr b="0" lang="en-US" sz="1080" strike="noStrike" u="none">
              <a:solidFill>
                <a:srgbClr val="000000"/>
              </a:solidFill>
              <a:effectLst/>
              <a:uFillTx/>
              <a:latin typeface="Arial"/>
            </a:endParaRPr>
          </a:p>
        </p:txBody>
      </p:sp>
      <p:sp>
        <p:nvSpPr>
          <p:cNvPr id="236" name="TextBox 13"/>
          <p:cNvSpPr/>
          <p:nvPr/>
        </p:nvSpPr>
        <p:spPr>
          <a:xfrm>
            <a:off x="1419840" y="2755080"/>
            <a:ext cx="4099680" cy="28476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1330" strike="noStrike" u="none">
                <a:solidFill>
                  <a:srgbClr val="132b2d"/>
                </a:solidFill>
                <a:effectLst/>
                <a:uFillTx/>
                <a:latin typeface="Inter"/>
              </a:rPr>
              <a:t>Store labeled training-image vectors.</a:t>
            </a:r>
            <a:endParaRPr b="0" lang="en-US" sz="1330" strike="noStrike" u="none">
              <a:solidFill>
                <a:srgbClr val="000000"/>
              </a:solidFill>
              <a:effectLst/>
              <a:uFillTx/>
              <a:latin typeface="Arial"/>
            </a:endParaRPr>
          </a:p>
        </p:txBody>
      </p:sp>
      <p:cxnSp>
        <p:nvCxnSpPr>
          <p:cNvPr id="237" name="Connector 14"/>
          <p:cNvCxnSpPr/>
          <p:nvPr/>
        </p:nvCxnSpPr>
        <p:spPr>
          <a:xfrm>
            <a:off x="829800" y="3124800"/>
            <a:ext cx="4760280" cy="360"/>
          </a:xfrm>
          <a:prstGeom prst="straightConnector1">
            <a:avLst/>
          </a:prstGeom>
          <a:ln w="17780">
            <a:solidFill>
              <a:srgbClr val="d6ded8"/>
            </a:solidFill>
          </a:ln>
        </p:spPr>
      </p:cxnSp>
      <p:sp>
        <p:nvSpPr>
          <p:cNvPr id="238" name="TextBox 15"/>
          <p:cNvSpPr/>
          <p:nvPr/>
        </p:nvSpPr>
        <p:spPr>
          <a:xfrm>
            <a:off x="830160" y="3195000"/>
            <a:ext cx="779760" cy="2847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080" strike="noStrike" u="none">
                <a:solidFill>
                  <a:srgbClr val="12585a"/>
                </a:solidFill>
                <a:effectLst/>
                <a:uFillTx/>
                <a:latin typeface="Inter"/>
              </a:rPr>
              <a:t>PREDICT</a:t>
            </a:r>
            <a:endParaRPr b="0" lang="en-US" sz="1080" strike="noStrike" u="none">
              <a:solidFill>
                <a:srgbClr val="000000"/>
              </a:solidFill>
              <a:effectLst/>
              <a:uFillTx/>
              <a:latin typeface="Arial"/>
            </a:endParaRPr>
          </a:p>
        </p:txBody>
      </p:sp>
      <p:sp>
        <p:nvSpPr>
          <p:cNvPr id="239" name="TextBox 16"/>
          <p:cNvSpPr/>
          <p:nvPr/>
        </p:nvSpPr>
        <p:spPr>
          <a:xfrm>
            <a:off x="1659960" y="3195000"/>
            <a:ext cx="3759480" cy="28476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1230" strike="noStrike" u="none">
                <a:solidFill>
                  <a:srgbClr val="132b2d"/>
                </a:solidFill>
                <a:effectLst/>
                <a:uFillTx/>
                <a:latin typeface="Inter"/>
              </a:rPr>
              <a:t>Compare pixel distances and find the nearest examples.</a:t>
            </a:r>
            <a:endParaRPr b="0" lang="en-US" sz="1230" strike="noStrike" u="none">
              <a:solidFill>
                <a:srgbClr val="000000"/>
              </a:solidFill>
              <a:effectLst/>
              <a:uFillTx/>
              <a:latin typeface="Arial"/>
            </a:endParaRPr>
          </a:p>
        </p:txBody>
      </p:sp>
      <p:sp>
        <p:nvSpPr>
          <p:cNvPr id="240" name="Rounded Rectangle 17"/>
          <p:cNvSpPr/>
          <p:nvPr/>
        </p:nvSpPr>
        <p:spPr>
          <a:xfrm>
            <a:off x="830160" y="3660120"/>
            <a:ext cx="1299600" cy="829800"/>
          </a:xfrm>
          <a:prstGeom prst="roundRect">
            <a:avLst>
              <a:gd name="adj" fmla="val 10000"/>
            </a:avLst>
          </a:prstGeom>
          <a:solidFill>
            <a:srgbClr val="ffffff"/>
          </a:solidFill>
          <a:ln w="12700">
            <a:solidFill>
              <a:srgbClr val="d6ded8"/>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41" name="TextBox 18"/>
          <p:cNvSpPr/>
          <p:nvPr/>
        </p:nvSpPr>
        <p:spPr>
          <a:xfrm>
            <a:off x="910080" y="3795120"/>
            <a:ext cx="1139760" cy="24948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30" strike="noStrike" u="none">
                <a:solidFill>
                  <a:srgbClr val="132b2d"/>
                </a:solidFill>
                <a:effectLst/>
                <a:uFillTx/>
                <a:latin typeface="Inter"/>
              </a:rPr>
              <a:t>NEW IMAGE</a:t>
            </a:r>
            <a:endParaRPr b="0" lang="en-US" sz="1130" strike="noStrike" u="none">
              <a:solidFill>
                <a:srgbClr val="000000"/>
              </a:solidFill>
              <a:effectLst/>
              <a:uFillTx/>
              <a:latin typeface="Arial"/>
            </a:endParaRPr>
          </a:p>
        </p:txBody>
      </p:sp>
      <p:sp>
        <p:nvSpPr>
          <p:cNvPr id="242" name="TextBox 19"/>
          <p:cNvSpPr/>
          <p:nvPr/>
        </p:nvSpPr>
        <p:spPr>
          <a:xfrm>
            <a:off x="894960" y="4079880"/>
            <a:ext cx="1169640" cy="22968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0" lang="en-US" sz="1170" strike="noStrike" u="none">
                <a:solidFill>
                  <a:srgbClr val="667573"/>
                </a:solidFill>
                <a:effectLst/>
                <a:uFillTx/>
                <a:latin typeface="Inter"/>
              </a:rPr>
              <a:t>67,500 values</a:t>
            </a:r>
            <a:endParaRPr b="0" lang="en-US" sz="1170" strike="noStrike" u="none">
              <a:solidFill>
                <a:srgbClr val="000000"/>
              </a:solidFill>
              <a:effectLst/>
              <a:uFillTx/>
              <a:latin typeface="Arial"/>
            </a:endParaRPr>
          </a:p>
        </p:txBody>
      </p:sp>
      <p:sp>
        <p:nvSpPr>
          <p:cNvPr id="243" name="Rounded Rectangle 20"/>
          <p:cNvSpPr/>
          <p:nvPr/>
        </p:nvSpPr>
        <p:spPr>
          <a:xfrm>
            <a:off x="2440080" y="3660120"/>
            <a:ext cx="1299600" cy="829800"/>
          </a:xfrm>
          <a:prstGeom prst="roundRect">
            <a:avLst>
              <a:gd name="adj" fmla="val 10000"/>
            </a:avLst>
          </a:prstGeom>
          <a:solidFill>
            <a:srgbClr val="eaf3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44" name="TextBox 21"/>
          <p:cNvSpPr/>
          <p:nvPr/>
        </p:nvSpPr>
        <p:spPr>
          <a:xfrm>
            <a:off x="2520000" y="3795120"/>
            <a:ext cx="1139760" cy="24948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30" strike="noStrike" u="none">
                <a:solidFill>
                  <a:srgbClr val="132b2d"/>
                </a:solidFill>
                <a:effectLst/>
                <a:uFillTx/>
                <a:latin typeface="Inter"/>
              </a:rPr>
              <a:t>k NEIGHBORS</a:t>
            </a:r>
            <a:endParaRPr b="0" lang="en-US" sz="1130" strike="noStrike" u="none">
              <a:solidFill>
                <a:srgbClr val="000000"/>
              </a:solidFill>
              <a:effectLst/>
              <a:uFillTx/>
              <a:latin typeface="Arial"/>
            </a:endParaRPr>
          </a:p>
        </p:txBody>
      </p:sp>
      <p:sp>
        <p:nvSpPr>
          <p:cNvPr id="245" name="TextBox 22"/>
          <p:cNvSpPr/>
          <p:nvPr/>
        </p:nvSpPr>
        <p:spPr>
          <a:xfrm>
            <a:off x="2504880" y="4079880"/>
            <a:ext cx="1169640" cy="22968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0" lang="en-US" sz="1170" strike="noStrike" u="none">
                <a:solidFill>
                  <a:srgbClr val="667573"/>
                </a:solidFill>
                <a:effectLst/>
                <a:uFillTx/>
                <a:latin typeface="Inter"/>
              </a:rPr>
              <a:t>k = 5</a:t>
            </a:r>
            <a:endParaRPr b="0" lang="en-US" sz="1170" strike="noStrike" u="none">
              <a:solidFill>
                <a:srgbClr val="000000"/>
              </a:solidFill>
              <a:effectLst/>
              <a:uFillTx/>
              <a:latin typeface="Arial"/>
            </a:endParaRPr>
          </a:p>
        </p:txBody>
      </p:sp>
      <p:sp>
        <p:nvSpPr>
          <p:cNvPr id="246" name="Rounded Rectangle 23"/>
          <p:cNvSpPr/>
          <p:nvPr/>
        </p:nvSpPr>
        <p:spPr>
          <a:xfrm>
            <a:off x="4079880" y="3660120"/>
            <a:ext cx="1299600" cy="829800"/>
          </a:xfrm>
          <a:prstGeom prst="roundRect">
            <a:avLst>
              <a:gd name="adj" fmla="val 10000"/>
            </a:avLst>
          </a:prstGeom>
          <a:solidFill>
            <a:srgbClr val="faebe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47" name="TextBox 24"/>
          <p:cNvSpPr/>
          <p:nvPr/>
        </p:nvSpPr>
        <p:spPr>
          <a:xfrm>
            <a:off x="4160160" y="3795120"/>
            <a:ext cx="1139760" cy="24948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30" strike="noStrike" u="none">
                <a:solidFill>
                  <a:srgbClr val="132b2d"/>
                </a:solidFill>
                <a:effectLst/>
                <a:uFillTx/>
                <a:latin typeface="Inter"/>
              </a:rPr>
              <a:t>CLASS VOTE</a:t>
            </a:r>
            <a:endParaRPr b="0" lang="en-US" sz="1130" strike="noStrike" u="none">
              <a:solidFill>
                <a:srgbClr val="000000"/>
              </a:solidFill>
              <a:effectLst/>
              <a:uFillTx/>
              <a:latin typeface="Arial"/>
            </a:endParaRPr>
          </a:p>
        </p:txBody>
      </p:sp>
      <p:sp>
        <p:nvSpPr>
          <p:cNvPr id="248" name="TextBox 25"/>
          <p:cNvSpPr/>
          <p:nvPr/>
        </p:nvSpPr>
        <p:spPr>
          <a:xfrm>
            <a:off x="4145040" y="4079880"/>
            <a:ext cx="1169640" cy="22968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0" lang="en-US" sz="1170" strike="noStrike" u="none">
                <a:solidFill>
                  <a:srgbClr val="ce6949"/>
                </a:solidFill>
                <a:effectLst/>
                <a:uFillTx/>
                <a:latin typeface="Inter"/>
              </a:rPr>
              <a:t>Quartz</a:t>
            </a:r>
            <a:endParaRPr b="0" lang="en-US" sz="1170" strike="noStrike" u="none">
              <a:solidFill>
                <a:srgbClr val="000000"/>
              </a:solidFill>
              <a:effectLst/>
              <a:uFillTx/>
              <a:latin typeface="Arial"/>
            </a:endParaRPr>
          </a:p>
        </p:txBody>
      </p:sp>
      <p:sp>
        <p:nvSpPr>
          <p:cNvPr id="249" name="TextBox 26"/>
          <p:cNvSpPr/>
          <p:nvPr/>
        </p:nvSpPr>
        <p:spPr>
          <a:xfrm>
            <a:off x="2160000" y="3925080"/>
            <a:ext cx="219600" cy="23976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0" lang="en-US" sz="2100" strike="noStrike" u="none">
                <a:solidFill>
                  <a:srgbClr val="12585a"/>
                </a:solidFill>
                <a:effectLst/>
                <a:uFillTx/>
                <a:latin typeface="Inter"/>
              </a:rPr>
              <a:t>→</a:t>
            </a:r>
            <a:endParaRPr b="0" lang="en-US" sz="2100" strike="noStrike" u="none">
              <a:solidFill>
                <a:srgbClr val="000000"/>
              </a:solidFill>
              <a:effectLst/>
              <a:uFillTx/>
              <a:latin typeface="Arial"/>
            </a:endParaRPr>
          </a:p>
        </p:txBody>
      </p:sp>
      <p:sp>
        <p:nvSpPr>
          <p:cNvPr id="250" name="TextBox 27"/>
          <p:cNvSpPr/>
          <p:nvPr/>
        </p:nvSpPr>
        <p:spPr>
          <a:xfrm>
            <a:off x="3790080" y="3925080"/>
            <a:ext cx="219600" cy="23976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0" lang="en-US" sz="2100" strike="noStrike" u="none">
                <a:solidFill>
                  <a:srgbClr val="12585a"/>
                </a:solidFill>
                <a:effectLst/>
                <a:uFillTx/>
                <a:latin typeface="Inter"/>
              </a:rPr>
              <a:t>→</a:t>
            </a:r>
            <a:endParaRPr b="0" lang="en-US" sz="2100" strike="noStrike" u="none">
              <a:solidFill>
                <a:srgbClr val="000000"/>
              </a:solidFill>
              <a:effectLst/>
              <a:uFillTx/>
              <a:latin typeface="Arial"/>
            </a:endParaRPr>
          </a:p>
        </p:txBody>
      </p:sp>
      <p:sp>
        <p:nvSpPr>
          <p:cNvPr id="251" name="TextBox 28"/>
          <p:cNvSpPr/>
          <p:nvPr/>
        </p:nvSpPr>
        <p:spPr>
          <a:xfrm>
            <a:off x="830160" y="4770000"/>
            <a:ext cx="1949760" cy="22968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1100" strike="noStrike" u="none">
                <a:solidFill>
                  <a:srgbClr val="667573"/>
                </a:solidFill>
                <a:effectLst/>
                <a:uFillTx/>
                <a:latin typeface="Inter"/>
              </a:rPr>
              <a:t>Example neighbors:</a:t>
            </a:r>
            <a:endParaRPr b="0" lang="en-US" sz="1100" strike="noStrike" u="none">
              <a:solidFill>
                <a:srgbClr val="000000"/>
              </a:solidFill>
              <a:effectLst/>
              <a:uFillTx/>
              <a:latin typeface="Arial"/>
            </a:endParaRPr>
          </a:p>
        </p:txBody>
      </p:sp>
      <p:sp>
        <p:nvSpPr>
          <p:cNvPr id="252" name="Rounded Rectangle 29"/>
          <p:cNvSpPr/>
          <p:nvPr/>
        </p:nvSpPr>
        <p:spPr>
          <a:xfrm>
            <a:off x="844920" y="5100120"/>
            <a:ext cx="524520" cy="334800"/>
          </a:xfrm>
          <a:prstGeom prst="roundRect">
            <a:avLst>
              <a:gd name="adj" fmla="val 20000"/>
            </a:avLst>
          </a:prstGeom>
          <a:solidFill>
            <a:srgbClr val="eaf3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53" name="TextBox 30"/>
          <p:cNvSpPr/>
          <p:nvPr/>
        </p:nvSpPr>
        <p:spPr>
          <a:xfrm>
            <a:off x="884880" y="5150160"/>
            <a:ext cx="444600" cy="2196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70" strike="noStrike" u="none">
                <a:solidFill>
                  <a:srgbClr val="12585a"/>
                </a:solidFill>
                <a:effectLst/>
                <a:uFillTx/>
                <a:latin typeface="Inter"/>
              </a:rPr>
              <a:t>Q</a:t>
            </a:r>
            <a:endParaRPr b="0" lang="en-US" sz="1170" strike="noStrike" u="none">
              <a:solidFill>
                <a:srgbClr val="000000"/>
              </a:solidFill>
              <a:effectLst/>
              <a:uFillTx/>
              <a:latin typeface="Arial"/>
            </a:endParaRPr>
          </a:p>
        </p:txBody>
      </p:sp>
      <p:sp>
        <p:nvSpPr>
          <p:cNvPr id="254" name="Rounded Rectangle 31"/>
          <p:cNvSpPr/>
          <p:nvPr/>
        </p:nvSpPr>
        <p:spPr>
          <a:xfrm>
            <a:off x="1545120" y="5100120"/>
            <a:ext cx="524520" cy="334800"/>
          </a:xfrm>
          <a:prstGeom prst="roundRect">
            <a:avLst>
              <a:gd name="adj" fmla="val 20000"/>
            </a:avLst>
          </a:prstGeom>
          <a:solidFill>
            <a:srgbClr val="eaf3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55" name="TextBox 32"/>
          <p:cNvSpPr/>
          <p:nvPr/>
        </p:nvSpPr>
        <p:spPr>
          <a:xfrm>
            <a:off x="1585080" y="5150160"/>
            <a:ext cx="444600" cy="2196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70" strike="noStrike" u="none">
                <a:solidFill>
                  <a:srgbClr val="12585a"/>
                </a:solidFill>
                <a:effectLst/>
                <a:uFillTx/>
                <a:latin typeface="Inter"/>
              </a:rPr>
              <a:t>Q</a:t>
            </a:r>
            <a:endParaRPr b="0" lang="en-US" sz="1170" strike="noStrike" u="none">
              <a:solidFill>
                <a:srgbClr val="000000"/>
              </a:solidFill>
              <a:effectLst/>
              <a:uFillTx/>
              <a:latin typeface="Arial"/>
            </a:endParaRPr>
          </a:p>
        </p:txBody>
      </p:sp>
      <p:sp>
        <p:nvSpPr>
          <p:cNvPr id="256" name="Rounded Rectangle 33"/>
          <p:cNvSpPr/>
          <p:nvPr/>
        </p:nvSpPr>
        <p:spPr>
          <a:xfrm>
            <a:off x="2244960" y="5100120"/>
            <a:ext cx="524520" cy="334800"/>
          </a:xfrm>
          <a:prstGeom prst="roundRect">
            <a:avLst>
              <a:gd name="adj" fmla="val 20000"/>
            </a:avLst>
          </a:prstGeom>
          <a:solidFill>
            <a:srgbClr val="eaf3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57" name="TextBox 34"/>
          <p:cNvSpPr/>
          <p:nvPr/>
        </p:nvSpPr>
        <p:spPr>
          <a:xfrm>
            <a:off x="2284920" y="5150160"/>
            <a:ext cx="444600" cy="2196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70" strike="noStrike" u="none">
                <a:solidFill>
                  <a:srgbClr val="12585a"/>
                </a:solidFill>
                <a:effectLst/>
                <a:uFillTx/>
                <a:latin typeface="Inter"/>
              </a:rPr>
              <a:t>Q</a:t>
            </a:r>
            <a:endParaRPr b="0" lang="en-US" sz="1170" strike="noStrike" u="none">
              <a:solidFill>
                <a:srgbClr val="000000"/>
              </a:solidFill>
              <a:effectLst/>
              <a:uFillTx/>
              <a:latin typeface="Arial"/>
            </a:endParaRPr>
          </a:p>
        </p:txBody>
      </p:sp>
      <p:sp>
        <p:nvSpPr>
          <p:cNvPr id="258" name="Rounded Rectangle 35"/>
          <p:cNvSpPr/>
          <p:nvPr/>
        </p:nvSpPr>
        <p:spPr>
          <a:xfrm>
            <a:off x="2945160" y="5100120"/>
            <a:ext cx="524520" cy="334800"/>
          </a:xfrm>
          <a:prstGeom prst="roundRect">
            <a:avLst>
              <a:gd name="adj" fmla="val 20000"/>
            </a:avLst>
          </a:prstGeom>
          <a:solidFill>
            <a:srgbClr val="faebe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59" name="TextBox 36"/>
          <p:cNvSpPr/>
          <p:nvPr/>
        </p:nvSpPr>
        <p:spPr>
          <a:xfrm>
            <a:off x="2985120" y="5150160"/>
            <a:ext cx="444600" cy="2196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70" strike="noStrike" u="none">
                <a:solidFill>
                  <a:srgbClr val="ce6949"/>
                </a:solidFill>
                <a:effectLst/>
                <a:uFillTx/>
                <a:latin typeface="Inter"/>
              </a:rPr>
              <a:t>B</a:t>
            </a:r>
            <a:endParaRPr b="0" lang="en-US" sz="1170" strike="noStrike" u="none">
              <a:solidFill>
                <a:srgbClr val="000000"/>
              </a:solidFill>
              <a:effectLst/>
              <a:uFillTx/>
              <a:latin typeface="Arial"/>
            </a:endParaRPr>
          </a:p>
        </p:txBody>
      </p:sp>
      <p:sp>
        <p:nvSpPr>
          <p:cNvPr id="260" name="Rounded Rectangle 37"/>
          <p:cNvSpPr/>
          <p:nvPr/>
        </p:nvSpPr>
        <p:spPr>
          <a:xfrm>
            <a:off x="3645000" y="5100120"/>
            <a:ext cx="524520" cy="334800"/>
          </a:xfrm>
          <a:prstGeom prst="roundRect">
            <a:avLst>
              <a:gd name="adj" fmla="val 20000"/>
            </a:avLst>
          </a:prstGeom>
          <a:solidFill>
            <a:srgbClr val="faebe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61" name="TextBox 38"/>
          <p:cNvSpPr/>
          <p:nvPr/>
        </p:nvSpPr>
        <p:spPr>
          <a:xfrm>
            <a:off x="3684960" y="5150160"/>
            <a:ext cx="444600" cy="2196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170" strike="noStrike" u="none">
                <a:solidFill>
                  <a:srgbClr val="ce6949"/>
                </a:solidFill>
                <a:effectLst/>
                <a:uFillTx/>
                <a:latin typeface="Inter"/>
              </a:rPr>
              <a:t>P</a:t>
            </a:r>
            <a:endParaRPr b="0" lang="en-US" sz="1170" strike="noStrike" u="none">
              <a:solidFill>
                <a:srgbClr val="000000"/>
              </a:solidFill>
              <a:effectLst/>
              <a:uFillTx/>
              <a:latin typeface="Arial"/>
            </a:endParaRPr>
          </a:p>
        </p:txBody>
      </p:sp>
      <p:sp>
        <p:nvSpPr>
          <p:cNvPr id="262" name="TextBox 39"/>
          <p:cNvSpPr/>
          <p:nvPr/>
        </p:nvSpPr>
        <p:spPr>
          <a:xfrm>
            <a:off x="4370040" y="5090040"/>
            <a:ext cx="1089720" cy="33480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300" strike="noStrike" u="none">
                <a:solidFill>
                  <a:srgbClr val="132b2d"/>
                </a:solidFill>
                <a:effectLst/>
                <a:uFillTx/>
                <a:latin typeface="Inter"/>
              </a:rPr>
              <a:t>→ Quartz</a:t>
            </a:r>
            <a:endParaRPr b="0" lang="en-US" sz="1300" strike="noStrike" u="none">
              <a:solidFill>
                <a:srgbClr val="000000"/>
              </a:solidFill>
              <a:effectLst/>
              <a:uFillTx/>
              <a:latin typeface="Arial"/>
            </a:endParaRPr>
          </a:p>
        </p:txBody>
      </p:sp>
      <p:sp>
        <p:nvSpPr>
          <p:cNvPr id="263" name="TextBox 40"/>
          <p:cNvSpPr/>
          <p:nvPr/>
        </p:nvSpPr>
        <p:spPr>
          <a:xfrm>
            <a:off x="6549840" y="2755080"/>
            <a:ext cx="749520" cy="2847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080" strike="noStrike" u="none">
                <a:solidFill>
                  <a:srgbClr val="ce6949"/>
                </a:solidFill>
                <a:effectLst/>
                <a:uFillTx/>
                <a:latin typeface="Inter"/>
              </a:rPr>
              <a:t>FIT</a:t>
            </a:r>
            <a:endParaRPr b="0" lang="en-US" sz="1080" strike="noStrike" u="none">
              <a:solidFill>
                <a:srgbClr val="000000"/>
              </a:solidFill>
              <a:effectLst/>
              <a:uFillTx/>
              <a:latin typeface="Arial"/>
            </a:endParaRPr>
          </a:p>
        </p:txBody>
      </p:sp>
      <p:sp>
        <p:nvSpPr>
          <p:cNvPr id="264" name="TextBox 41"/>
          <p:cNvSpPr/>
          <p:nvPr/>
        </p:nvSpPr>
        <p:spPr>
          <a:xfrm>
            <a:off x="7139880" y="2755080"/>
            <a:ext cx="4099680" cy="28476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1260" strike="noStrike" u="none">
                <a:solidFill>
                  <a:srgbClr val="132b2d"/>
                </a:solidFill>
                <a:effectLst/>
                <a:uFillTx/>
                <a:latin typeface="Inter"/>
              </a:rPr>
              <a:t>Learn pixel thresholds that reduce Gini impurity.</a:t>
            </a:r>
            <a:endParaRPr b="0" lang="en-US" sz="1260" strike="noStrike" u="none">
              <a:solidFill>
                <a:srgbClr val="000000"/>
              </a:solidFill>
              <a:effectLst/>
              <a:uFillTx/>
              <a:latin typeface="Arial"/>
            </a:endParaRPr>
          </a:p>
        </p:txBody>
      </p:sp>
      <p:cxnSp>
        <p:nvCxnSpPr>
          <p:cNvPr id="265" name="Connector 42"/>
          <p:cNvCxnSpPr/>
          <p:nvPr/>
        </p:nvCxnSpPr>
        <p:spPr>
          <a:xfrm>
            <a:off x="6549840" y="3124800"/>
            <a:ext cx="4760280" cy="360"/>
          </a:xfrm>
          <a:prstGeom prst="straightConnector1">
            <a:avLst/>
          </a:prstGeom>
          <a:ln w="17780">
            <a:solidFill>
              <a:srgbClr val="d6ded8"/>
            </a:solidFill>
          </a:ln>
        </p:spPr>
      </p:cxnSp>
      <p:sp>
        <p:nvSpPr>
          <p:cNvPr id="266" name="TextBox 43"/>
          <p:cNvSpPr/>
          <p:nvPr/>
        </p:nvSpPr>
        <p:spPr>
          <a:xfrm>
            <a:off x="6549840" y="3195000"/>
            <a:ext cx="779760" cy="28476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080" strike="noStrike" u="none">
                <a:solidFill>
                  <a:srgbClr val="ce6949"/>
                </a:solidFill>
                <a:effectLst/>
                <a:uFillTx/>
                <a:latin typeface="Inter"/>
              </a:rPr>
              <a:t>PREDICT</a:t>
            </a:r>
            <a:endParaRPr b="0" lang="en-US" sz="1080" strike="noStrike" u="none">
              <a:solidFill>
                <a:srgbClr val="000000"/>
              </a:solidFill>
              <a:effectLst/>
              <a:uFillTx/>
              <a:latin typeface="Arial"/>
            </a:endParaRPr>
          </a:p>
        </p:txBody>
      </p:sp>
      <p:sp>
        <p:nvSpPr>
          <p:cNvPr id="267" name="TextBox 44"/>
          <p:cNvSpPr/>
          <p:nvPr/>
        </p:nvSpPr>
        <p:spPr>
          <a:xfrm>
            <a:off x="7380000" y="3195000"/>
            <a:ext cx="3759480" cy="28476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1230" strike="noStrike" u="none">
                <a:solidFill>
                  <a:srgbClr val="132b2d"/>
                </a:solidFill>
                <a:effectLst/>
                <a:uFillTx/>
                <a:latin typeface="Inter"/>
              </a:rPr>
              <a:t>Follow learned branches to a mineral-label leaf.</a:t>
            </a:r>
            <a:endParaRPr b="0" lang="en-US" sz="1230" strike="noStrike" u="none">
              <a:solidFill>
                <a:srgbClr val="000000"/>
              </a:solidFill>
              <a:effectLst/>
              <a:uFillTx/>
              <a:latin typeface="Arial"/>
            </a:endParaRPr>
          </a:p>
        </p:txBody>
      </p:sp>
      <p:sp>
        <p:nvSpPr>
          <p:cNvPr id="268" name="Rounded Rectangle 45"/>
          <p:cNvSpPr/>
          <p:nvPr/>
        </p:nvSpPr>
        <p:spPr>
          <a:xfrm>
            <a:off x="7520040" y="3650040"/>
            <a:ext cx="2839680" cy="479520"/>
          </a:xfrm>
          <a:prstGeom prst="roundRect">
            <a:avLst>
              <a:gd name="adj" fmla="val 12000"/>
            </a:avLst>
          </a:prstGeom>
          <a:solidFill>
            <a:srgbClr val="eaf3e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69" name="TextBox 46"/>
          <p:cNvSpPr/>
          <p:nvPr/>
        </p:nvSpPr>
        <p:spPr>
          <a:xfrm>
            <a:off x="7599960" y="3719880"/>
            <a:ext cx="2679480" cy="2898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350" strike="noStrike" u="none">
                <a:solidFill>
                  <a:srgbClr val="132b2d"/>
                </a:solidFill>
                <a:effectLst/>
                <a:uFillTx/>
                <a:latin typeface="Inter"/>
              </a:rPr>
              <a:t>Pixel intensity ≤ threshold?</a:t>
            </a:r>
            <a:endParaRPr b="0" lang="en-US" sz="1350" strike="noStrike" u="none">
              <a:solidFill>
                <a:srgbClr val="000000"/>
              </a:solidFill>
              <a:effectLst/>
              <a:uFillTx/>
              <a:latin typeface="Arial"/>
            </a:endParaRPr>
          </a:p>
        </p:txBody>
      </p:sp>
      <p:cxnSp>
        <p:nvCxnSpPr>
          <p:cNvPr id="270" name="Connector 47"/>
          <p:cNvCxnSpPr/>
          <p:nvPr/>
        </p:nvCxnSpPr>
        <p:spPr>
          <a:xfrm flipH="1">
            <a:off x="7689960" y="4129920"/>
            <a:ext cx="1250280" cy="560160"/>
          </a:xfrm>
          <a:prstGeom prst="straightConnector1">
            <a:avLst/>
          </a:prstGeom>
          <a:ln w="22860">
            <a:solidFill>
              <a:srgbClr val="287f80"/>
            </a:solidFill>
          </a:ln>
        </p:spPr>
      </p:cxnSp>
      <p:cxnSp>
        <p:nvCxnSpPr>
          <p:cNvPr id="271" name="Connector 48"/>
          <p:cNvCxnSpPr/>
          <p:nvPr/>
        </p:nvCxnSpPr>
        <p:spPr>
          <a:xfrm>
            <a:off x="8939880" y="4129920"/>
            <a:ext cx="1280160" cy="560160"/>
          </a:xfrm>
          <a:prstGeom prst="straightConnector1">
            <a:avLst/>
          </a:prstGeom>
          <a:ln w="22860">
            <a:solidFill>
              <a:srgbClr val="287f80"/>
            </a:solidFill>
          </a:ln>
        </p:spPr>
      </p:cxnSp>
      <p:sp>
        <p:nvSpPr>
          <p:cNvPr id="272" name="TextBox 49"/>
          <p:cNvSpPr/>
          <p:nvPr/>
        </p:nvSpPr>
        <p:spPr>
          <a:xfrm>
            <a:off x="7989840" y="4295160"/>
            <a:ext cx="379800" cy="22464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920" strike="noStrike" u="none">
                <a:solidFill>
                  <a:srgbClr val="12585a"/>
                </a:solidFill>
                <a:effectLst/>
                <a:uFillTx/>
                <a:latin typeface="Inter"/>
              </a:rPr>
              <a:t>YES</a:t>
            </a:r>
            <a:endParaRPr b="0" lang="en-US" sz="920" strike="noStrike" u="none">
              <a:solidFill>
                <a:srgbClr val="000000"/>
              </a:solidFill>
              <a:effectLst/>
              <a:uFillTx/>
              <a:latin typeface="Arial"/>
            </a:endParaRPr>
          </a:p>
        </p:txBody>
      </p:sp>
      <p:sp>
        <p:nvSpPr>
          <p:cNvPr id="273" name="TextBox 50"/>
          <p:cNvSpPr/>
          <p:nvPr/>
        </p:nvSpPr>
        <p:spPr>
          <a:xfrm>
            <a:off x="9540000" y="4295160"/>
            <a:ext cx="349560" cy="22464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920" strike="noStrike" u="none">
                <a:solidFill>
                  <a:srgbClr val="12585a"/>
                </a:solidFill>
                <a:effectLst/>
                <a:uFillTx/>
                <a:latin typeface="Inter"/>
              </a:rPr>
              <a:t>NO</a:t>
            </a:r>
            <a:endParaRPr b="0" lang="en-US" sz="920" strike="noStrike" u="none">
              <a:solidFill>
                <a:srgbClr val="000000"/>
              </a:solidFill>
              <a:effectLst/>
              <a:uFillTx/>
              <a:latin typeface="Arial"/>
            </a:endParaRPr>
          </a:p>
        </p:txBody>
      </p:sp>
      <p:sp>
        <p:nvSpPr>
          <p:cNvPr id="274" name="Rounded Rectangle 51"/>
          <p:cNvSpPr/>
          <p:nvPr/>
        </p:nvSpPr>
        <p:spPr>
          <a:xfrm>
            <a:off x="6675120" y="4719960"/>
            <a:ext cx="2029680" cy="519480"/>
          </a:xfrm>
          <a:prstGeom prst="roundRect">
            <a:avLst>
              <a:gd name="adj" fmla="val 12000"/>
            </a:avLst>
          </a:prstGeom>
          <a:solidFill>
            <a:srgbClr val="faebe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75" name="TextBox 52"/>
          <p:cNvSpPr/>
          <p:nvPr/>
        </p:nvSpPr>
        <p:spPr>
          <a:xfrm>
            <a:off x="6829920" y="4844880"/>
            <a:ext cx="1719720" cy="2448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250" strike="noStrike" u="none">
                <a:solidFill>
                  <a:srgbClr val="132b2d"/>
                </a:solidFill>
                <a:effectLst/>
                <a:uFillTx/>
                <a:latin typeface="Inter"/>
              </a:rPr>
              <a:t>Another decision</a:t>
            </a:r>
            <a:endParaRPr b="0" lang="en-US" sz="1250" strike="noStrike" u="none">
              <a:solidFill>
                <a:srgbClr val="000000"/>
              </a:solidFill>
              <a:effectLst/>
              <a:uFillTx/>
              <a:latin typeface="Arial"/>
            </a:endParaRPr>
          </a:p>
        </p:txBody>
      </p:sp>
      <p:sp>
        <p:nvSpPr>
          <p:cNvPr id="276" name="Rounded Rectangle 53"/>
          <p:cNvSpPr/>
          <p:nvPr/>
        </p:nvSpPr>
        <p:spPr>
          <a:xfrm>
            <a:off x="9389880" y="4719960"/>
            <a:ext cx="1829520" cy="519480"/>
          </a:xfrm>
          <a:prstGeom prst="roundRect">
            <a:avLst>
              <a:gd name="adj" fmla="val 12000"/>
            </a:avLst>
          </a:prstGeom>
          <a:solidFill>
            <a:srgbClr val="faebe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77" name="TextBox 54"/>
          <p:cNvSpPr/>
          <p:nvPr/>
        </p:nvSpPr>
        <p:spPr>
          <a:xfrm>
            <a:off x="9529920" y="4844880"/>
            <a:ext cx="1539720" cy="24480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340" strike="noStrike" u="none">
                <a:solidFill>
                  <a:srgbClr val="ce6949"/>
                </a:solidFill>
                <a:effectLst/>
                <a:uFillTx/>
                <a:latin typeface="Inter"/>
              </a:rPr>
              <a:t>Quartz</a:t>
            </a:r>
            <a:endParaRPr b="0" lang="en-US" sz="1340" strike="noStrike" u="none">
              <a:solidFill>
                <a:srgbClr val="000000"/>
              </a:solidFill>
              <a:effectLst/>
              <a:uFillTx/>
              <a:latin typeface="Arial"/>
            </a:endParaRPr>
          </a:p>
        </p:txBody>
      </p:sp>
      <p:sp>
        <p:nvSpPr>
          <p:cNvPr id="278" name="TextBox 55"/>
          <p:cNvSpPr/>
          <p:nvPr/>
        </p:nvSpPr>
        <p:spPr>
          <a:xfrm>
            <a:off x="6675120" y="5410080"/>
            <a:ext cx="4649760" cy="15948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960" strike="noStrike" u="none">
                <a:solidFill>
                  <a:srgbClr val="667573"/>
                </a:solidFill>
                <a:effectLst/>
                <a:uFillTx/>
                <a:latin typeface="Inter"/>
              </a:rPr>
              <a:t>Simplified example — not a fitted tree.</a:t>
            </a:r>
            <a:endParaRPr b="0" lang="en-US" sz="960" strike="noStrike" u="none">
              <a:solidFill>
                <a:srgbClr val="000000"/>
              </a:solidFill>
              <a:effectLst/>
              <a:uFillTx/>
              <a:latin typeface="Arial"/>
            </a:endParaRPr>
          </a:p>
        </p:txBody>
      </p:sp>
      <p:sp>
        <p:nvSpPr>
          <p:cNvPr id="279" name="Rounded Rectangle 56"/>
          <p:cNvSpPr/>
          <p:nvPr/>
        </p:nvSpPr>
        <p:spPr>
          <a:xfrm>
            <a:off x="759960" y="5850000"/>
            <a:ext cx="10719720" cy="389520"/>
          </a:xfrm>
          <a:prstGeom prst="roundRect">
            <a:avLst>
              <a:gd name="adj" fmla="val 6000"/>
            </a:avLst>
          </a:prstGeom>
          <a:solidFill>
            <a:srgbClr val="faebe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trike="noStrike" u="none">
              <a:solidFill>
                <a:schemeClr val="lt1"/>
              </a:solidFill>
              <a:effectLst/>
              <a:uFillTx/>
              <a:latin typeface="Inter"/>
            </a:endParaRPr>
          </a:p>
        </p:txBody>
      </p:sp>
      <p:sp>
        <p:nvSpPr>
          <p:cNvPr id="280" name="TextBox 57"/>
          <p:cNvSpPr/>
          <p:nvPr/>
        </p:nvSpPr>
        <p:spPr>
          <a:xfrm>
            <a:off x="920160" y="5911920"/>
            <a:ext cx="10399680" cy="239760"/>
          </a:xfrm>
          <a:prstGeom prst="rect">
            <a:avLst/>
          </a:prstGeom>
          <a:noFill/>
          <a:ln w="0">
            <a:noFill/>
          </a:ln>
        </p:spPr>
        <p:style>
          <a:lnRef idx="0"/>
          <a:fillRef idx="0"/>
          <a:effectRef idx="0"/>
          <a:fontRef idx="minor"/>
        </p:style>
        <p:txBody>
          <a:bodyPr lIns="0" rIns="0" tIns="0" bIns="0" anchor="ctr">
            <a:spAutoFit/>
          </a:bodyPr>
          <a:p>
            <a:pPr algn="ctr">
              <a:lnSpc>
                <a:spcPct val="100000"/>
              </a:lnSpc>
            </a:pPr>
            <a:r>
              <a:rPr b="1" lang="en-US" sz="1520" strike="noStrike" u="none">
                <a:solidFill>
                  <a:srgbClr val="132b2d"/>
                </a:solidFill>
                <a:effectLst/>
                <a:uFillTx/>
                <a:latin typeface="Inter"/>
              </a:rPr>
              <a:t>KNN keeps training examples; Decision Tree keeps learned rules.</a:t>
            </a:r>
            <a:endParaRPr b="0" lang="en-US" sz="1520" strike="noStrike" u="none">
              <a:solidFill>
                <a:srgbClr val="000000"/>
              </a:solidFill>
              <a:effectLst/>
              <a:uFillTx/>
              <a:latin typeface="Arial"/>
            </a:endParaRPr>
          </a:p>
        </p:txBody>
      </p:sp>
      <p:sp>
        <p:nvSpPr>
          <p:cNvPr id="281" name="TextBox 58"/>
          <p:cNvSpPr/>
          <p:nvPr/>
        </p:nvSpPr>
        <p:spPr>
          <a:xfrm>
            <a:off x="612720" y="6270120"/>
            <a:ext cx="10926360" cy="17964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850" strike="noStrike" u="none">
                <a:solidFill>
                  <a:srgbClr val="667573"/>
                </a:solidFill>
                <a:effectLst/>
                <a:uFillTx/>
                <a:latin typeface="Inter"/>
              </a:rPr>
              <a:t>Conceptual diagrams. Methods: final notebook, Baseline Experiment 1.</a:t>
            </a:r>
            <a:endParaRPr b="0" lang="en-US" sz="850" strike="noStrike" u="none">
              <a:solidFill>
                <a:srgbClr val="000000"/>
              </a:solidFill>
              <a:effectLst/>
              <a:uFillTx/>
              <a:latin typeface="Arial"/>
            </a:endParaRPr>
          </a:p>
        </p:txBody>
      </p:sp>
      <p:sp>
        <p:nvSpPr>
          <p:cNvPr id="282" name="Rectangle 59"/>
          <p:cNvSpPr/>
          <p:nvPr/>
        </p:nvSpPr>
        <p:spPr>
          <a:xfrm>
            <a:off x="566640" y="6492240"/>
            <a:ext cx="11045880" cy="360"/>
          </a:xfrm>
          <a:prstGeom prst="rect">
            <a:avLst/>
          </a:prstGeom>
          <a:solidFill>
            <a:srgbClr val="d8ddd8"/>
          </a:solidFill>
          <a:ln>
            <a:noFill/>
          </a:ln>
        </p:spPr>
        <p:style>
          <a:lnRef idx="1">
            <a:schemeClr val="accent1"/>
          </a:lnRef>
          <a:fillRef idx="3">
            <a:schemeClr val="accent1"/>
          </a:fillRef>
          <a:effectRef idx="2">
            <a:schemeClr val="accent1"/>
          </a:effectRef>
          <a:fontRef idx="minor"/>
        </p:style>
        <p:txBody>
          <a:bodyPr lIns="90000" rIns="90000" tIns="-44280" bIns="-44280" anchor="ctr">
            <a:noAutofit/>
          </a:bodyPr>
          <a:p>
            <a:pPr algn="ctr">
              <a:lnSpc>
                <a:spcPct val="100000"/>
              </a:lnSpc>
            </a:pPr>
            <a:endParaRPr b="0" lang="en-US" sz="1800" strike="noStrike" u="none">
              <a:solidFill>
                <a:schemeClr val="lt1"/>
              </a:solidFill>
              <a:effectLst/>
              <a:uFillTx/>
              <a:latin typeface="Inter"/>
            </a:endParaRPr>
          </a:p>
        </p:txBody>
      </p:sp>
      <p:sp>
        <p:nvSpPr>
          <p:cNvPr id="283" name="TextBox 60"/>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spAutoFit/>
          </a:bodyPr>
          <a:p>
            <a:pPr>
              <a:lnSpc>
                <a:spcPct val="100000"/>
              </a:lnSpc>
            </a:pPr>
            <a:r>
              <a:rPr b="0" lang="en-US" sz="850" strike="noStrike" u="none">
                <a:solidFill>
                  <a:srgbClr val="667573"/>
                </a:solidFill>
                <a:effectLst/>
                <a:uFillTx/>
                <a:latin typeface="Inter"/>
              </a:rPr>
              <a:t>MUMDMC2025  /  REPRODUCTION &amp; CRITICAL EVALUATION</a:t>
            </a:r>
            <a:endParaRPr b="0" lang="en-US" sz="850" strike="noStrike" u="none">
              <a:solidFill>
                <a:srgbClr val="000000"/>
              </a:solidFill>
              <a:effectLst/>
              <a:uFillTx/>
              <a:latin typeface="Arial"/>
            </a:endParaRPr>
          </a:p>
        </p:txBody>
      </p:sp>
      <p:sp>
        <p:nvSpPr>
          <p:cNvPr id="284" name="TextBox 61"/>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spAutoFit/>
          </a:bodyPr>
          <a:p>
            <a:pPr algn="r">
              <a:lnSpc>
                <a:spcPct val="100000"/>
              </a:lnSpc>
            </a:pPr>
            <a:r>
              <a:rPr b="0" lang="en-US" sz="900" strike="noStrike" u="none">
                <a:solidFill>
                  <a:srgbClr val="667573"/>
                </a:solidFill>
                <a:effectLst/>
                <a:uFillTx/>
                <a:latin typeface="Inter"/>
              </a:rPr>
              <a:t>08  /  21</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86" name="Shape 1"/>
          <p:cNvSpPr/>
          <p:nvPr/>
        </p:nvSpPr>
        <p:spPr>
          <a:xfrm>
            <a:off x="567000" y="356760"/>
            <a:ext cx="200736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87" name="Text 2"/>
          <p:cNvSpPr/>
          <p:nvPr/>
        </p:nvSpPr>
        <p:spPr>
          <a:xfrm>
            <a:off x="676800" y="379440"/>
            <a:ext cx="178776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03 / BASELINE</a:t>
            </a:r>
            <a:endParaRPr b="0" lang="en-US" sz="1000" strike="noStrike" u="none">
              <a:solidFill>
                <a:srgbClr val="000000"/>
              </a:solidFill>
              <a:effectLst/>
              <a:uFillTx/>
              <a:latin typeface="Arial"/>
            </a:endParaRPr>
          </a:p>
        </p:txBody>
      </p:sp>
      <p:sp>
        <p:nvSpPr>
          <p:cNvPr id="288"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Published vs reproduced: all four metrics</a:t>
            </a:r>
            <a:endParaRPr b="0" lang="en-US" sz="3000" strike="noStrike" u="none">
              <a:solidFill>
                <a:srgbClr val="000000"/>
              </a:solidFill>
              <a:effectLst/>
              <a:uFillTx/>
              <a:latin typeface="Arial"/>
            </a:endParaRPr>
          </a:p>
        </p:txBody>
      </p:sp>
      <p:sp>
        <p:nvSpPr>
          <p:cNvPr id="289"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150 × 150 test images · Decision Tree and KNN evaluated on different available datasets.</a:t>
            </a:r>
            <a:endParaRPr b="0" lang="en-US" sz="1430" strike="noStrike" u="none">
              <a:solidFill>
                <a:srgbClr val="000000"/>
              </a:solidFill>
              <a:effectLst/>
              <a:uFillTx/>
              <a:latin typeface="Arial"/>
            </a:endParaRPr>
          </a:p>
        </p:txBody>
      </p:sp>
      <p:sp>
        <p:nvSpPr>
          <p:cNvPr id="29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91"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292"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09  /  21</a:t>
            </a:r>
            <a:endParaRPr b="0" lang="en-US" sz="900" strike="noStrike" u="none">
              <a:solidFill>
                <a:srgbClr val="000000"/>
              </a:solidFill>
              <a:effectLst/>
              <a:uFillTx/>
              <a:latin typeface="Arial"/>
            </a:endParaRPr>
          </a:p>
        </p:txBody>
      </p:sp>
      <p:sp>
        <p:nvSpPr>
          <p:cNvPr id="293" name="Shape 8"/>
          <p:cNvSpPr/>
          <p:nvPr/>
        </p:nvSpPr>
        <p:spPr>
          <a:xfrm>
            <a:off x="694800" y="2039040"/>
            <a:ext cx="5248080" cy="3693600"/>
          </a:xfrm>
          <a:prstGeom prst="roundRect">
            <a:avLst>
              <a:gd name="adj" fmla="val 37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94" name="Text 9"/>
          <p:cNvSpPr/>
          <p:nvPr/>
        </p:nvSpPr>
        <p:spPr>
          <a:xfrm>
            <a:off x="951120" y="2277000"/>
            <a:ext cx="25138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DECISION TREE</a:t>
            </a:r>
            <a:endParaRPr b="0" lang="en-US" sz="1100" strike="noStrike" u="none">
              <a:solidFill>
                <a:srgbClr val="000000"/>
              </a:solidFill>
              <a:effectLst/>
              <a:uFillTx/>
              <a:latin typeface="Arial"/>
            </a:endParaRPr>
          </a:p>
        </p:txBody>
      </p:sp>
      <p:sp>
        <p:nvSpPr>
          <p:cNvPr id="295" name="Shape 10"/>
          <p:cNvSpPr/>
          <p:nvPr/>
        </p:nvSpPr>
        <p:spPr>
          <a:xfrm>
            <a:off x="2962800" y="2331720"/>
            <a:ext cx="113760" cy="113760"/>
          </a:xfrm>
          <a:prstGeom prst="ellipse">
            <a:avLst/>
          </a:prstGeom>
          <a:solidFill>
            <a:srgbClr val="5a86a4"/>
          </a:solidFill>
          <a:ln w="12700">
            <a:solidFill>
              <a:srgbClr val="5a86a4">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296" name="Text 11"/>
          <p:cNvSpPr/>
          <p:nvPr/>
        </p:nvSpPr>
        <p:spPr>
          <a:xfrm>
            <a:off x="3136320" y="2258640"/>
            <a:ext cx="76752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Paper</a:t>
            </a:r>
            <a:endParaRPr b="0" lang="en-US" sz="1100" strike="noStrike" u="none">
              <a:solidFill>
                <a:srgbClr val="000000"/>
              </a:solidFill>
              <a:effectLst/>
              <a:uFillTx/>
              <a:latin typeface="Arial"/>
            </a:endParaRPr>
          </a:p>
        </p:txBody>
      </p:sp>
      <p:sp>
        <p:nvSpPr>
          <p:cNvPr id="297" name="Shape 12"/>
          <p:cNvSpPr/>
          <p:nvPr/>
        </p:nvSpPr>
        <p:spPr>
          <a:xfrm>
            <a:off x="3959280" y="233172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298" name="Text 13"/>
          <p:cNvSpPr/>
          <p:nvPr/>
        </p:nvSpPr>
        <p:spPr>
          <a:xfrm>
            <a:off x="4133160" y="2258640"/>
            <a:ext cx="135252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Our subset</a:t>
            </a:r>
            <a:endParaRPr b="0" lang="en-US" sz="1100" strike="noStrike" u="none">
              <a:solidFill>
                <a:srgbClr val="000000"/>
              </a:solidFill>
              <a:effectLst/>
              <a:uFillTx/>
              <a:latin typeface="Arial"/>
            </a:endParaRPr>
          </a:p>
        </p:txBody>
      </p:sp>
      <p:sp>
        <p:nvSpPr>
          <p:cNvPr id="299" name="Text 14"/>
          <p:cNvSpPr/>
          <p:nvPr/>
        </p:nvSpPr>
        <p:spPr>
          <a:xfrm>
            <a:off x="941760" y="2871360"/>
            <a:ext cx="11422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Accuracy</a:t>
            </a:r>
            <a:endParaRPr b="0" lang="en-US" sz="1400" strike="noStrike" u="none">
              <a:solidFill>
                <a:srgbClr val="000000"/>
              </a:solidFill>
              <a:effectLst/>
              <a:uFillTx/>
              <a:latin typeface="Arial"/>
            </a:endParaRPr>
          </a:p>
        </p:txBody>
      </p:sp>
      <p:sp>
        <p:nvSpPr>
          <p:cNvPr id="300" name="Shape 15"/>
          <p:cNvSpPr/>
          <p:nvPr/>
        </p:nvSpPr>
        <p:spPr>
          <a:xfrm>
            <a:off x="2240280" y="280728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01" name="Shape 16"/>
          <p:cNvSpPr/>
          <p:nvPr/>
        </p:nvSpPr>
        <p:spPr>
          <a:xfrm>
            <a:off x="2240280" y="2807280"/>
            <a:ext cx="1701360" cy="14544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2" name="Shape 17"/>
          <p:cNvSpPr/>
          <p:nvPr/>
        </p:nvSpPr>
        <p:spPr>
          <a:xfrm>
            <a:off x="2240280" y="303588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03" name="Shape 18"/>
          <p:cNvSpPr/>
          <p:nvPr/>
        </p:nvSpPr>
        <p:spPr>
          <a:xfrm>
            <a:off x="2240280" y="3035880"/>
            <a:ext cx="1414800" cy="14544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4" name="Text 19"/>
          <p:cNvSpPr/>
          <p:nvPr/>
        </p:nvSpPr>
        <p:spPr>
          <a:xfrm>
            <a:off x="4718160" y="277056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73.0%</a:t>
            </a:r>
            <a:endParaRPr b="0" lang="en-US" sz="1210" strike="noStrike" u="none">
              <a:solidFill>
                <a:srgbClr val="000000"/>
              </a:solidFill>
              <a:effectLst/>
              <a:uFillTx/>
              <a:latin typeface="Arial"/>
            </a:endParaRPr>
          </a:p>
        </p:txBody>
      </p:sp>
      <p:sp>
        <p:nvSpPr>
          <p:cNvPr id="305" name="Text 20"/>
          <p:cNvSpPr/>
          <p:nvPr/>
        </p:nvSpPr>
        <p:spPr>
          <a:xfrm>
            <a:off x="4718160" y="300852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60.7%</a:t>
            </a:r>
            <a:endParaRPr b="0" lang="en-US" sz="1210" strike="noStrike" u="none">
              <a:solidFill>
                <a:srgbClr val="000000"/>
              </a:solidFill>
              <a:effectLst/>
              <a:uFillTx/>
              <a:latin typeface="Arial"/>
            </a:endParaRPr>
          </a:p>
        </p:txBody>
      </p:sp>
      <p:sp>
        <p:nvSpPr>
          <p:cNvPr id="306" name="Text 21"/>
          <p:cNvSpPr/>
          <p:nvPr/>
        </p:nvSpPr>
        <p:spPr>
          <a:xfrm>
            <a:off x="941760" y="3529440"/>
            <a:ext cx="11422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Precision</a:t>
            </a:r>
            <a:endParaRPr b="0" lang="en-US" sz="1400" strike="noStrike" u="none">
              <a:solidFill>
                <a:srgbClr val="000000"/>
              </a:solidFill>
              <a:effectLst/>
              <a:uFillTx/>
              <a:latin typeface="Arial"/>
            </a:endParaRPr>
          </a:p>
        </p:txBody>
      </p:sp>
      <p:sp>
        <p:nvSpPr>
          <p:cNvPr id="307" name="Shape 22"/>
          <p:cNvSpPr/>
          <p:nvPr/>
        </p:nvSpPr>
        <p:spPr>
          <a:xfrm>
            <a:off x="2240280" y="346572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08" name="Shape 23"/>
          <p:cNvSpPr/>
          <p:nvPr/>
        </p:nvSpPr>
        <p:spPr>
          <a:xfrm>
            <a:off x="2240280" y="3465720"/>
            <a:ext cx="1726920" cy="14544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09" name="Shape 24"/>
          <p:cNvSpPr/>
          <p:nvPr/>
        </p:nvSpPr>
        <p:spPr>
          <a:xfrm>
            <a:off x="2240280" y="369432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10" name="Shape 25"/>
          <p:cNvSpPr/>
          <p:nvPr/>
        </p:nvSpPr>
        <p:spPr>
          <a:xfrm>
            <a:off x="2240280" y="3694320"/>
            <a:ext cx="1423800" cy="14544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1" name="Text 26"/>
          <p:cNvSpPr/>
          <p:nvPr/>
        </p:nvSpPr>
        <p:spPr>
          <a:xfrm>
            <a:off x="4718160" y="342900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74.1%</a:t>
            </a:r>
            <a:endParaRPr b="0" lang="en-US" sz="1210" strike="noStrike" u="none">
              <a:solidFill>
                <a:srgbClr val="000000"/>
              </a:solidFill>
              <a:effectLst/>
              <a:uFillTx/>
              <a:latin typeface="Arial"/>
            </a:endParaRPr>
          </a:p>
        </p:txBody>
      </p:sp>
      <p:sp>
        <p:nvSpPr>
          <p:cNvPr id="312" name="Text 27"/>
          <p:cNvSpPr/>
          <p:nvPr/>
        </p:nvSpPr>
        <p:spPr>
          <a:xfrm>
            <a:off x="4718160" y="366660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61.1%</a:t>
            </a:r>
            <a:endParaRPr b="0" lang="en-US" sz="1210" strike="noStrike" u="none">
              <a:solidFill>
                <a:srgbClr val="000000"/>
              </a:solidFill>
              <a:effectLst/>
              <a:uFillTx/>
              <a:latin typeface="Arial"/>
            </a:endParaRPr>
          </a:p>
        </p:txBody>
      </p:sp>
      <p:sp>
        <p:nvSpPr>
          <p:cNvPr id="313" name="Text 28"/>
          <p:cNvSpPr/>
          <p:nvPr/>
        </p:nvSpPr>
        <p:spPr>
          <a:xfrm>
            <a:off x="941760" y="4187880"/>
            <a:ext cx="11422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Recall</a:t>
            </a:r>
            <a:endParaRPr b="0" lang="en-US" sz="1400" strike="noStrike" u="none">
              <a:solidFill>
                <a:srgbClr val="000000"/>
              </a:solidFill>
              <a:effectLst/>
              <a:uFillTx/>
              <a:latin typeface="Arial"/>
            </a:endParaRPr>
          </a:p>
        </p:txBody>
      </p:sp>
      <p:sp>
        <p:nvSpPr>
          <p:cNvPr id="314" name="Shape 29"/>
          <p:cNvSpPr/>
          <p:nvPr/>
        </p:nvSpPr>
        <p:spPr>
          <a:xfrm>
            <a:off x="2240280" y="412380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15" name="Shape 30"/>
          <p:cNvSpPr/>
          <p:nvPr/>
        </p:nvSpPr>
        <p:spPr>
          <a:xfrm>
            <a:off x="2240280" y="4123800"/>
            <a:ext cx="1701360" cy="14544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6" name="Shape 31"/>
          <p:cNvSpPr/>
          <p:nvPr/>
        </p:nvSpPr>
        <p:spPr>
          <a:xfrm>
            <a:off x="2240280" y="435240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17" name="Shape 32"/>
          <p:cNvSpPr/>
          <p:nvPr/>
        </p:nvSpPr>
        <p:spPr>
          <a:xfrm>
            <a:off x="2240280" y="4352400"/>
            <a:ext cx="1414800" cy="14544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18" name="Text 33"/>
          <p:cNvSpPr/>
          <p:nvPr/>
        </p:nvSpPr>
        <p:spPr>
          <a:xfrm>
            <a:off x="4718160" y="408744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73.0%</a:t>
            </a:r>
            <a:endParaRPr b="0" lang="en-US" sz="1210" strike="noStrike" u="none">
              <a:solidFill>
                <a:srgbClr val="000000"/>
              </a:solidFill>
              <a:effectLst/>
              <a:uFillTx/>
              <a:latin typeface="Arial"/>
            </a:endParaRPr>
          </a:p>
        </p:txBody>
      </p:sp>
      <p:sp>
        <p:nvSpPr>
          <p:cNvPr id="319" name="Text 34"/>
          <p:cNvSpPr/>
          <p:nvPr/>
        </p:nvSpPr>
        <p:spPr>
          <a:xfrm>
            <a:off x="4718160" y="432504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60.7%</a:t>
            </a:r>
            <a:endParaRPr b="0" lang="en-US" sz="1210" strike="noStrike" u="none">
              <a:solidFill>
                <a:srgbClr val="000000"/>
              </a:solidFill>
              <a:effectLst/>
              <a:uFillTx/>
              <a:latin typeface="Arial"/>
            </a:endParaRPr>
          </a:p>
        </p:txBody>
      </p:sp>
      <p:sp>
        <p:nvSpPr>
          <p:cNvPr id="320" name="Text 35"/>
          <p:cNvSpPr/>
          <p:nvPr/>
        </p:nvSpPr>
        <p:spPr>
          <a:xfrm>
            <a:off x="941760" y="4846320"/>
            <a:ext cx="11422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F1-score</a:t>
            </a:r>
            <a:endParaRPr b="0" lang="en-US" sz="1400" strike="noStrike" u="none">
              <a:solidFill>
                <a:srgbClr val="000000"/>
              </a:solidFill>
              <a:effectLst/>
              <a:uFillTx/>
              <a:latin typeface="Arial"/>
            </a:endParaRPr>
          </a:p>
        </p:txBody>
      </p:sp>
      <p:sp>
        <p:nvSpPr>
          <p:cNvPr id="321" name="Shape 36"/>
          <p:cNvSpPr/>
          <p:nvPr/>
        </p:nvSpPr>
        <p:spPr>
          <a:xfrm>
            <a:off x="2240280" y="478224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22" name="Shape 37"/>
          <p:cNvSpPr/>
          <p:nvPr/>
        </p:nvSpPr>
        <p:spPr>
          <a:xfrm>
            <a:off x="2240280" y="4782240"/>
            <a:ext cx="1740960" cy="14544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3" name="Shape 38"/>
          <p:cNvSpPr/>
          <p:nvPr/>
        </p:nvSpPr>
        <p:spPr>
          <a:xfrm>
            <a:off x="2240280" y="501084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24" name="Shape 39"/>
          <p:cNvSpPr/>
          <p:nvPr/>
        </p:nvSpPr>
        <p:spPr>
          <a:xfrm>
            <a:off x="2240280" y="5010840"/>
            <a:ext cx="1388880" cy="14544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25" name="Text 40"/>
          <p:cNvSpPr/>
          <p:nvPr/>
        </p:nvSpPr>
        <p:spPr>
          <a:xfrm>
            <a:off x="4718160" y="474588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74.7%</a:t>
            </a:r>
            <a:endParaRPr b="0" lang="en-US" sz="1210" strike="noStrike" u="none">
              <a:solidFill>
                <a:srgbClr val="000000"/>
              </a:solidFill>
              <a:effectLst/>
              <a:uFillTx/>
              <a:latin typeface="Arial"/>
            </a:endParaRPr>
          </a:p>
        </p:txBody>
      </p:sp>
      <p:sp>
        <p:nvSpPr>
          <p:cNvPr id="326" name="Text 41"/>
          <p:cNvSpPr/>
          <p:nvPr/>
        </p:nvSpPr>
        <p:spPr>
          <a:xfrm>
            <a:off x="4718160" y="498348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59.6%</a:t>
            </a:r>
            <a:endParaRPr b="0" lang="en-US" sz="1210" strike="noStrike" u="none">
              <a:solidFill>
                <a:srgbClr val="000000"/>
              </a:solidFill>
              <a:effectLst/>
              <a:uFillTx/>
              <a:latin typeface="Arial"/>
            </a:endParaRPr>
          </a:p>
        </p:txBody>
      </p:sp>
      <p:sp>
        <p:nvSpPr>
          <p:cNvPr id="327" name="Shape 42"/>
          <p:cNvSpPr/>
          <p:nvPr/>
        </p:nvSpPr>
        <p:spPr>
          <a:xfrm>
            <a:off x="950760" y="5504400"/>
            <a:ext cx="474588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28" name="Shape 43"/>
          <p:cNvSpPr/>
          <p:nvPr/>
        </p:nvSpPr>
        <p:spPr>
          <a:xfrm>
            <a:off x="6208920" y="2039040"/>
            <a:ext cx="5248080" cy="3693600"/>
          </a:xfrm>
          <a:prstGeom prst="roundRect">
            <a:avLst>
              <a:gd name="adj" fmla="val 371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29" name="Text 44"/>
          <p:cNvSpPr/>
          <p:nvPr/>
        </p:nvSpPr>
        <p:spPr>
          <a:xfrm>
            <a:off x="6464880" y="2277000"/>
            <a:ext cx="25138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K-NEAREST NEIGHBORS</a:t>
            </a:r>
            <a:endParaRPr b="0" lang="en-US" sz="1100" strike="noStrike" u="none">
              <a:solidFill>
                <a:srgbClr val="000000"/>
              </a:solidFill>
              <a:effectLst/>
              <a:uFillTx/>
              <a:latin typeface="Arial"/>
            </a:endParaRPr>
          </a:p>
        </p:txBody>
      </p:sp>
      <p:sp>
        <p:nvSpPr>
          <p:cNvPr id="330" name="Shape 45"/>
          <p:cNvSpPr/>
          <p:nvPr/>
        </p:nvSpPr>
        <p:spPr>
          <a:xfrm>
            <a:off x="8476560" y="2331720"/>
            <a:ext cx="113760" cy="113760"/>
          </a:xfrm>
          <a:prstGeom prst="ellipse">
            <a:avLst/>
          </a:prstGeom>
          <a:solidFill>
            <a:srgbClr val="5a86a4"/>
          </a:solidFill>
          <a:ln w="12700">
            <a:solidFill>
              <a:srgbClr val="5a86a4">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331" name="Text 46"/>
          <p:cNvSpPr/>
          <p:nvPr/>
        </p:nvSpPr>
        <p:spPr>
          <a:xfrm>
            <a:off x="8650080" y="2258640"/>
            <a:ext cx="76752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Paper</a:t>
            </a:r>
            <a:endParaRPr b="0" lang="en-US" sz="1100" strike="noStrike" u="none">
              <a:solidFill>
                <a:srgbClr val="000000"/>
              </a:solidFill>
              <a:effectLst/>
              <a:uFillTx/>
              <a:latin typeface="Arial"/>
            </a:endParaRPr>
          </a:p>
        </p:txBody>
      </p:sp>
      <p:sp>
        <p:nvSpPr>
          <p:cNvPr id="332" name="Shape 47"/>
          <p:cNvSpPr/>
          <p:nvPr/>
        </p:nvSpPr>
        <p:spPr>
          <a:xfrm>
            <a:off x="9473040" y="233172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333" name="Text 48"/>
          <p:cNvSpPr/>
          <p:nvPr/>
        </p:nvSpPr>
        <p:spPr>
          <a:xfrm>
            <a:off x="9646920" y="2258640"/>
            <a:ext cx="135252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Our subset</a:t>
            </a:r>
            <a:endParaRPr b="0" lang="en-US" sz="1100" strike="noStrike" u="none">
              <a:solidFill>
                <a:srgbClr val="000000"/>
              </a:solidFill>
              <a:effectLst/>
              <a:uFillTx/>
              <a:latin typeface="Arial"/>
            </a:endParaRPr>
          </a:p>
        </p:txBody>
      </p:sp>
      <p:sp>
        <p:nvSpPr>
          <p:cNvPr id="334" name="Text 49"/>
          <p:cNvSpPr/>
          <p:nvPr/>
        </p:nvSpPr>
        <p:spPr>
          <a:xfrm>
            <a:off x="6455520" y="2871360"/>
            <a:ext cx="11422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Accuracy</a:t>
            </a:r>
            <a:endParaRPr b="0" lang="en-US" sz="1400" strike="noStrike" u="none">
              <a:solidFill>
                <a:srgbClr val="000000"/>
              </a:solidFill>
              <a:effectLst/>
              <a:uFillTx/>
              <a:latin typeface="Arial"/>
            </a:endParaRPr>
          </a:p>
        </p:txBody>
      </p:sp>
      <p:sp>
        <p:nvSpPr>
          <p:cNvPr id="335" name="Shape 50"/>
          <p:cNvSpPr/>
          <p:nvPr/>
        </p:nvSpPr>
        <p:spPr>
          <a:xfrm>
            <a:off x="7754040" y="280728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36" name="Shape 51"/>
          <p:cNvSpPr/>
          <p:nvPr/>
        </p:nvSpPr>
        <p:spPr>
          <a:xfrm>
            <a:off x="7754040" y="2807280"/>
            <a:ext cx="2032560" cy="14544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7" name="Shape 52"/>
          <p:cNvSpPr/>
          <p:nvPr/>
        </p:nvSpPr>
        <p:spPr>
          <a:xfrm>
            <a:off x="7754040" y="303588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38" name="Shape 53"/>
          <p:cNvSpPr/>
          <p:nvPr/>
        </p:nvSpPr>
        <p:spPr>
          <a:xfrm>
            <a:off x="7754040" y="3035880"/>
            <a:ext cx="1752840" cy="14544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39" name="Text 54"/>
          <p:cNvSpPr/>
          <p:nvPr/>
        </p:nvSpPr>
        <p:spPr>
          <a:xfrm>
            <a:off x="10232280" y="277056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340" name="Text 55"/>
          <p:cNvSpPr/>
          <p:nvPr/>
        </p:nvSpPr>
        <p:spPr>
          <a:xfrm>
            <a:off x="10232280" y="300852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75.2%</a:t>
            </a:r>
            <a:endParaRPr b="0" lang="en-US" sz="1210" strike="noStrike" u="none">
              <a:solidFill>
                <a:srgbClr val="000000"/>
              </a:solidFill>
              <a:effectLst/>
              <a:uFillTx/>
              <a:latin typeface="Arial"/>
            </a:endParaRPr>
          </a:p>
        </p:txBody>
      </p:sp>
      <p:sp>
        <p:nvSpPr>
          <p:cNvPr id="341" name="Text 56"/>
          <p:cNvSpPr/>
          <p:nvPr/>
        </p:nvSpPr>
        <p:spPr>
          <a:xfrm>
            <a:off x="6455520" y="3529440"/>
            <a:ext cx="11422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Precision</a:t>
            </a:r>
            <a:endParaRPr b="0" lang="en-US" sz="1400" strike="noStrike" u="none">
              <a:solidFill>
                <a:srgbClr val="000000"/>
              </a:solidFill>
              <a:effectLst/>
              <a:uFillTx/>
              <a:latin typeface="Arial"/>
            </a:endParaRPr>
          </a:p>
        </p:txBody>
      </p:sp>
      <p:sp>
        <p:nvSpPr>
          <p:cNvPr id="342" name="Shape 57"/>
          <p:cNvSpPr/>
          <p:nvPr/>
        </p:nvSpPr>
        <p:spPr>
          <a:xfrm>
            <a:off x="7754040" y="346572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43" name="Shape 58"/>
          <p:cNvSpPr/>
          <p:nvPr/>
        </p:nvSpPr>
        <p:spPr>
          <a:xfrm>
            <a:off x="7754040" y="3465720"/>
            <a:ext cx="1983600" cy="14544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4" name="Shape 59"/>
          <p:cNvSpPr/>
          <p:nvPr/>
        </p:nvSpPr>
        <p:spPr>
          <a:xfrm>
            <a:off x="7754040" y="369432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45" name="Shape 60"/>
          <p:cNvSpPr/>
          <p:nvPr/>
        </p:nvSpPr>
        <p:spPr>
          <a:xfrm>
            <a:off x="7754040" y="3694320"/>
            <a:ext cx="1783080" cy="14544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46" name="Text 61"/>
          <p:cNvSpPr/>
          <p:nvPr/>
        </p:nvSpPr>
        <p:spPr>
          <a:xfrm>
            <a:off x="10232280" y="342900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85.1%</a:t>
            </a:r>
            <a:endParaRPr b="0" lang="en-US" sz="1210" strike="noStrike" u="none">
              <a:solidFill>
                <a:srgbClr val="000000"/>
              </a:solidFill>
              <a:effectLst/>
              <a:uFillTx/>
              <a:latin typeface="Arial"/>
            </a:endParaRPr>
          </a:p>
        </p:txBody>
      </p:sp>
      <p:sp>
        <p:nvSpPr>
          <p:cNvPr id="347" name="Text 62"/>
          <p:cNvSpPr/>
          <p:nvPr/>
        </p:nvSpPr>
        <p:spPr>
          <a:xfrm>
            <a:off x="10232280" y="366660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76.5%</a:t>
            </a:r>
            <a:endParaRPr b="0" lang="en-US" sz="1210" strike="noStrike" u="none">
              <a:solidFill>
                <a:srgbClr val="000000"/>
              </a:solidFill>
              <a:effectLst/>
              <a:uFillTx/>
              <a:latin typeface="Arial"/>
            </a:endParaRPr>
          </a:p>
        </p:txBody>
      </p:sp>
      <p:sp>
        <p:nvSpPr>
          <p:cNvPr id="348" name="Text 63"/>
          <p:cNvSpPr/>
          <p:nvPr/>
        </p:nvSpPr>
        <p:spPr>
          <a:xfrm>
            <a:off x="6455520" y="4187880"/>
            <a:ext cx="11422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Recall</a:t>
            </a:r>
            <a:endParaRPr b="0" lang="en-US" sz="1400" strike="noStrike" u="none">
              <a:solidFill>
                <a:srgbClr val="000000"/>
              </a:solidFill>
              <a:effectLst/>
              <a:uFillTx/>
              <a:latin typeface="Arial"/>
            </a:endParaRPr>
          </a:p>
        </p:txBody>
      </p:sp>
      <p:sp>
        <p:nvSpPr>
          <p:cNvPr id="349" name="Shape 64"/>
          <p:cNvSpPr/>
          <p:nvPr/>
        </p:nvSpPr>
        <p:spPr>
          <a:xfrm>
            <a:off x="7754040" y="412380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50" name="Shape 65"/>
          <p:cNvSpPr/>
          <p:nvPr/>
        </p:nvSpPr>
        <p:spPr>
          <a:xfrm>
            <a:off x="7754040" y="4123800"/>
            <a:ext cx="2032560" cy="14544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1" name="Shape 66"/>
          <p:cNvSpPr/>
          <p:nvPr/>
        </p:nvSpPr>
        <p:spPr>
          <a:xfrm>
            <a:off x="7754040" y="435240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52" name="Shape 67"/>
          <p:cNvSpPr/>
          <p:nvPr/>
        </p:nvSpPr>
        <p:spPr>
          <a:xfrm>
            <a:off x="7754040" y="4352400"/>
            <a:ext cx="1752840" cy="14544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3" name="Text 68"/>
          <p:cNvSpPr/>
          <p:nvPr/>
        </p:nvSpPr>
        <p:spPr>
          <a:xfrm>
            <a:off x="10232280" y="408744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354" name="Text 69"/>
          <p:cNvSpPr/>
          <p:nvPr/>
        </p:nvSpPr>
        <p:spPr>
          <a:xfrm>
            <a:off x="10232280" y="432504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75.2%</a:t>
            </a:r>
            <a:endParaRPr b="0" lang="en-US" sz="1210" strike="noStrike" u="none">
              <a:solidFill>
                <a:srgbClr val="000000"/>
              </a:solidFill>
              <a:effectLst/>
              <a:uFillTx/>
              <a:latin typeface="Arial"/>
            </a:endParaRPr>
          </a:p>
        </p:txBody>
      </p:sp>
      <p:sp>
        <p:nvSpPr>
          <p:cNvPr id="355" name="Text 70"/>
          <p:cNvSpPr/>
          <p:nvPr/>
        </p:nvSpPr>
        <p:spPr>
          <a:xfrm>
            <a:off x="6455520" y="4846320"/>
            <a:ext cx="11422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F1-score</a:t>
            </a:r>
            <a:endParaRPr b="0" lang="en-US" sz="1400" strike="noStrike" u="none">
              <a:solidFill>
                <a:srgbClr val="000000"/>
              </a:solidFill>
              <a:effectLst/>
              <a:uFillTx/>
              <a:latin typeface="Arial"/>
            </a:endParaRPr>
          </a:p>
        </p:txBody>
      </p:sp>
      <p:sp>
        <p:nvSpPr>
          <p:cNvPr id="356" name="Shape 71"/>
          <p:cNvSpPr/>
          <p:nvPr/>
        </p:nvSpPr>
        <p:spPr>
          <a:xfrm>
            <a:off x="7754040" y="478224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57" name="Shape 72"/>
          <p:cNvSpPr/>
          <p:nvPr/>
        </p:nvSpPr>
        <p:spPr>
          <a:xfrm>
            <a:off x="7754040" y="4782240"/>
            <a:ext cx="2032560" cy="145440"/>
          </a:xfrm>
          <a:prstGeom prst="roundRect">
            <a:avLst>
              <a:gd name="adj" fmla="val 50000"/>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58" name="Shape 73"/>
          <p:cNvSpPr/>
          <p:nvPr/>
        </p:nvSpPr>
        <p:spPr>
          <a:xfrm>
            <a:off x="7754040" y="5010840"/>
            <a:ext cx="2331000" cy="145440"/>
          </a:xfrm>
          <a:prstGeom prst="roundRect">
            <a:avLst>
              <a:gd name="adj" fmla="val 5000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59" name="Shape 74"/>
          <p:cNvSpPr/>
          <p:nvPr/>
        </p:nvSpPr>
        <p:spPr>
          <a:xfrm>
            <a:off x="7754040" y="5010840"/>
            <a:ext cx="1736280" cy="145440"/>
          </a:xfrm>
          <a:prstGeom prst="roundRect">
            <a:avLst>
              <a:gd name="adj" fmla="val 50000"/>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360" name="Text 75"/>
          <p:cNvSpPr/>
          <p:nvPr/>
        </p:nvSpPr>
        <p:spPr>
          <a:xfrm>
            <a:off x="10232280" y="474588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5a86a4"/>
                </a:solidFill>
                <a:effectLst/>
                <a:uFillTx/>
                <a:latin typeface="Inter"/>
                <a:ea typeface="Inter"/>
              </a:rPr>
              <a:t>87.2%</a:t>
            </a:r>
            <a:endParaRPr b="0" lang="en-US" sz="1210" strike="noStrike" u="none">
              <a:solidFill>
                <a:srgbClr val="000000"/>
              </a:solidFill>
              <a:effectLst/>
              <a:uFillTx/>
              <a:latin typeface="Arial"/>
            </a:endParaRPr>
          </a:p>
        </p:txBody>
      </p:sp>
      <p:sp>
        <p:nvSpPr>
          <p:cNvPr id="361" name="Text 76"/>
          <p:cNvSpPr/>
          <p:nvPr/>
        </p:nvSpPr>
        <p:spPr>
          <a:xfrm>
            <a:off x="10232280" y="4983480"/>
            <a:ext cx="876960" cy="21888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210" strike="noStrike" u="none">
                <a:solidFill>
                  <a:srgbClr val="d9794a"/>
                </a:solidFill>
                <a:effectLst/>
                <a:uFillTx/>
                <a:latin typeface="Inter"/>
                <a:ea typeface="Inter"/>
              </a:rPr>
              <a:t>74.5%</a:t>
            </a:r>
            <a:endParaRPr b="0" lang="en-US" sz="1210" strike="noStrike" u="none">
              <a:solidFill>
                <a:srgbClr val="000000"/>
              </a:solidFill>
              <a:effectLst/>
              <a:uFillTx/>
              <a:latin typeface="Arial"/>
            </a:endParaRPr>
          </a:p>
        </p:txBody>
      </p:sp>
      <p:sp>
        <p:nvSpPr>
          <p:cNvPr id="362" name="Shape 77"/>
          <p:cNvSpPr/>
          <p:nvPr/>
        </p:nvSpPr>
        <p:spPr>
          <a:xfrm>
            <a:off x="6464520" y="5504400"/>
            <a:ext cx="474588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63" name="Shape 78"/>
          <p:cNvSpPr/>
          <p:nvPr/>
        </p:nvSpPr>
        <p:spPr>
          <a:xfrm>
            <a:off x="713160" y="5843160"/>
            <a:ext cx="10734480" cy="282600"/>
          </a:xfrm>
          <a:prstGeom prst="roundRect">
            <a:avLst>
              <a:gd name="adj" fmla="val 24194"/>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64" name="Text 79"/>
          <p:cNvSpPr/>
          <p:nvPr/>
        </p:nvSpPr>
        <p:spPr>
          <a:xfrm>
            <a:off x="1024200" y="5870520"/>
            <a:ext cx="1010340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20" strike="noStrike" u="none">
                <a:solidFill>
                  <a:srgbClr val="ce6949"/>
                </a:solidFill>
                <a:effectLst/>
                <a:uFillTx/>
                <a:latin typeface="Inter"/>
                <a:ea typeface="Inter"/>
              </a:rPr>
              <a:t>Paper: 2,500 documented images  |  Our evaluation: 583 available images (117 held out)</a:t>
            </a:r>
            <a:endParaRPr b="0" lang="en-US" sz="1120" strike="noStrike" u="none">
              <a:solidFill>
                <a:srgbClr val="000000"/>
              </a:solidFill>
              <a:effectLst/>
              <a:uFillTx/>
              <a:latin typeface="Arial"/>
            </a:endParaRPr>
          </a:p>
        </p:txBody>
      </p:sp>
      <p:sp>
        <p:nvSpPr>
          <p:cNvPr id="365" name="Text 80"/>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Paper: Amer et al. (2025), Table 3. Our metrics: saved notebook Experiment 1 (weighted averages).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67" name="Shape 1"/>
          <p:cNvSpPr/>
          <p:nvPr/>
        </p:nvSpPr>
        <p:spPr>
          <a:xfrm>
            <a:off x="567000" y="356760"/>
            <a:ext cx="225972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68" name="Text 2"/>
          <p:cNvSpPr/>
          <p:nvPr/>
        </p:nvSpPr>
        <p:spPr>
          <a:xfrm>
            <a:off x="676800" y="379440"/>
            <a:ext cx="20401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369"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Cross-validation: results depend on the fold</a:t>
            </a:r>
            <a:endParaRPr b="0" lang="en-US" sz="3000" strike="noStrike" u="none">
              <a:solidFill>
                <a:srgbClr val="000000"/>
              </a:solidFill>
              <a:effectLst/>
              <a:uFillTx/>
              <a:latin typeface="Arial"/>
            </a:endParaRPr>
          </a:p>
        </p:txBody>
      </p:sp>
      <p:sp>
        <p:nvSpPr>
          <p:cNvPr id="370"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Same model, different validation images · five stratified folds of the 466 training samples.</a:t>
            </a:r>
            <a:endParaRPr b="0" lang="en-US" sz="1430" strike="noStrike" u="none">
              <a:solidFill>
                <a:srgbClr val="000000"/>
              </a:solidFill>
              <a:effectLst/>
              <a:uFillTx/>
              <a:latin typeface="Arial"/>
            </a:endParaRPr>
          </a:p>
        </p:txBody>
      </p:sp>
      <p:sp>
        <p:nvSpPr>
          <p:cNvPr id="371"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72"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373"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10  /  21</a:t>
            </a:r>
            <a:endParaRPr b="0" lang="en-US" sz="900" strike="noStrike" u="none">
              <a:solidFill>
                <a:srgbClr val="000000"/>
              </a:solidFill>
              <a:effectLst/>
              <a:uFillTx/>
              <a:latin typeface="Arial"/>
            </a:endParaRPr>
          </a:p>
        </p:txBody>
      </p:sp>
      <p:sp>
        <p:nvSpPr>
          <p:cNvPr id="374" name="Shape 8"/>
          <p:cNvSpPr/>
          <p:nvPr/>
        </p:nvSpPr>
        <p:spPr>
          <a:xfrm>
            <a:off x="704160" y="2039040"/>
            <a:ext cx="5257080" cy="3702600"/>
          </a:xfrm>
          <a:prstGeom prst="roundRect">
            <a:avLst>
              <a:gd name="adj" fmla="val 321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375" name="Text 9"/>
          <p:cNvSpPr/>
          <p:nvPr/>
        </p:nvSpPr>
        <p:spPr>
          <a:xfrm>
            <a:off x="914400" y="2194560"/>
            <a:ext cx="47998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ACCURACY (%)</a:t>
            </a:r>
            <a:endParaRPr b="0" lang="en-US" sz="1100" strike="noStrike" u="none">
              <a:solidFill>
                <a:srgbClr val="000000"/>
              </a:solidFill>
              <a:effectLst/>
              <a:uFillTx/>
              <a:latin typeface="Arial"/>
            </a:endParaRPr>
          </a:p>
        </p:txBody>
      </p:sp>
      <p:sp>
        <p:nvSpPr>
          <p:cNvPr id="376" name="Shape 10"/>
          <p:cNvSpPr/>
          <p:nvPr/>
        </p:nvSpPr>
        <p:spPr>
          <a:xfrm>
            <a:off x="1197720" y="453528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77" name="Text 11"/>
          <p:cNvSpPr/>
          <p:nvPr/>
        </p:nvSpPr>
        <p:spPr>
          <a:xfrm>
            <a:off x="914400" y="445320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50</a:t>
            </a:r>
            <a:endParaRPr b="0" lang="en-US" sz="900" strike="noStrike" u="none">
              <a:solidFill>
                <a:srgbClr val="000000"/>
              </a:solidFill>
              <a:effectLst/>
              <a:uFillTx/>
              <a:latin typeface="Arial"/>
            </a:endParaRPr>
          </a:p>
        </p:txBody>
      </p:sp>
      <p:sp>
        <p:nvSpPr>
          <p:cNvPr id="378" name="Shape 12"/>
          <p:cNvSpPr/>
          <p:nvPr/>
        </p:nvSpPr>
        <p:spPr>
          <a:xfrm>
            <a:off x="1197720" y="405504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79" name="Text 13"/>
          <p:cNvSpPr/>
          <p:nvPr/>
        </p:nvSpPr>
        <p:spPr>
          <a:xfrm>
            <a:off x="914400" y="397296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60</a:t>
            </a:r>
            <a:endParaRPr b="0" lang="en-US" sz="900" strike="noStrike" u="none">
              <a:solidFill>
                <a:srgbClr val="000000"/>
              </a:solidFill>
              <a:effectLst/>
              <a:uFillTx/>
              <a:latin typeface="Arial"/>
            </a:endParaRPr>
          </a:p>
        </p:txBody>
      </p:sp>
      <p:sp>
        <p:nvSpPr>
          <p:cNvPr id="380" name="Shape 14"/>
          <p:cNvSpPr/>
          <p:nvPr/>
        </p:nvSpPr>
        <p:spPr>
          <a:xfrm>
            <a:off x="1197720" y="357516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81" name="Text 15"/>
          <p:cNvSpPr/>
          <p:nvPr/>
        </p:nvSpPr>
        <p:spPr>
          <a:xfrm>
            <a:off x="914400" y="349308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70</a:t>
            </a:r>
            <a:endParaRPr b="0" lang="en-US" sz="900" strike="noStrike" u="none">
              <a:solidFill>
                <a:srgbClr val="000000"/>
              </a:solidFill>
              <a:effectLst/>
              <a:uFillTx/>
              <a:latin typeface="Arial"/>
            </a:endParaRPr>
          </a:p>
        </p:txBody>
      </p:sp>
      <p:sp>
        <p:nvSpPr>
          <p:cNvPr id="382" name="Shape 16"/>
          <p:cNvSpPr/>
          <p:nvPr/>
        </p:nvSpPr>
        <p:spPr>
          <a:xfrm>
            <a:off x="1197720" y="309492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83" name="Text 17"/>
          <p:cNvSpPr/>
          <p:nvPr/>
        </p:nvSpPr>
        <p:spPr>
          <a:xfrm>
            <a:off x="914400" y="301284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80</a:t>
            </a:r>
            <a:endParaRPr b="0" lang="en-US" sz="900" strike="noStrike" u="none">
              <a:solidFill>
                <a:srgbClr val="000000"/>
              </a:solidFill>
              <a:effectLst/>
              <a:uFillTx/>
              <a:latin typeface="Arial"/>
            </a:endParaRPr>
          </a:p>
        </p:txBody>
      </p:sp>
      <p:sp>
        <p:nvSpPr>
          <p:cNvPr id="384" name="Shape 18"/>
          <p:cNvSpPr/>
          <p:nvPr/>
        </p:nvSpPr>
        <p:spPr>
          <a:xfrm>
            <a:off x="1197720" y="2615040"/>
            <a:ext cx="448956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85" name="Text 19"/>
          <p:cNvSpPr/>
          <p:nvPr/>
        </p:nvSpPr>
        <p:spPr>
          <a:xfrm>
            <a:off x="914400" y="253296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90</a:t>
            </a:r>
            <a:endParaRPr b="0" lang="en-US" sz="900" strike="noStrike" u="none">
              <a:solidFill>
                <a:srgbClr val="000000"/>
              </a:solidFill>
              <a:effectLst/>
              <a:uFillTx/>
              <a:latin typeface="Arial"/>
            </a:endParaRPr>
          </a:p>
        </p:txBody>
      </p:sp>
      <p:sp>
        <p:nvSpPr>
          <p:cNvPr id="386" name="Shape 20"/>
          <p:cNvSpPr/>
          <p:nvPr/>
        </p:nvSpPr>
        <p:spPr>
          <a:xfrm>
            <a:off x="1342440" y="325440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387" name="Shape 21"/>
          <p:cNvSpPr/>
          <p:nvPr/>
        </p:nvSpPr>
        <p:spPr>
          <a:xfrm>
            <a:off x="1342440" y="401796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388" name="Text 22"/>
          <p:cNvSpPr/>
          <p:nvPr/>
        </p:nvSpPr>
        <p:spPr>
          <a:xfrm>
            <a:off x="129852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1</a:t>
            </a:r>
            <a:endParaRPr b="0" lang="en-US" sz="900" strike="noStrike" u="none">
              <a:solidFill>
                <a:srgbClr val="000000"/>
              </a:solidFill>
              <a:effectLst/>
              <a:uFillTx/>
              <a:latin typeface="Arial"/>
            </a:endParaRPr>
          </a:p>
        </p:txBody>
      </p:sp>
      <p:sp>
        <p:nvSpPr>
          <p:cNvPr id="389" name="Shape 23"/>
          <p:cNvSpPr/>
          <p:nvPr/>
        </p:nvSpPr>
        <p:spPr>
          <a:xfrm flipV="1">
            <a:off x="1398960" y="3166920"/>
            <a:ext cx="1014840" cy="14400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90" name="Shape 24"/>
          <p:cNvSpPr/>
          <p:nvPr/>
        </p:nvSpPr>
        <p:spPr>
          <a:xfrm flipV="1">
            <a:off x="1398960" y="3939840"/>
            <a:ext cx="1014840" cy="13464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91" name="Shape 25"/>
          <p:cNvSpPr/>
          <p:nvPr/>
        </p:nvSpPr>
        <p:spPr>
          <a:xfrm>
            <a:off x="2357280" y="311040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392" name="Shape 26"/>
          <p:cNvSpPr/>
          <p:nvPr/>
        </p:nvSpPr>
        <p:spPr>
          <a:xfrm>
            <a:off x="2357280" y="388332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393" name="Text 27"/>
          <p:cNvSpPr/>
          <p:nvPr/>
        </p:nvSpPr>
        <p:spPr>
          <a:xfrm>
            <a:off x="231336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2</a:t>
            </a:r>
            <a:endParaRPr b="0" lang="en-US" sz="900" strike="noStrike" u="none">
              <a:solidFill>
                <a:srgbClr val="000000"/>
              </a:solidFill>
              <a:effectLst/>
              <a:uFillTx/>
              <a:latin typeface="Arial"/>
            </a:endParaRPr>
          </a:p>
        </p:txBody>
      </p:sp>
      <p:sp>
        <p:nvSpPr>
          <p:cNvPr id="394" name="Shape 28"/>
          <p:cNvSpPr/>
          <p:nvPr/>
        </p:nvSpPr>
        <p:spPr>
          <a:xfrm>
            <a:off x="2413800" y="3166920"/>
            <a:ext cx="1015200" cy="6195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95" name="Shape 29"/>
          <p:cNvSpPr/>
          <p:nvPr/>
        </p:nvSpPr>
        <p:spPr>
          <a:xfrm flipV="1">
            <a:off x="2413800" y="3632760"/>
            <a:ext cx="1015200" cy="3070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396" name="Shape 30"/>
          <p:cNvSpPr/>
          <p:nvPr/>
        </p:nvSpPr>
        <p:spPr>
          <a:xfrm>
            <a:off x="3372480" y="372996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397" name="Shape 31"/>
          <p:cNvSpPr/>
          <p:nvPr/>
        </p:nvSpPr>
        <p:spPr>
          <a:xfrm>
            <a:off x="3372480" y="357624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398" name="Text 32"/>
          <p:cNvSpPr/>
          <p:nvPr/>
        </p:nvSpPr>
        <p:spPr>
          <a:xfrm>
            <a:off x="332856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3</a:t>
            </a:r>
            <a:endParaRPr b="0" lang="en-US" sz="900" strike="noStrike" u="none">
              <a:solidFill>
                <a:srgbClr val="000000"/>
              </a:solidFill>
              <a:effectLst/>
              <a:uFillTx/>
              <a:latin typeface="Arial"/>
            </a:endParaRPr>
          </a:p>
        </p:txBody>
      </p:sp>
      <p:sp>
        <p:nvSpPr>
          <p:cNvPr id="399" name="Shape 33"/>
          <p:cNvSpPr/>
          <p:nvPr/>
        </p:nvSpPr>
        <p:spPr>
          <a:xfrm flipV="1">
            <a:off x="3429000" y="2907720"/>
            <a:ext cx="1014840" cy="8787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0" name="Shape 34"/>
          <p:cNvSpPr/>
          <p:nvPr/>
        </p:nvSpPr>
        <p:spPr>
          <a:xfrm>
            <a:off x="3429000" y="3632760"/>
            <a:ext cx="1014840" cy="2592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1" name="Shape 35"/>
          <p:cNvSpPr/>
          <p:nvPr/>
        </p:nvSpPr>
        <p:spPr>
          <a:xfrm>
            <a:off x="4387320" y="285120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02" name="Shape 36"/>
          <p:cNvSpPr/>
          <p:nvPr/>
        </p:nvSpPr>
        <p:spPr>
          <a:xfrm>
            <a:off x="4387320" y="383544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03" name="Text 37"/>
          <p:cNvSpPr/>
          <p:nvPr/>
        </p:nvSpPr>
        <p:spPr>
          <a:xfrm>
            <a:off x="434340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4</a:t>
            </a:r>
            <a:endParaRPr b="0" lang="en-US" sz="900" strike="noStrike" u="none">
              <a:solidFill>
                <a:srgbClr val="000000"/>
              </a:solidFill>
              <a:effectLst/>
              <a:uFillTx/>
              <a:latin typeface="Arial"/>
            </a:endParaRPr>
          </a:p>
        </p:txBody>
      </p:sp>
      <p:sp>
        <p:nvSpPr>
          <p:cNvPr id="404" name="Shape 38"/>
          <p:cNvSpPr/>
          <p:nvPr/>
        </p:nvSpPr>
        <p:spPr>
          <a:xfrm>
            <a:off x="4443840" y="2907720"/>
            <a:ext cx="1014840" cy="46584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5" name="Shape 39"/>
          <p:cNvSpPr/>
          <p:nvPr/>
        </p:nvSpPr>
        <p:spPr>
          <a:xfrm flipV="1">
            <a:off x="4443840" y="3786480"/>
            <a:ext cx="1014840" cy="1054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06" name="Shape 40"/>
          <p:cNvSpPr/>
          <p:nvPr/>
        </p:nvSpPr>
        <p:spPr>
          <a:xfrm>
            <a:off x="5402160" y="331704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07" name="Shape 41"/>
          <p:cNvSpPr/>
          <p:nvPr/>
        </p:nvSpPr>
        <p:spPr>
          <a:xfrm>
            <a:off x="5402160" y="372996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08" name="Text 42"/>
          <p:cNvSpPr/>
          <p:nvPr/>
        </p:nvSpPr>
        <p:spPr>
          <a:xfrm>
            <a:off x="535824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5</a:t>
            </a:r>
            <a:endParaRPr b="0" lang="en-US" sz="900" strike="noStrike" u="none">
              <a:solidFill>
                <a:srgbClr val="000000"/>
              </a:solidFill>
              <a:effectLst/>
              <a:uFillTx/>
              <a:latin typeface="Arial"/>
            </a:endParaRPr>
          </a:p>
        </p:txBody>
      </p:sp>
      <p:sp>
        <p:nvSpPr>
          <p:cNvPr id="409" name="Shape 43"/>
          <p:cNvSpPr/>
          <p:nvPr/>
        </p:nvSpPr>
        <p:spPr>
          <a:xfrm>
            <a:off x="932400" y="5202720"/>
            <a:ext cx="480060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10" name="Text 44"/>
          <p:cNvSpPr/>
          <p:nvPr/>
        </p:nvSpPr>
        <p:spPr>
          <a:xfrm>
            <a:off x="1014840" y="5321880"/>
            <a:ext cx="25228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287f80"/>
                </a:solidFill>
                <a:effectLst/>
                <a:uFillTx/>
                <a:latin typeface="Inter"/>
                <a:ea typeface="Inter"/>
              </a:rPr>
              <a:t>KNN 75.5 ± 6.7</a:t>
            </a:r>
            <a:endParaRPr b="0" lang="en-US" sz="1400" strike="noStrike" u="none">
              <a:solidFill>
                <a:srgbClr val="000000"/>
              </a:solidFill>
              <a:effectLst/>
              <a:uFillTx/>
              <a:latin typeface="Arial"/>
            </a:endParaRPr>
          </a:p>
        </p:txBody>
      </p:sp>
      <p:sp>
        <p:nvSpPr>
          <p:cNvPr id="411" name="Text 45"/>
          <p:cNvSpPr/>
          <p:nvPr/>
        </p:nvSpPr>
        <p:spPr>
          <a:xfrm>
            <a:off x="3490560" y="5321880"/>
            <a:ext cx="2154960" cy="3103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trike="noStrike" u="none">
                <a:solidFill>
                  <a:srgbClr val="d9794a"/>
                </a:solidFill>
                <a:effectLst/>
                <a:uFillTx/>
                <a:latin typeface="Inter"/>
                <a:ea typeface="Inter"/>
              </a:rPr>
              <a:t>DT 64.0 ± 3.5</a:t>
            </a:r>
            <a:endParaRPr b="0" lang="en-US" sz="1400" strike="noStrike" u="none">
              <a:solidFill>
                <a:srgbClr val="000000"/>
              </a:solidFill>
              <a:effectLst/>
              <a:uFillTx/>
              <a:latin typeface="Arial"/>
            </a:endParaRPr>
          </a:p>
        </p:txBody>
      </p:sp>
      <p:sp>
        <p:nvSpPr>
          <p:cNvPr id="412" name="Shape 46"/>
          <p:cNvSpPr/>
          <p:nvPr/>
        </p:nvSpPr>
        <p:spPr>
          <a:xfrm>
            <a:off x="6199560" y="2039040"/>
            <a:ext cx="5257080" cy="3702600"/>
          </a:xfrm>
          <a:prstGeom prst="roundRect">
            <a:avLst>
              <a:gd name="adj" fmla="val 321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413" name="Text 47"/>
          <p:cNvSpPr/>
          <p:nvPr/>
        </p:nvSpPr>
        <p:spPr>
          <a:xfrm>
            <a:off x="6409800" y="2194560"/>
            <a:ext cx="47998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MACRO-F1 (%)</a:t>
            </a:r>
            <a:endParaRPr b="0" lang="en-US" sz="1100" strike="noStrike" u="none">
              <a:solidFill>
                <a:srgbClr val="000000"/>
              </a:solidFill>
              <a:effectLst/>
              <a:uFillTx/>
              <a:latin typeface="Arial"/>
            </a:endParaRPr>
          </a:p>
        </p:txBody>
      </p:sp>
      <p:sp>
        <p:nvSpPr>
          <p:cNvPr id="414" name="Shape 48"/>
          <p:cNvSpPr/>
          <p:nvPr/>
        </p:nvSpPr>
        <p:spPr>
          <a:xfrm>
            <a:off x="6693120" y="453528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15" name="Text 49"/>
          <p:cNvSpPr/>
          <p:nvPr/>
        </p:nvSpPr>
        <p:spPr>
          <a:xfrm>
            <a:off x="6409800" y="445320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50</a:t>
            </a:r>
            <a:endParaRPr b="0" lang="en-US" sz="900" strike="noStrike" u="none">
              <a:solidFill>
                <a:srgbClr val="000000"/>
              </a:solidFill>
              <a:effectLst/>
              <a:uFillTx/>
              <a:latin typeface="Arial"/>
            </a:endParaRPr>
          </a:p>
        </p:txBody>
      </p:sp>
      <p:sp>
        <p:nvSpPr>
          <p:cNvPr id="416" name="Shape 50"/>
          <p:cNvSpPr/>
          <p:nvPr/>
        </p:nvSpPr>
        <p:spPr>
          <a:xfrm>
            <a:off x="6693120" y="405504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17" name="Text 51"/>
          <p:cNvSpPr/>
          <p:nvPr/>
        </p:nvSpPr>
        <p:spPr>
          <a:xfrm>
            <a:off x="6409800" y="397296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60</a:t>
            </a:r>
            <a:endParaRPr b="0" lang="en-US" sz="900" strike="noStrike" u="none">
              <a:solidFill>
                <a:srgbClr val="000000"/>
              </a:solidFill>
              <a:effectLst/>
              <a:uFillTx/>
              <a:latin typeface="Arial"/>
            </a:endParaRPr>
          </a:p>
        </p:txBody>
      </p:sp>
      <p:sp>
        <p:nvSpPr>
          <p:cNvPr id="418" name="Shape 52"/>
          <p:cNvSpPr/>
          <p:nvPr/>
        </p:nvSpPr>
        <p:spPr>
          <a:xfrm>
            <a:off x="6693120" y="357516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19" name="Text 53"/>
          <p:cNvSpPr/>
          <p:nvPr/>
        </p:nvSpPr>
        <p:spPr>
          <a:xfrm>
            <a:off x="6409800" y="349308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70</a:t>
            </a:r>
            <a:endParaRPr b="0" lang="en-US" sz="900" strike="noStrike" u="none">
              <a:solidFill>
                <a:srgbClr val="000000"/>
              </a:solidFill>
              <a:effectLst/>
              <a:uFillTx/>
              <a:latin typeface="Arial"/>
            </a:endParaRPr>
          </a:p>
        </p:txBody>
      </p:sp>
      <p:sp>
        <p:nvSpPr>
          <p:cNvPr id="420" name="Shape 54"/>
          <p:cNvSpPr/>
          <p:nvPr/>
        </p:nvSpPr>
        <p:spPr>
          <a:xfrm>
            <a:off x="6693120" y="309492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21" name="Text 55"/>
          <p:cNvSpPr/>
          <p:nvPr/>
        </p:nvSpPr>
        <p:spPr>
          <a:xfrm>
            <a:off x="6409800" y="301284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80</a:t>
            </a:r>
            <a:endParaRPr b="0" lang="en-US" sz="900" strike="noStrike" u="none">
              <a:solidFill>
                <a:srgbClr val="000000"/>
              </a:solidFill>
              <a:effectLst/>
              <a:uFillTx/>
              <a:latin typeface="Arial"/>
            </a:endParaRPr>
          </a:p>
        </p:txBody>
      </p:sp>
      <p:sp>
        <p:nvSpPr>
          <p:cNvPr id="422" name="Shape 56"/>
          <p:cNvSpPr/>
          <p:nvPr/>
        </p:nvSpPr>
        <p:spPr>
          <a:xfrm>
            <a:off x="6693120" y="2615040"/>
            <a:ext cx="4489920" cy="360"/>
          </a:xfrm>
          <a:prstGeom prst="line">
            <a:avLst/>
          </a:prstGeom>
          <a:ln w="8001">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23" name="Text 57"/>
          <p:cNvSpPr/>
          <p:nvPr/>
        </p:nvSpPr>
        <p:spPr>
          <a:xfrm>
            <a:off x="6409800" y="2532960"/>
            <a:ext cx="2278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ea typeface="Inter"/>
              </a:rPr>
              <a:t>90</a:t>
            </a:r>
            <a:endParaRPr b="0" lang="en-US" sz="900" strike="noStrike" u="none">
              <a:solidFill>
                <a:srgbClr val="000000"/>
              </a:solidFill>
              <a:effectLst/>
              <a:uFillTx/>
              <a:latin typeface="Arial"/>
            </a:endParaRPr>
          </a:p>
        </p:txBody>
      </p:sp>
      <p:sp>
        <p:nvSpPr>
          <p:cNvPr id="424" name="Shape 58"/>
          <p:cNvSpPr/>
          <p:nvPr/>
        </p:nvSpPr>
        <p:spPr>
          <a:xfrm>
            <a:off x="6837840" y="323532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25" name="Shape 59"/>
          <p:cNvSpPr/>
          <p:nvPr/>
        </p:nvSpPr>
        <p:spPr>
          <a:xfrm>
            <a:off x="6837840" y="418104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26" name="Text 60"/>
          <p:cNvSpPr/>
          <p:nvPr/>
        </p:nvSpPr>
        <p:spPr>
          <a:xfrm>
            <a:off x="679392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1</a:t>
            </a:r>
            <a:endParaRPr b="0" lang="en-US" sz="900" strike="noStrike" u="none">
              <a:solidFill>
                <a:srgbClr val="000000"/>
              </a:solidFill>
              <a:effectLst/>
              <a:uFillTx/>
              <a:latin typeface="Arial"/>
            </a:endParaRPr>
          </a:p>
        </p:txBody>
      </p:sp>
      <p:sp>
        <p:nvSpPr>
          <p:cNvPr id="427" name="Shape 61"/>
          <p:cNvSpPr/>
          <p:nvPr/>
        </p:nvSpPr>
        <p:spPr>
          <a:xfrm flipV="1">
            <a:off x="6894360" y="3219840"/>
            <a:ext cx="1015200" cy="72000"/>
          </a:xfrm>
          <a:prstGeom prst="line">
            <a:avLst/>
          </a:prstGeom>
          <a:ln w="26670">
            <a:solidFill>
              <a:srgbClr val="287f80"/>
            </a:solidFill>
            <a:round/>
          </a:ln>
        </p:spPr>
        <p:style>
          <a:lnRef idx="0"/>
          <a:fillRef idx="0"/>
          <a:effectRef idx="0"/>
          <a:fontRef idx="minor"/>
        </p:style>
        <p:txBody>
          <a:bodyPr lIns="90000" rIns="90000" tIns="27000" bIns="27000" anchor="t" anchorCtr="1">
            <a:noAutofit/>
          </a:bodyPr>
          <a:p>
            <a:endParaRPr b="0" lang="en-US" sz="1800" strike="noStrike" u="none">
              <a:solidFill>
                <a:srgbClr val="000000"/>
              </a:solidFill>
              <a:effectLst/>
              <a:uFillTx/>
              <a:latin typeface="Arial"/>
            </a:endParaRPr>
          </a:p>
        </p:txBody>
      </p:sp>
      <p:sp>
        <p:nvSpPr>
          <p:cNvPr id="428" name="Shape 62"/>
          <p:cNvSpPr/>
          <p:nvPr/>
        </p:nvSpPr>
        <p:spPr>
          <a:xfrm flipV="1">
            <a:off x="6894360" y="3963960"/>
            <a:ext cx="1015200" cy="2736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29" name="Shape 63"/>
          <p:cNvSpPr/>
          <p:nvPr/>
        </p:nvSpPr>
        <p:spPr>
          <a:xfrm>
            <a:off x="7853040" y="316332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30" name="Shape 64"/>
          <p:cNvSpPr/>
          <p:nvPr/>
        </p:nvSpPr>
        <p:spPr>
          <a:xfrm>
            <a:off x="7853040" y="390744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31" name="Text 65"/>
          <p:cNvSpPr/>
          <p:nvPr/>
        </p:nvSpPr>
        <p:spPr>
          <a:xfrm>
            <a:off x="780912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2</a:t>
            </a:r>
            <a:endParaRPr b="0" lang="en-US" sz="900" strike="noStrike" u="none">
              <a:solidFill>
                <a:srgbClr val="000000"/>
              </a:solidFill>
              <a:effectLst/>
              <a:uFillTx/>
              <a:latin typeface="Arial"/>
            </a:endParaRPr>
          </a:p>
        </p:txBody>
      </p:sp>
      <p:sp>
        <p:nvSpPr>
          <p:cNvPr id="432" name="Shape 66"/>
          <p:cNvSpPr/>
          <p:nvPr/>
        </p:nvSpPr>
        <p:spPr>
          <a:xfrm>
            <a:off x="7909560" y="3219840"/>
            <a:ext cx="1014840" cy="63864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33" name="Shape 67"/>
          <p:cNvSpPr/>
          <p:nvPr/>
        </p:nvSpPr>
        <p:spPr>
          <a:xfrm flipV="1">
            <a:off x="7909560" y="3786480"/>
            <a:ext cx="1014840" cy="17748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34" name="Shape 68"/>
          <p:cNvSpPr/>
          <p:nvPr/>
        </p:nvSpPr>
        <p:spPr>
          <a:xfrm>
            <a:off x="8867880" y="380196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35" name="Shape 69"/>
          <p:cNvSpPr/>
          <p:nvPr/>
        </p:nvSpPr>
        <p:spPr>
          <a:xfrm>
            <a:off x="8867880" y="372996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36" name="Text 70"/>
          <p:cNvSpPr/>
          <p:nvPr/>
        </p:nvSpPr>
        <p:spPr>
          <a:xfrm>
            <a:off x="882396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3</a:t>
            </a:r>
            <a:endParaRPr b="0" lang="en-US" sz="900" strike="noStrike" u="none">
              <a:solidFill>
                <a:srgbClr val="000000"/>
              </a:solidFill>
              <a:effectLst/>
              <a:uFillTx/>
              <a:latin typeface="Arial"/>
            </a:endParaRPr>
          </a:p>
        </p:txBody>
      </p:sp>
      <p:sp>
        <p:nvSpPr>
          <p:cNvPr id="437" name="Shape 71"/>
          <p:cNvSpPr/>
          <p:nvPr/>
        </p:nvSpPr>
        <p:spPr>
          <a:xfrm flipV="1">
            <a:off x="8924400" y="2835720"/>
            <a:ext cx="1014840" cy="102276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38" name="Shape 72"/>
          <p:cNvSpPr/>
          <p:nvPr/>
        </p:nvSpPr>
        <p:spPr>
          <a:xfrm>
            <a:off x="8924400" y="3786480"/>
            <a:ext cx="1014840" cy="28800"/>
          </a:xfrm>
          <a:prstGeom prst="line">
            <a:avLst/>
          </a:prstGeom>
          <a:ln w="26670">
            <a:solidFill>
              <a:srgbClr val="d9794a"/>
            </a:solidFill>
            <a:round/>
          </a:ln>
        </p:spPr>
        <p:style>
          <a:lnRef idx="0"/>
          <a:fillRef idx="0"/>
          <a:effectRef idx="0"/>
          <a:fontRef idx="minor"/>
        </p:style>
        <p:txBody>
          <a:bodyPr lIns="90000" rIns="90000" tIns="-16200" bIns="-16200" anchor="t" anchorCtr="1">
            <a:noAutofit/>
          </a:bodyPr>
          <a:p>
            <a:endParaRPr b="0" lang="en-US" sz="1800" strike="noStrike" u="none">
              <a:solidFill>
                <a:srgbClr val="000000"/>
              </a:solidFill>
              <a:effectLst/>
              <a:uFillTx/>
              <a:latin typeface="Arial"/>
            </a:endParaRPr>
          </a:p>
        </p:txBody>
      </p:sp>
      <p:sp>
        <p:nvSpPr>
          <p:cNvPr id="439" name="Shape 73"/>
          <p:cNvSpPr/>
          <p:nvPr/>
        </p:nvSpPr>
        <p:spPr>
          <a:xfrm>
            <a:off x="9882720" y="277920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40" name="Shape 74"/>
          <p:cNvSpPr/>
          <p:nvPr/>
        </p:nvSpPr>
        <p:spPr>
          <a:xfrm>
            <a:off x="9882720" y="375876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41" name="Text 75"/>
          <p:cNvSpPr/>
          <p:nvPr/>
        </p:nvSpPr>
        <p:spPr>
          <a:xfrm>
            <a:off x="983880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4</a:t>
            </a:r>
            <a:endParaRPr b="0" lang="en-US" sz="900" strike="noStrike" u="none">
              <a:solidFill>
                <a:srgbClr val="000000"/>
              </a:solidFill>
              <a:effectLst/>
              <a:uFillTx/>
              <a:latin typeface="Arial"/>
            </a:endParaRPr>
          </a:p>
        </p:txBody>
      </p:sp>
      <p:sp>
        <p:nvSpPr>
          <p:cNvPr id="442" name="Shape 76"/>
          <p:cNvSpPr/>
          <p:nvPr/>
        </p:nvSpPr>
        <p:spPr>
          <a:xfrm>
            <a:off x="9939240" y="2835720"/>
            <a:ext cx="1015200" cy="518400"/>
          </a:xfrm>
          <a:prstGeom prst="line">
            <a:avLst/>
          </a:prstGeom>
          <a:ln w="2667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3" name="Shape 77"/>
          <p:cNvSpPr/>
          <p:nvPr/>
        </p:nvSpPr>
        <p:spPr>
          <a:xfrm>
            <a:off x="9939240" y="3815280"/>
            <a:ext cx="1015200" cy="115200"/>
          </a:xfrm>
          <a:prstGeom prst="line">
            <a:avLst/>
          </a:prstGeom>
          <a:ln w="26670">
            <a:solidFill>
              <a:srgbClr val="d9794a"/>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44" name="Shape 78"/>
          <p:cNvSpPr/>
          <p:nvPr/>
        </p:nvSpPr>
        <p:spPr>
          <a:xfrm>
            <a:off x="10897920" y="3297960"/>
            <a:ext cx="113760" cy="11376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45" name="Shape 79"/>
          <p:cNvSpPr/>
          <p:nvPr/>
        </p:nvSpPr>
        <p:spPr>
          <a:xfrm>
            <a:off x="10897920" y="3873960"/>
            <a:ext cx="113760" cy="11376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6000" bIns="36000" anchor="t">
            <a:noAutofit/>
          </a:bodyPr>
          <a:p>
            <a:pPr>
              <a:lnSpc>
                <a:spcPct val="100000"/>
              </a:lnSpc>
            </a:pPr>
            <a:endParaRPr b="0" lang="en-US" sz="1800" strike="noStrike" u="none">
              <a:solidFill>
                <a:srgbClr val="ffffff"/>
              </a:solidFill>
              <a:effectLst/>
              <a:uFillTx/>
              <a:latin typeface="Arial"/>
            </a:endParaRPr>
          </a:p>
        </p:txBody>
      </p:sp>
      <p:sp>
        <p:nvSpPr>
          <p:cNvPr id="446" name="Text 80"/>
          <p:cNvSpPr/>
          <p:nvPr/>
        </p:nvSpPr>
        <p:spPr>
          <a:xfrm>
            <a:off x="10854000" y="4645080"/>
            <a:ext cx="227880" cy="18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5</a:t>
            </a:r>
            <a:endParaRPr b="0" lang="en-US" sz="900" strike="noStrike" u="none">
              <a:solidFill>
                <a:srgbClr val="000000"/>
              </a:solidFill>
              <a:effectLst/>
              <a:uFillTx/>
              <a:latin typeface="Arial"/>
            </a:endParaRPr>
          </a:p>
        </p:txBody>
      </p:sp>
      <p:sp>
        <p:nvSpPr>
          <p:cNvPr id="447" name="Shape 81"/>
          <p:cNvSpPr/>
          <p:nvPr/>
        </p:nvSpPr>
        <p:spPr>
          <a:xfrm>
            <a:off x="6428160" y="5202720"/>
            <a:ext cx="4800600" cy="360"/>
          </a:xfrm>
          <a:prstGeom prst="line">
            <a:avLst/>
          </a:prstGeom>
          <a:ln w="889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48" name="Text 82"/>
          <p:cNvSpPr/>
          <p:nvPr/>
        </p:nvSpPr>
        <p:spPr>
          <a:xfrm>
            <a:off x="6510600" y="5321880"/>
            <a:ext cx="25228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287f80"/>
                </a:solidFill>
                <a:effectLst/>
                <a:uFillTx/>
                <a:latin typeface="Inter"/>
                <a:ea typeface="Inter"/>
              </a:rPr>
              <a:t>KNN 75.5 ± 7.6</a:t>
            </a:r>
            <a:endParaRPr b="0" lang="en-US" sz="1400" strike="noStrike" u="none">
              <a:solidFill>
                <a:srgbClr val="000000"/>
              </a:solidFill>
              <a:effectLst/>
              <a:uFillTx/>
              <a:latin typeface="Arial"/>
            </a:endParaRPr>
          </a:p>
        </p:txBody>
      </p:sp>
      <p:sp>
        <p:nvSpPr>
          <p:cNvPr id="449" name="Text 83"/>
          <p:cNvSpPr/>
          <p:nvPr/>
        </p:nvSpPr>
        <p:spPr>
          <a:xfrm>
            <a:off x="8986320" y="5321880"/>
            <a:ext cx="2154960" cy="3103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1" lang="en-US" sz="1400" strike="noStrike" u="none">
                <a:solidFill>
                  <a:srgbClr val="d9794a"/>
                </a:solidFill>
                <a:effectLst/>
                <a:uFillTx/>
                <a:latin typeface="Inter"/>
                <a:ea typeface="Inter"/>
              </a:rPr>
              <a:t>DT 62.3 ± 3.7</a:t>
            </a:r>
            <a:endParaRPr b="0" lang="en-US" sz="1400" strike="noStrike" u="none">
              <a:solidFill>
                <a:srgbClr val="000000"/>
              </a:solidFill>
              <a:effectLst/>
              <a:uFillTx/>
              <a:latin typeface="Arial"/>
            </a:endParaRPr>
          </a:p>
        </p:txBody>
      </p:sp>
      <p:sp>
        <p:nvSpPr>
          <p:cNvPr id="450" name="Shape 84"/>
          <p:cNvSpPr/>
          <p:nvPr/>
        </p:nvSpPr>
        <p:spPr>
          <a:xfrm>
            <a:off x="3940920" y="5925240"/>
            <a:ext cx="118080" cy="11808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38880" bIns="38880" anchor="t">
            <a:noAutofit/>
          </a:bodyPr>
          <a:p>
            <a:pPr>
              <a:lnSpc>
                <a:spcPct val="100000"/>
              </a:lnSpc>
            </a:pPr>
            <a:endParaRPr b="0" lang="en-US" sz="1800" strike="noStrike" u="none">
              <a:solidFill>
                <a:srgbClr val="ffffff"/>
              </a:solidFill>
              <a:effectLst/>
              <a:uFillTx/>
              <a:latin typeface="Arial"/>
            </a:endParaRPr>
          </a:p>
        </p:txBody>
      </p:sp>
      <p:sp>
        <p:nvSpPr>
          <p:cNvPr id="451" name="Text 85"/>
          <p:cNvSpPr/>
          <p:nvPr/>
        </p:nvSpPr>
        <p:spPr>
          <a:xfrm>
            <a:off x="4123800" y="5870520"/>
            <a:ext cx="73080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KNN</a:t>
            </a:r>
            <a:endParaRPr b="0" lang="en-US" sz="1100" strike="noStrike" u="none">
              <a:solidFill>
                <a:srgbClr val="000000"/>
              </a:solidFill>
              <a:effectLst/>
              <a:uFillTx/>
              <a:latin typeface="Arial"/>
            </a:endParaRPr>
          </a:p>
        </p:txBody>
      </p:sp>
      <p:sp>
        <p:nvSpPr>
          <p:cNvPr id="452" name="Shape 86"/>
          <p:cNvSpPr/>
          <p:nvPr/>
        </p:nvSpPr>
        <p:spPr>
          <a:xfrm>
            <a:off x="5029200" y="5925240"/>
            <a:ext cx="118080" cy="11808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38880" bIns="38880" anchor="t">
            <a:noAutofit/>
          </a:bodyPr>
          <a:p>
            <a:pPr>
              <a:lnSpc>
                <a:spcPct val="100000"/>
              </a:lnSpc>
            </a:pPr>
            <a:endParaRPr b="0" lang="en-US" sz="1800" strike="noStrike" u="none">
              <a:solidFill>
                <a:srgbClr val="ffffff"/>
              </a:solidFill>
              <a:effectLst/>
              <a:uFillTx/>
              <a:latin typeface="Arial"/>
            </a:endParaRPr>
          </a:p>
        </p:txBody>
      </p:sp>
      <p:sp>
        <p:nvSpPr>
          <p:cNvPr id="453" name="Text 87"/>
          <p:cNvSpPr/>
          <p:nvPr/>
        </p:nvSpPr>
        <p:spPr>
          <a:xfrm>
            <a:off x="5212080" y="5870520"/>
            <a:ext cx="18554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Decision Tree</a:t>
            </a:r>
            <a:endParaRPr b="0" lang="en-US" sz="1100" strike="noStrike" u="none">
              <a:solidFill>
                <a:srgbClr val="000000"/>
              </a:solidFill>
              <a:effectLst/>
              <a:uFillTx/>
              <a:latin typeface="Arial"/>
            </a:endParaRPr>
          </a:p>
        </p:txBody>
      </p:sp>
      <p:sp>
        <p:nvSpPr>
          <p:cNvPr id="454" name="Text 88"/>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Mean ± standard deviation in percentage points; 117-image holdout excluded from CV.</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456" name="Shape 1"/>
          <p:cNvSpPr/>
          <p:nvPr/>
        </p:nvSpPr>
        <p:spPr>
          <a:xfrm>
            <a:off x="567000" y="356760"/>
            <a:ext cx="225972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457" name="Text 2"/>
          <p:cNvSpPr/>
          <p:nvPr/>
        </p:nvSpPr>
        <p:spPr>
          <a:xfrm>
            <a:off x="676800" y="379440"/>
            <a:ext cx="20401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458"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One nearest neighbor changes the result</a:t>
            </a:r>
            <a:endParaRPr b="0" lang="en-US" sz="3000" strike="noStrike" u="none">
              <a:solidFill>
                <a:srgbClr val="000000"/>
              </a:solidFill>
              <a:effectLst/>
              <a:uFillTx/>
              <a:latin typeface="Arial"/>
            </a:endParaRPr>
          </a:p>
        </p:txBody>
      </p:sp>
      <p:sp>
        <p:nvSpPr>
          <p:cNvPr id="459"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GridSearchCV selected hyperparameters using mean macro-F1 across five folds.</a:t>
            </a:r>
            <a:endParaRPr b="0" lang="en-US" sz="1430" strike="noStrike" u="none">
              <a:solidFill>
                <a:srgbClr val="000000"/>
              </a:solidFill>
              <a:effectLst/>
              <a:uFillTx/>
              <a:latin typeface="Arial"/>
            </a:endParaRPr>
          </a:p>
        </p:txBody>
      </p:sp>
      <p:sp>
        <p:nvSpPr>
          <p:cNvPr id="46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61"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462"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11  /  21</a:t>
            </a:r>
            <a:endParaRPr b="0" lang="en-US" sz="900" strike="noStrike" u="none">
              <a:solidFill>
                <a:srgbClr val="000000"/>
              </a:solidFill>
              <a:effectLst/>
              <a:uFillTx/>
              <a:latin typeface="Arial"/>
            </a:endParaRPr>
          </a:p>
        </p:txBody>
      </p:sp>
      <p:sp>
        <p:nvSpPr>
          <p:cNvPr id="463" name="Shape 8"/>
          <p:cNvSpPr/>
          <p:nvPr/>
        </p:nvSpPr>
        <p:spPr>
          <a:xfrm>
            <a:off x="694800" y="2167200"/>
            <a:ext cx="7259760" cy="3391560"/>
          </a:xfrm>
          <a:prstGeom prst="roundRect">
            <a:avLst>
              <a:gd name="adj" fmla="val 4043"/>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464" name="Text 9"/>
          <p:cNvSpPr/>
          <p:nvPr/>
        </p:nvSpPr>
        <p:spPr>
          <a:xfrm>
            <a:off x="932760" y="2368440"/>
            <a:ext cx="64000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MEAN CV MACRO-F1 BY NUMBER OF NEIGHBORS</a:t>
            </a:r>
            <a:endParaRPr b="0" lang="en-US" sz="1100" strike="noStrike" u="none">
              <a:solidFill>
                <a:srgbClr val="000000"/>
              </a:solidFill>
              <a:effectLst/>
              <a:uFillTx/>
              <a:latin typeface="Arial"/>
            </a:endParaRPr>
          </a:p>
        </p:txBody>
      </p:sp>
      <p:sp>
        <p:nvSpPr>
          <p:cNvPr id="465" name="Shape 10"/>
          <p:cNvSpPr/>
          <p:nvPr/>
        </p:nvSpPr>
        <p:spPr>
          <a:xfrm>
            <a:off x="1371600" y="479124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66" name="Text 11"/>
          <p:cNvSpPr/>
          <p:nvPr/>
        </p:nvSpPr>
        <p:spPr>
          <a:xfrm>
            <a:off x="932760" y="4709160"/>
            <a:ext cx="31932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0.6</a:t>
            </a:r>
            <a:endParaRPr b="0" lang="en-US" sz="900" strike="noStrike" u="none">
              <a:solidFill>
                <a:srgbClr val="000000"/>
              </a:solidFill>
              <a:effectLst/>
              <a:uFillTx/>
              <a:latin typeface="Arial"/>
            </a:endParaRPr>
          </a:p>
        </p:txBody>
      </p:sp>
      <p:sp>
        <p:nvSpPr>
          <p:cNvPr id="467" name="Shape 12"/>
          <p:cNvSpPr/>
          <p:nvPr/>
        </p:nvSpPr>
        <p:spPr>
          <a:xfrm>
            <a:off x="1371600" y="416952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68" name="Text 13"/>
          <p:cNvSpPr/>
          <p:nvPr/>
        </p:nvSpPr>
        <p:spPr>
          <a:xfrm>
            <a:off x="932760" y="4087440"/>
            <a:ext cx="31932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0.7</a:t>
            </a:r>
            <a:endParaRPr b="0" lang="en-US" sz="900" strike="noStrike" u="none">
              <a:solidFill>
                <a:srgbClr val="000000"/>
              </a:solidFill>
              <a:effectLst/>
              <a:uFillTx/>
              <a:latin typeface="Arial"/>
            </a:endParaRPr>
          </a:p>
        </p:txBody>
      </p:sp>
      <p:sp>
        <p:nvSpPr>
          <p:cNvPr id="469" name="Shape 14"/>
          <p:cNvSpPr/>
          <p:nvPr/>
        </p:nvSpPr>
        <p:spPr>
          <a:xfrm>
            <a:off x="1371600" y="354780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70" name="Text 15"/>
          <p:cNvSpPr/>
          <p:nvPr/>
        </p:nvSpPr>
        <p:spPr>
          <a:xfrm>
            <a:off x="932760" y="3465720"/>
            <a:ext cx="31932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0.8</a:t>
            </a:r>
            <a:endParaRPr b="0" lang="en-US" sz="900" strike="noStrike" u="none">
              <a:solidFill>
                <a:srgbClr val="000000"/>
              </a:solidFill>
              <a:effectLst/>
              <a:uFillTx/>
              <a:latin typeface="Arial"/>
            </a:endParaRPr>
          </a:p>
        </p:txBody>
      </p:sp>
      <p:sp>
        <p:nvSpPr>
          <p:cNvPr id="471" name="Shape 16"/>
          <p:cNvSpPr/>
          <p:nvPr/>
        </p:nvSpPr>
        <p:spPr>
          <a:xfrm>
            <a:off x="1371600" y="2926080"/>
            <a:ext cx="5833800" cy="360"/>
          </a:xfrm>
          <a:prstGeom prst="line">
            <a:avLst/>
          </a:prstGeom>
          <a:ln w="8890">
            <a:solidFill>
              <a:srgbClr val="dadfd7"/>
            </a:solidFill>
            <a:prstDash val="dash"/>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72" name="Text 17"/>
          <p:cNvSpPr/>
          <p:nvPr/>
        </p:nvSpPr>
        <p:spPr>
          <a:xfrm>
            <a:off x="932760" y="2843640"/>
            <a:ext cx="31932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667573"/>
                </a:solidFill>
                <a:effectLst/>
                <a:uFillTx/>
                <a:latin typeface="Inter"/>
                <a:ea typeface="Inter"/>
              </a:rPr>
              <a:t>0.9</a:t>
            </a:r>
            <a:endParaRPr b="0" lang="en-US" sz="900" strike="noStrike" u="none">
              <a:solidFill>
                <a:srgbClr val="000000"/>
              </a:solidFill>
              <a:effectLst/>
              <a:uFillTx/>
              <a:latin typeface="Arial"/>
            </a:endParaRPr>
          </a:p>
        </p:txBody>
      </p:sp>
      <p:sp>
        <p:nvSpPr>
          <p:cNvPr id="473" name="Shape 18"/>
          <p:cNvSpPr/>
          <p:nvPr/>
        </p:nvSpPr>
        <p:spPr>
          <a:xfrm>
            <a:off x="1293840" y="2935440"/>
            <a:ext cx="154800" cy="154800"/>
          </a:xfrm>
          <a:prstGeom prst="ellipse">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4" name="Text 19"/>
          <p:cNvSpPr/>
          <p:nvPr/>
        </p:nvSpPr>
        <p:spPr>
          <a:xfrm>
            <a:off x="1143000" y="4946760"/>
            <a:ext cx="48384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k=1</a:t>
            </a:r>
            <a:endParaRPr b="0" lang="en-US" sz="1100" strike="noStrike" u="none">
              <a:solidFill>
                <a:srgbClr val="000000"/>
              </a:solidFill>
              <a:effectLst/>
              <a:uFillTx/>
              <a:latin typeface="Arial"/>
            </a:endParaRPr>
          </a:p>
        </p:txBody>
      </p:sp>
      <p:sp>
        <p:nvSpPr>
          <p:cNvPr id="475" name="Text 20"/>
          <p:cNvSpPr/>
          <p:nvPr/>
        </p:nvSpPr>
        <p:spPr>
          <a:xfrm>
            <a:off x="1124640" y="2638080"/>
            <a:ext cx="53892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ce6949"/>
                </a:solidFill>
                <a:effectLst/>
                <a:uFillTx/>
                <a:latin typeface="Inter"/>
                <a:ea typeface="Inter"/>
              </a:rPr>
              <a:t>88.6%</a:t>
            </a:r>
            <a:endParaRPr b="0" lang="en-US" sz="1000" strike="noStrike" u="none">
              <a:solidFill>
                <a:srgbClr val="000000"/>
              </a:solidFill>
              <a:effectLst/>
              <a:uFillTx/>
              <a:latin typeface="Arial"/>
            </a:endParaRPr>
          </a:p>
        </p:txBody>
      </p:sp>
      <p:sp>
        <p:nvSpPr>
          <p:cNvPr id="476" name="Shape 21"/>
          <p:cNvSpPr/>
          <p:nvPr/>
        </p:nvSpPr>
        <p:spPr>
          <a:xfrm>
            <a:off x="1371600" y="3012840"/>
            <a:ext cx="1458360" cy="39168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77" name="Shape 22"/>
          <p:cNvSpPr/>
          <p:nvPr/>
        </p:nvSpPr>
        <p:spPr>
          <a:xfrm>
            <a:off x="2752200" y="3327120"/>
            <a:ext cx="154800" cy="15480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78" name="Text 23"/>
          <p:cNvSpPr/>
          <p:nvPr/>
        </p:nvSpPr>
        <p:spPr>
          <a:xfrm>
            <a:off x="2601360" y="4946760"/>
            <a:ext cx="48384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k=3</a:t>
            </a:r>
            <a:endParaRPr b="0" lang="en-US" sz="1100" strike="noStrike" u="none">
              <a:solidFill>
                <a:srgbClr val="000000"/>
              </a:solidFill>
              <a:effectLst/>
              <a:uFillTx/>
              <a:latin typeface="Arial"/>
            </a:endParaRPr>
          </a:p>
        </p:txBody>
      </p:sp>
      <p:sp>
        <p:nvSpPr>
          <p:cNvPr id="479" name="Text 24"/>
          <p:cNvSpPr/>
          <p:nvPr/>
        </p:nvSpPr>
        <p:spPr>
          <a:xfrm>
            <a:off x="2583360" y="3030120"/>
            <a:ext cx="53892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82.3%</a:t>
            </a:r>
            <a:endParaRPr b="0" lang="en-US" sz="1000" strike="noStrike" u="none">
              <a:solidFill>
                <a:srgbClr val="000000"/>
              </a:solidFill>
              <a:effectLst/>
              <a:uFillTx/>
              <a:latin typeface="Arial"/>
            </a:endParaRPr>
          </a:p>
        </p:txBody>
      </p:sp>
      <p:sp>
        <p:nvSpPr>
          <p:cNvPr id="480" name="Shape 25"/>
          <p:cNvSpPr/>
          <p:nvPr/>
        </p:nvSpPr>
        <p:spPr>
          <a:xfrm>
            <a:off x="2829960" y="3404520"/>
            <a:ext cx="1458360" cy="42300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81" name="Shape 26"/>
          <p:cNvSpPr/>
          <p:nvPr/>
        </p:nvSpPr>
        <p:spPr>
          <a:xfrm>
            <a:off x="4210920" y="3750120"/>
            <a:ext cx="154800" cy="15480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2" name="Text 27"/>
          <p:cNvSpPr/>
          <p:nvPr/>
        </p:nvSpPr>
        <p:spPr>
          <a:xfrm>
            <a:off x="4060080" y="4946760"/>
            <a:ext cx="48384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k=5</a:t>
            </a:r>
            <a:endParaRPr b="0" lang="en-US" sz="1100" strike="noStrike" u="none">
              <a:solidFill>
                <a:srgbClr val="000000"/>
              </a:solidFill>
              <a:effectLst/>
              <a:uFillTx/>
              <a:latin typeface="Arial"/>
            </a:endParaRPr>
          </a:p>
        </p:txBody>
      </p:sp>
      <p:sp>
        <p:nvSpPr>
          <p:cNvPr id="483" name="Text 28"/>
          <p:cNvSpPr/>
          <p:nvPr/>
        </p:nvSpPr>
        <p:spPr>
          <a:xfrm>
            <a:off x="4041720" y="3452760"/>
            <a:ext cx="53892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75.5%</a:t>
            </a:r>
            <a:endParaRPr b="0" lang="en-US" sz="1000" strike="noStrike" u="none">
              <a:solidFill>
                <a:srgbClr val="000000"/>
              </a:solidFill>
              <a:effectLst/>
              <a:uFillTx/>
              <a:latin typeface="Arial"/>
            </a:endParaRPr>
          </a:p>
        </p:txBody>
      </p:sp>
      <p:sp>
        <p:nvSpPr>
          <p:cNvPr id="484" name="Shape 29"/>
          <p:cNvSpPr/>
          <p:nvPr/>
        </p:nvSpPr>
        <p:spPr>
          <a:xfrm>
            <a:off x="4288320" y="3827520"/>
            <a:ext cx="1458360" cy="28584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85" name="Shape 30"/>
          <p:cNvSpPr/>
          <p:nvPr/>
        </p:nvSpPr>
        <p:spPr>
          <a:xfrm>
            <a:off x="5669280" y="4035960"/>
            <a:ext cx="154800" cy="15480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86" name="Text 31"/>
          <p:cNvSpPr/>
          <p:nvPr/>
        </p:nvSpPr>
        <p:spPr>
          <a:xfrm>
            <a:off x="5518440" y="4946760"/>
            <a:ext cx="48384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k=7</a:t>
            </a:r>
            <a:endParaRPr b="0" lang="en-US" sz="1100" strike="noStrike" u="none">
              <a:solidFill>
                <a:srgbClr val="000000"/>
              </a:solidFill>
              <a:effectLst/>
              <a:uFillTx/>
              <a:latin typeface="Arial"/>
            </a:endParaRPr>
          </a:p>
        </p:txBody>
      </p:sp>
      <p:sp>
        <p:nvSpPr>
          <p:cNvPr id="487" name="Text 32"/>
          <p:cNvSpPr/>
          <p:nvPr/>
        </p:nvSpPr>
        <p:spPr>
          <a:xfrm>
            <a:off x="5500080" y="3738960"/>
            <a:ext cx="53892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70.9%</a:t>
            </a:r>
            <a:endParaRPr b="0" lang="en-US" sz="1000" strike="noStrike" u="none">
              <a:solidFill>
                <a:srgbClr val="000000"/>
              </a:solidFill>
              <a:effectLst/>
              <a:uFillTx/>
              <a:latin typeface="Arial"/>
            </a:endParaRPr>
          </a:p>
        </p:txBody>
      </p:sp>
      <p:sp>
        <p:nvSpPr>
          <p:cNvPr id="488" name="Shape 33"/>
          <p:cNvSpPr/>
          <p:nvPr/>
        </p:nvSpPr>
        <p:spPr>
          <a:xfrm>
            <a:off x="5746680" y="4113360"/>
            <a:ext cx="1458720" cy="205200"/>
          </a:xfrm>
          <a:prstGeom prst="line">
            <a:avLst/>
          </a:prstGeom>
          <a:ln w="33020">
            <a:solidFill>
              <a:srgbClr val="287f8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489" name="Shape 34"/>
          <p:cNvSpPr/>
          <p:nvPr/>
        </p:nvSpPr>
        <p:spPr>
          <a:xfrm>
            <a:off x="7127640" y="4241160"/>
            <a:ext cx="154800" cy="154800"/>
          </a:xfrm>
          <a:prstGeom prst="ellipse">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0" name="Text 35"/>
          <p:cNvSpPr/>
          <p:nvPr/>
        </p:nvSpPr>
        <p:spPr>
          <a:xfrm>
            <a:off x="6976800" y="4946760"/>
            <a:ext cx="48384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67573"/>
                </a:solidFill>
                <a:effectLst/>
                <a:uFillTx/>
                <a:latin typeface="Inter"/>
                <a:ea typeface="Inter"/>
              </a:rPr>
              <a:t>k=9</a:t>
            </a:r>
            <a:endParaRPr b="0" lang="en-US" sz="1100" strike="noStrike" u="none">
              <a:solidFill>
                <a:srgbClr val="000000"/>
              </a:solidFill>
              <a:effectLst/>
              <a:uFillTx/>
              <a:latin typeface="Arial"/>
            </a:endParaRPr>
          </a:p>
        </p:txBody>
      </p:sp>
      <p:sp>
        <p:nvSpPr>
          <p:cNvPr id="491" name="Text 36"/>
          <p:cNvSpPr/>
          <p:nvPr/>
        </p:nvSpPr>
        <p:spPr>
          <a:xfrm>
            <a:off x="6958440" y="3944160"/>
            <a:ext cx="53892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132b2d"/>
                </a:solidFill>
                <a:effectLst/>
                <a:uFillTx/>
                <a:latin typeface="Inter"/>
                <a:ea typeface="Inter"/>
              </a:rPr>
              <a:t>67.6%</a:t>
            </a:r>
            <a:endParaRPr b="0" lang="en-US" sz="1000" strike="noStrike" u="none">
              <a:solidFill>
                <a:srgbClr val="000000"/>
              </a:solidFill>
              <a:effectLst/>
              <a:uFillTx/>
              <a:latin typeface="Arial"/>
            </a:endParaRPr>
          </a:p>
        </p:txBody>
      </p:sp>
      <p:sp>
        <p:nvSpPr>
          <p:cNvPr id="492" name="Shape 37"/>
          <p:cNvSpPr/>
          <p:nvPr/>
        </p:nvSpPr>
        <p:spPr>
          <a:xfrm>
            <a:off x="8174880" y="2167200"/>
            <a:ext cx="3263760" cy="3391560"/>
          </a:xfrm>
          <a:prstGeom prst="roundRect">
            <a:avLst>
              <a:gd name="adj" fmla="val 4482"/>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493" name="Text 38"/>
          <p:cNvSpPr/>
          <p:nvPr/>
        </p:nvSpPr>
        <p:spPr>
          <a:xfrm>
            <a:off x="8467200" y="2569320"/>
            <a:ext cx="2705760" cy="739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e7ac60"/>
                </a:solidFill>
                <a:effectLst/>
                <a:uFillTx/>
                <a:latin typeface="Inter"/>
                <a:ea typeface="Inter"/>
              </a:rPr>
              <a:t>k = 1</a:t>
            </a:r>
            <a:endParaRPr b="0" lang="en-US" sz="3800" strike="noStrike" u="none">
              <a:solidFill>
                <a:srgbClr val="000000"/>
              </a:solidFill>
              <a:effectLst/>
              <a:uFillTx/>
              <a:latin typeface="Arial"/>
            </a:endParaRPr>
          </a:p>
        </p:txBody>
      </p:sp>
      <p:sp>
        <p:nvSpPr>
          <p:cNvPr id="494" name="Text 39"/>
          <p:cNvSpPr/>
          <p:nvPr/>
        </p:nvSpPr>
        <p:spPr>
          <a:xfrm>
            <a:off x="8476560" y="3328560"/>
            <a:ext cx="2577960" cy="319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ffffff"/>
                </a:solidFill>
                <a:effectLst/>
                <a:uFillTx/>
                <a:latin typeface="Inter"/>
                <a:ea typeface="Inter"/>
              </a:rPr>
              <a:t>Best KNN setting</a:t>
            </a:r>
            <a:endParaRPr b="0" lang="en-US" sz="1500" strike="noStrike" u="none">
              <a:solidFill>
                <a:srgbClr val="000000"/>
              </a:solidFill>
              <a:effectLst/>
              <a:uFillTx/>
              <a:latin typeface="Arial"/>
            </a:endParaRPr>
          </a:p>
        </p:txBody>
      </p:sp>
      <p:sp>
        <p:nvSpPr>
          <p:cNvPr id="495" name="Shape 40"/>
          <p:cNvSpPr/>
          <p:nvPr/>
        </p:nvSpPr>
        <p:spPr>
          <a:xfrm>
            <a:off x="8476200" y="3803760"/>
            <a:ext cx="2615400" cy="360"/>
          </a:xfrm>
          <a:prstGeom prst="line">
            <a:avLst/>
          </a:prstGeom>
          <a:ln w="12700">
            <a:solidFill>
              <a:srgbClr val="537173"/>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96" name="Text 41"/>
          <p:cNvSpPr/>
          <p:nvPr/>
        </p:nvSpPr>
        <p:spPr>
          <a:xfrm>
            <a:off x="8467200" y="4005000"/>
            <a:ext cx="251388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c2d7d1"/>
                </a:solidFill>
                <a:effectLst/>
                <a:uFillTx/>
                <a:latin typeface="Inter"/>
                <a:ea typeface="Inter"/>
              </a:rPr>
              <a:t>Decision Tree</a:t>
            </a:r>
            <a:endParaRPr b="0" lang="en-US" sz="1400" strike="noStrike" u="none">
              <a:solidFill>
                <a:srgbClr val="000000"/>
              </a:solidFill>
              <a:effectLst/>
              <a:uFillTx/>
              <a:latin typeface="Arial"/>
            </a:endParaRPr>
          </a:p>
        </p:txBody>
      </p:sp>
      <p:sp>
        <p:nvSpPr>
          <p:cNvPr id="497" name="Text 42"/>
          <p:cNvSpPr/>
          <p:nvPr/>
        </p:nvSpPr>
        <p:spPr>
          <a:xfrm>
            <a:off x="8467200" y="4434840"/>
            <a:ext cx="2605320" cy="392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Best depth: 10</a:t>
            </a:r>
            <a:endParaRPr b="0" lang="en-US" sz="2100" strike="noStrike" u="none">
              <a:solidFill>
                <a:srgbClr val="000000"/>
              </a:solidFill>
              <a:effectLst/>
              <a:uFillTx/>
              <a:latin typeface="Arial"/>
            </a:endParaRPr>
          </a:p>
        </p:txBody>
      </p:sp>
      <p:sp>
        <p:nvSpPr>
          <p:cNvPr id="498" name="Text 43"/>
          <p:cNvSpPr/>
          <p:nvPr/>
        </p:nvSpPr>
        <p:spPr>
          <a:xfrm>
            <a:off x="8467200" y="5001840"/>
            <a:ext cx="266004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b3cac5"/>
                </a:solidFill>
                <a:effectLst/>
                <a:uFillTx/>
                <a:latin typeface="Inter"/>
                <a:ea typeface="Inter"/>
              </a:rPr>
              <a:t>No holdout gain for DT</a:t>
            </a:r>
            <a:endParaRPr b="0" lang="en-US" sz="1100" strike="noStrike" u="none">
              <a:solidFill>
                <a:srgbClr val="000000"/>
              </a:solidFill>
              <a:effectLst/>
              <a:uFillTx/>
              <a:latin typeface="Arial"/>
            </a:endParaRPr>
          </a:p>
        </p:txBody>
      </p:sp>
      <p:sp>
        <p:nvSpPr>
          <p:cNvPr id="499" name="Text 44"/>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Search: KNN k={1,3,5,7,9}; DT max_depth={5,10,15,None}. Selection metric: mean macro-F1.</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01" name="Shape 1"/>
          <p:cNvSpPr/>
          <p:nvPr/>
        </p:nvSpPr>
        <p:spPr>
          <a:xfrm>
            <a:off x="567000" y="356760"/>
            <a:ext cx="225972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02" name="Text 2"/>
          <p:cNvSpPr/>
          <p:nvPr/>
        </p:nvSpPr>
        <p:spPr>
          <a:xfrm>
            <a:off x="676800" y="379440"/>
            <a:ext cx="20401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503"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tuned model gains 12 percentage points</a:t>
            </a:r>
            <a:endParaRPr b="0" lang="en-US" sz="3000" strike="noStrike" u="none">
              <a:solidFill>
                <a:srgbClr val="000000"/>
              </a:solidFill>
              <a:effectLst/>
              <a:uFillTx/>
              <a:latin typeface="Arial"/>
            </a:endParaRPr>
          </a:p>
        </p:txBody>
      </p:sp>
      <p:sp>
        <p:nvSpPr>
          <p:cNvPr id="504"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On the same 117-image holdout, k=1 outperformed the baseline k=5.</a:t>
            </a:r>
            <a:endParaRPr b="0" lang="en-US" sz="1430" strike="noStrike" u="none">
              <a:solidFill>
                <a:srgbClr val="000000"/>
              </a:solidFill>
              <a:effectLst/>
              <a:uFillTx/>
              <a:latin typeface="Arial"/>
            </a:endParaRPr>
          </a:p>
        </p:txBody>
      </p:sp>
      <p:sp>
        <p:nvSpPr>
          <p:cNvPr id="50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06"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507"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12  /  21</a:t>
            </a:r>
            <a:endParaRPr b="0" lang="en-US" sz="900" strike="noStrike" u="none">
              <a:solidFill>
                <a:srgbClr val="000000"/>
              </a:solidFill>
              <a:effectLst/>
              <a:uFillTx/>
              <a:latin typeface="Arial"/>
            </a:endParaRPr>
          </a:p>
        </p:txBody>
      </p:sp>
      <p:sp>
        <p:nvSpPr>
          <p:cNvPr id="508" name="Shape 8"/>
          <p:cNvSpPr/>
          <p:nvPr/>
        </p:nvSpPr>
        <p:spPr>
          <a:xfrm>
            <a:off x="704160" y="2185560"/>
            <a:ext cx="10761840" cy="3099240"/>
          </a:xfrm>
          <a:prstGeom prst="roundRect">
            <a:avLst>
              <a:gd name="adj" fmla="val 5015"/>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09" name="Text 9"/>
          <p:cNvSpPr/>
          <p:nvPr/>
        </p:nvSpPr>
        <p:spPr>
          <a:xfrm>
            <a:off x="1188720" y="2450520"/>
            <a:ext cx="383976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TEST ACCURACY</a:t>
            </a:r>
            <a:endParaRPr b="0" lang="en-US" sz="1100" strike="noStrike" u="none">
              <a:solidFill>
                <a:srgbClr val="000000"/>
              </a:solidFill>
              <a:effectLst/>
              <a:uFillTx/>
              <a:latin typeface="Arial"/>
            </a:endParaRPr>
          </a:p>
        </p:txBody>
      </p:sp>
      <p:sp>
        <p:nvSpPr>
          <p:cNvPr id="510" name="Text 10"/>
          <p:cNvSpPr/>
          <p:nvPr/>
        </p:nvSpPr>
        <p:spPr>
          <a:xfrm>
            <a:off x="1188720" y="2962800"/>
            <a:ext cx="1023480" cy="401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132b2d"/>
                </a:solidFill>
                <a:effectLst/>
                <a:uFillTx/>
                <a:latin typeface="Inter"/>
                <a:ea typeface="Inter"/>
              </a:rPr>
              <a:t>k = 5</a:t>
            </a:r>
            <a:endParaRPr b="0" lang="en-US" sz="1700" strike="noStrike" u="none">
              <a:solidFill>
                <a:srgbClr val="000000"/>
              </a:solidFill>
              <a:effectLst/>
              <a:uFillTx/>
              <a:latin typeface="Arial"/>
            </a:endParaRPr>
          </a:p>
        </p:txBody>
      </p:sp>
      <p:sp>
        <p:nvSpPr>
          <p:cNvPr id="511" name="Shape 11"/>
          <p:cNvSpPr/>
          <p:nvPr/>
        </p:nvSpPr>
        <p:spPr>
          <a:xfrm>
            <a:off x="2624400" y="3090600"/>
            <a:ext cx="7131600" cy="383400"/>
          </a:xfrm>
          <a:prstGeom prst="roundRect">
            <a:avLst>
              <a:gd name="adj" fmla="val 19048"/>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12" name="Shape 12"/>
          <p:cNvSpPr/>
          <p:nvPr/>
        </p:nvSpPr>
        <p:spPr>
          <a:xfrm>
            <a:off x="2624400" y="3090600"/>
            <a:ext cx="5362920" cy="383400"/>
          </a:xfrm>
          <a:prstGeom prst="roundRect">
            <a:avLst>
              <a:gd name="adj" fmla="val 19048"/>
            </a:avLst>
          </a:prstGeom>
          <a:solidFill>
            <a:srgbClr val="5a86a4"/>
          </a:solidFill>
          <a:ln w="12700">
            <a:solidFill>
              <a:srgbClr val="5a86a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3" name="Text 13"/>
          <p:cNvSpPr/>
          <p:nvPr/>
        </p:nvSpPr>
        <p:spPr>
          <a:xfrm>
            <a:off x="9939600" y="3008520"/>
            <a:ext cx="959400" cy="41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5a86a4"/>
                </a:solidFill>
                <a:effectLst/>
                <a:uFillTx/>
                <a:latin typeface="Inter"/>
                <a:ea typeface="Inter"/>
              </a:rPr>
              <a:t>75.2%</a:t>
            </a:r>
            <a:endParaRPr b="0" lang="en-US" sz="1900" strike="noStrike" u="none">
              <a:solidFill>
                <a:srgbClr val="000000"/>
              </a:solidFill>
              <a:effectLst/>
              <a:uFillTx/>
              <a:latin typeface="Arial"/>
            </a:endParaRPr>
          </a:p>
        </p:txBody>
      </p:sp>
      <p:sp>
        <p:nvSpPr>
          <p:cNvPr id="514" name="Text 14"/>
          <p:cNvSpPr/>
          <p:nvPr/>
        </p:nvSpPr>
        <p:spPr>
          <a:xfrm>
            <a:off x="1188720" y="3986640"/>
            <a:ext cx="1023480" cy="401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132b2d"/>
                </a:solidFill>
                <a:effectLst/>
                <a:uFillTx/>
                <a:latin typeface="Inter"/>
                <a:ea typeface="Inter"/>
              </a:rPr>
              <a:t>k = 1</a:t>
            </a:r>
            <a:endParaRPr b="0" lang="en-US" sz="1700" strike="noStrike" u="none">
              <a:solidFill>
                <a:srgbClr val="000000"/>
              </a:solidFill>
              <a:effectLst/>
              <a:uFillTx/>
              <a:latin typeface="Arial"/>
            </a:endParaRPr>
          </a:p>
        </p:txBody>
      </p:sp>
      <p:sp>
        <p:nvSpPr>
          <p:cNvPr id="515" name="Shape 15"/>
          <p:cNvSpPr/>
          <p:nvPr/>
        </p:nvSpPr>
        <p:spPr>
          <a:xfrm>
            <a:off x="2624400" y="4105800"/>
            <a:ext cx="7131600" cy="383400"/>
          </a:xfrm>
          <a:prstGeom prst="roundRect">
            <a:avLst>
              <a:gd name="adj" fmla="val 19048"/>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16" name="Shape 16"/>
          <p:cNvSpPr/>
          <p:nvPr/>
        </p:nvSpPr>
        <p:spPr>
          <a:xfrm>
            <a:off x="2624400" y="4105800"/>
            <a:ext cx="6218640" cy="383400"/>
          </a:xfrm>
          <a:prstGeom prst="roundRect">
            <a:avLst>
              <a:gd name="adj" fmla="val 19048"/>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17" name="Text 17"/>
          <p:cNvSpPr/>
          <p:nvPr/>
        </p:nvSpPr>
        <p:spPr>
          <a:xfrm>
            <a:off x="9939600" y="4023360"/>
            <a:ext cx="959400" cy="419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900" strike="noStrike" u="none">
                <a:solidFill>
                  <a:srgbClr val="287f80"/>
                </a:solidFill>
                <a:effectLst/>
                <a:uFillTx/>
                <a:latin typeface="Inter"/>
                <a:ea typeface="Inter"/>
              </a:rPr>
              <a:t>87.2%</a:t>
            </a:r>
            <a:endParaRPr b="0" lang="en-US" sz="1900" strike="noStrike" u="none">
              <a:solidFill>
                <a:srgbClr val="000000"/>
              </a:solidFill>
              <a:effectLst/>
              <a:uFillTx/>
              <a:latin typeface="Arial"/>
            </a:endParaRPr>
          </a:p>
        </p:txBody>
      </p:sp>
      <p:sp>
        <p:nvSpPr>
          <p:cNvPr id="518" name="Shape 18"/>
          <p:cNvSpPr/>
          <p:nvPr/>
        </p:nvSpPr>
        <p:spPr>
          <a:xfrm>
            <a:off x="4005000" y="4782240"/>
            <a:ext cx="3400920" cy="264600"/>
          </a:xfrm>
          <a:prstGeom prst="roundRect">
            <a:avLst>
              <a:gd name="adj" fmla="val 3793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19" name="Text 19"/>
          <p:cNvSpPr/>
          <p:nvPr/>
        </p:nvSpPr>
        <p:spPr>
          <a:xfrm>
            <a:off x="4114800" y="4805280"/>
            <a:ext cx="31813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ce6949"/>
                </a:solidFill>
                <a:effectLst/>
                <a:uFillTx/>
                <a:latin typeface="Inter"/>
                <a:ea typeface="Inter"/>
              </a:rPr>
              <a:t>+12.0 PERCENTAGE POINTS</a:t>
            </a:r>
            <a:endParaRPr b="0" lang="en-US" sz="1000" strike="noStrike" u="none">
              <a:solidFill>
                <a:srgbClr val="000000"/>
              </a:solidFill>
              <a:effectLst/>
              <a:uFillTx/>
              <a:latin typeface="Arial"/>
            </a:endParaRPr>
          </a:p>
        </p:txBody>
      </p:sp>
      <p:sp>
        <p:nvSpPr>
          <p:cNvPr id="520" name="Text 20"/>
          <p:cNvSpPr/>
          <p:nvPr/>
        </p:nvSpPr>
        <p:spPr>
          <a:xfrm>
            <a:off x="978480" y="5696640"/>
            <a:ext cx="10103400" cy="374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20" strike="noStrike" u="none">
                <a:solidFill>
                  <a:srgbClr val="667573"/>
                </a:solidFill>
                <a:effectLst/>
                <a:uFillTx/>
                <a:latin typeface="Inter"/>
                <a:ea typeface="Inter"/>
              </a:rPr>
              <a:t>Caution: the same holdout was evaluated repeatedly; this is an observed split-specific improvement.</a:t>
            </a:r>
            <a:endParaRPr b="0" lang="en-US" sz="1320" strike="noStrike" u="none">
              <a:solidFill>
                <a:srgbClr val="000000"/>
              </a:solidFill>
              <a:effectLst/>
              <a:uFillTx/>
              <a:latin typeface="Arial"/>
            </a:endParaRPr>
          </a:p>
        </p:txBody>
      </p:sp>
      <p:sp>
        <p:nvSpPr>
          <p:cNvPr id="521" name="Text 21"/>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Final evaluation on 117 images; tuned test macro-F1 for KNN = 0.870.</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23" name="Shape 1"/>
          <p:cNvSpPr/>
          <p:nvPr/>
        </p:nvSpPr>
        <p:spPr>
          <a:xfrm>
            <a:off x="567000" y="356760"/>
            <a:ext cx="225972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24" name="Text 2"/>
          <p:cNvSpPr/>
          <p:nvPr/>
        </p:nvSpPr>
        <p:spPr>
          <a:xfrm>
            <a:off x="676800" y="379440"/>
            <a:ext cx="20401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525"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Where do the models make mistakes?</a:t>
            </a:r>
            <a:endParaRPr b="0" lang="en-US" sz="3000" strike="noStrike" u="none">
              <a:solidFill>
                <a:srgbClr val="000000"/>
              </a:solidFill>
              <a:effectLst/>
              <a:uFillTx/>
              <a:latin typeface="Arial"/>
            </a:endParaRPr>
          </a:p>
        </p:txBody>
      </p:sp>
      <p:sp>
        <p:nvSpPr>
          <p:cNvPr id="526"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Confusion matrices show that Potassium feldspar is especially challenging.</a:t>
            </a:r>
            <a:endParaRPr b="0" lang="en-US" sz="1430" strike="noStrike" u="none">
              <a:solidFill>
                <a:srgbClr val="000000"/>
              </a:solidFill>
              <a:effectLst/>
              <a:uFillTx/>
              <a:latin typeface="Arial"/>
            </a:endParaRPr>
          </a:p>
        </p:txBody>
      </p:sp>
      <p:sp>
        <p:nvSpPr>
          <p:cNvPr id="527"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28"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529"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13  /  21</a:t>
            </a:r>
            <a:endParaRPr b="0" lang="en-US" sz="900" strike="noStrike" u="none">
              <a:solidFill>
                <a:srgbClr val="000000"/>
              </a:solidFill>
              <a:effectLst/>
              <a:uFillTx/>
              <a:latin typeface="Arial"/>
            </a:endParaRPr>
          </a:p>
        </p:txBody>
      </p:sp>
      <p:sp>
        <p:nvSpPr>
          <p:cNvPr id="530" name="Shape 8"/>
          <p:cNvSpPr/>
          <p:nvPr/>
        </p:nvSpPr>
        <p:spPr>
          <a:xfrm>
            <a:off x="694800" y="2048400"/>
            <a:ext cx="5284440" cy="3675240"/>
          </a:xfrm>
          <a:prstGeom prst="roundRect">
            <a:avLst>
              <a:gd name="adj" fmla="val 3731"/>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31" name="Shape 9"/>
          <p:cNvSpPr/>
          <p:nvPr/>
        </p:nvSpPr>
        <p:spPr>
          <a:xfrm>
            <a:off x="6181200" y="2048400"/>
            <a:ext cx="5284440" cy="3675240"/>
          </a:xfrm>
          <a:prstGeom prst="roundRect">
            <a:avLst>
              <a:gd name="adj" fmla="val 3731"/>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32" name="Text 10"/>
          <p:cNvSpPr/>
          <p:nvPr/>
        </p:nvSpPr>
        <p:spPr>
          <a:xfrm>
            <a:off x="859680" y="2176200"/>
            <a:ext cx="45712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KNN · 102 / 117 CORRECT</a:t>
            </a:r>
            <a:endParaRPr b="0" lang="en-US" sz="1100" strike="noStrike" u="none">
              <a:solidFill>
                <a:srgbClr val="000000"/>
              </a:solidFill>
              <a:effectLst/>
              <a:uFillTx/>
              <a:latin typeface="Arial"/>
            </a:endParaRPr>
          </a:p>
        </p:txBody>
      </p:sp>
      <p:sp>
        <p:nvSpPr>
          <p:cNvPr id="533" name="Text 11"/>
          <p:cNvSpPr/>
          <p:nvPr/>
        </p:nvSpPr>
        <p:spPr>
          <a:xfrm>
            <a:off x="877680" y="286200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Bio</a:t>
            </a:r>
            <a:endParaRPr b="0" lang="en-US" sz="1000" strike="noStrike" u="none">
              <a:solidFill>
                <a:srgbClr val="000000"/>
              </a:solidFill>
              <a:effectLst/>
              <a:uFillTx/>
              <a:latin typeface="Arial"/>
            </a:endParaRPr>
          </a:p>
        </p:txBody>
      </p:sp>
      <p:sp>
        <p:nvSpPr>
          <p:cNvPr id="534" name="Text 12"/>
          <p:cNvSpPr/>
          <p:nvPr/>
        </p:nvSpPr>
        <p:spPr>
          <a:xfrm>
            <a:off x="168264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Bio</a:t>
            </a:r>
            <a:endParaRPr b="0" lang="en-US" sz="900" strike="noStrike" u="none">
              <a:solidFill>
                <a:srgbClr val="000000"/>
              </a:solidFill>
              <a:effectLst/>
              <a:uFillTx/>
              <a:latin typeface="Arial"/>
            </a:endParaRPr>
          </a:p>
        </p:txBody>
      </p:sp>
      <p:sp>
        <p:nvSpPr>
          <p:cNvPr id="535" name="Shape 13"/>
          <p:cNvSpPr/>
          <p:nvPr/>
        </p:nvSpPr>
        <p:spPr>
          <a:xfrm>
            <a:off x="1728360" y="2770560"/>
            <a:ext cx="547920" cy="48384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36" name="Text 14"/>
          <p:cNvSpPr/>
          <p:nvPr/>
        </p:nvSpPr>
        <p:spPr>
          <a:xfrm>
            <a:off x="172836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27</a:t>
            </a:r>
            <a:endParaRPr b="0" lang="en-US" sz="1200" strike="noStrike" u="none">
              <a:solidFill>
                <a:srgbClr val="000000"/>
              </a:solidFill>
              <a:effectLst/>
              <a:uFillTx/>
              <a:latin typeface="Arial"/>
            </a:endParaRPr>
          </a:p>
        </p:txBody>
      </p:sp>
      <p:sp>
        <p:nvSpPr>
          <p:cNvPr id="537" name="Shape 15"/>
          <p:cNvSpPr/>
          <p:nvPr/>
        </p:nvSpPr>
        <p:spPr>
          <a:xfrm>
            <a:off x="2313360" y="277056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38" name="Text 16"/>
          <p:cNvSpPr/>
          <p:nvPr/>
        </p:nvSpPr>
        <p:spPr>
          <a:xfrm>
            <a:off x="231336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39" name="Shape 17"/>
          <p:cNvSpPr/>
          <p:nvPr/>
        </p:nvSpPr>
        <p:spPr>
          <a:xfrm>
            <a:off x="2898720" y="277056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40" name="Text 18"/>
          <p:cNvSpPr/>
          <p:nvPr/>
        </p:nvSpPr>
        <p:spPr>
          <a:xfrm>
            <a:off x="289872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41" name="Shape 19"/>
          <p:cNvSpPr/>
          <p:nvPr/>
        </p:nvSpPr>
        <p:spPr>
          <a:xfrm>
            <a:off x="3483720" y="277056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42" name="Text 20"/>
          <p:cNvSpPr/>
          <p:nvPr/>
        </p:nvSpPr>
        <p:spPr>
          <a:xfrm>
            <a:off x="348372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43" name="Shape 21"/>
          <p:cNvSpPr/>
          <p:nvPr/>
        </p:nvSpPr>
        <p:spPr>
          <a:xfrm>
            <a:off x="4069080" y="277056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44" name="Text 22"/>
          <p:cNvSpPr/>
          <p:nvPr/>
        </p:nvSpPr>
        <p:spPr>
          <a:xfrm>
            <a:off x="406908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45" name="Text 23"/>
          <p:cNvSpPr/>
          <p:nvPr/>
        </p:nvSpPr>
        <p:spPr>
          <a:xfrm>
            <a:off x="877680" y="338328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Horn</a:t>
            </a:r>
            <a:endParaRPr b="0" lang="en-US" sz="1000" strike="noStrike" u="none">
              <a:solidFill>
                <a:srgbClr val="000000"/>
              </a:solidFill>
              <a:effectLst/>
              <a:uFillTx/>
              <a:latin typeface="Arial"/>
            </a:endParaRPr>
          </a:p>
        </p:txBody>
      </p:sp>
      <p:sp>
        <p:nvSpPr>
          <p:cNvPr id="546" name="Text 24"/>
          <p:cNvSpPr/>
          <p:nvPr/>
        </p:nvSpPr>
        <p:spPr>
          <a:xfrm>
            <a:off x="226764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Horn</a:t>
            </a:r>
            <a:endParaRPr b="0" lang="en-US" sz="900" strike="noStrike" u="none">
              <a:solidFill>
                <a:srgbClr val="000000"/>
              </a:solidFill>
              <a:effectLst/>
              <a:uFillTx/>
              <a:latin typeface="Arial"/>
            </a:endParaRPr>
          </a:p>
        </p:txBody>
      </p:sp>
      <p:sp>
        <p:nvSpPr>
          <p:cNvPr id="547" name="Shape 25"/>
          <p:cNvSpPr/>
          <p:nvPr/>
        </p:nvSpPr>
        <p:spPr>
          <a:xfrm>
            <a:off x="1728360" y="329184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48" name="Text 26"/>
          <p:cNvSpPr/>
          <p:nvPr/>
        </p:nvSpPr>
        <p:spPr>
          <a:xfrm>
            <a:off x="172836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49" name="Shape 27"/>
          <p:cNvSpPr/>
          <p:nvPr/>
        </p:nvSpPr>
        <p:spPr>
          <a:xfrm>
            <a:off x="2313360" y="3291840"/>
            <a:ext cx="547920" cy="48384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50" name="Text 28"/>
          <p:cNvSpPr/>
          <p:nvPr/>
        </p:nvSpPr>
        <p:spPr>
          <a:xfrm>
            <a:off x="231336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15</a:t>
            </a:r>
            <a:endParaRPr b="0" lang="en-US" sz="1200" strike="noStrike" u="none">
              <a:solidFill>
                <a:srgbClr val="000000"/>
              </a:solidFill>
              <a:effectLst/>
              <a:uFillTx/>
              <a:latin typeface="Arial"/>
            </a:endParaRPr>
          </a:p>
        </p:txBody>
      </p:sp>
      <p:sp>
        <p:nvSpPr>
          <p:cNvPr id="551" name="Shape 29"/>
          <p:cNvSpPr/>
          <p:nvPr/>
        </p:nvSpPr>
        <p:spPr>
          <a:xfrm>
            <a:off x="2898720" y="329184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52" name="Text 30"/>
          <p:cNvSpPr/>
          <p:nvPr/>
        </p:nvSpPr>
        <p:spPr>
          <a:xfrm>
            <a:off x="289872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3" name="Shape 31"/>
          <p:cNvSpPr/>
          <p:nvPr/>
        </p:nvSpPr>
        <p:spPr>
          <a:xfrm>
            <a:off x="3483720" y="329184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54" name="Text 32"/>
          <p:cNvSpPr/>
          <p:nvPr/>
        </p:nvSpPr>
        <p:spPr>
          <a:xfrm>
            <a:off x="348372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5" name="Shape 33"/>
          <p:cNvSpPr/>
          <p:nvPr/>
        </p:nvSpPr>
        <p:spPr>
          <a:xfrm>
            <a:off x="4069080" y="329184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56" name="Text 34"/>
          <p:cNvSpPr/>
          <p:nvPr/>
        </p:nvSpPr>
        <p:spPr>
          <a:xfrm>
            <a:off x="406908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57" name="Text 35"/>
          <p:cNvSpPr/>
          <p:nvPr/>
        </p:nvSpPr>
        <p:spPr>
          <a:xfrm>
            <a:off x="877680" y="390456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Plag</a:t>
            </a:r>
            <a:endParaRPr b="0" lang="en-US" sz="1000" strike="noStrike" u="none">
              <a:solidFill>
                <a:srgbClr val="000000"/>
              </a:solidFill>
              <a:effectLst/>
              <a:uFillTx/>
              <a:latin typeface="Arial"/>
            </a:endParaRPr>
          </a:p>
        </p:txBody>
      </p:sp>
      <p:sp>
        <p:nvSpPr>
          <p:cNvPr id="558" name="Text 36"/>
          <p:cNvSpPr/>
          <p:nvPr/>
        </p:nvSpPr>
        <p:spPr>
          <a:xfrm>
            <a:off x="285300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Plag</a:t>
            </a:r>
            <a:endParaRPr b="0" lang="en-US" sz="900" strike="noStrike" u="none">
              <a:solidFill>
                <a:srgbClr val="000000"/>
              </a:solidFill>
              <a:effectLst/>
              <a:uFillTx/>
              <a:latin typeface="Arial"/>
            </a:endParaRPr>
          </a:p>
        </p:txBody>
      </p:sp>
      <p:sp>
        <p:nvSpPr>
          <p:cNvPr id="559" name="Shape 37"/>
          <p:cNvSpPr/>
          <p:nvPr/>
        </p:nvSpPr>
        <p:spPr>
          <a:xfrm>
            <a:off x="1728360" y="38131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60" name="Text 38"/>
          <p:cNvSpPr/>
          <p:nvPr/>
        </p:nvSpPr>
        <p:spPr>
          <a:xfrm>
            <a:off x="172836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61" name="Shape 39"/>
          <p:cNvSpPr/>
          <p:nvPr/>
        </p:nvSpPr>
        <p:spPr>
          <a:xfrm>
            <a:off x="2313360" y="381312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62" name="Text 40"/>
          <p:cNvSpPr/>
          <p:nvPr/>
        </p:nvSpPr>
        <p:spPr>
          <a:xfrm>
            <a:off x="231336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63" name="Shape 41"/>
          <p:cNvSpPr/>
          <p:nvPr/>
        </p:nvSpPr>
        <p:spPr>
          <a:xfrm>
            <a:off x="2898720" y="3813120"/>
            <a:ext cx="547920" cy="48384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64" name="Text 42"/>
          <p:cNvSpPr/>
          <p:nvPr/>
        </p:nvSpPr>
        <p:spPr>
          <a:xfrm>
            <a:off x="289872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24</a:t>
            </a:r>
            <a:endParaRPr b="0" lang="en-US" sz="1200" strike="noStrike" u="none">
              <a:solidFill>
                <a:srgbClr val="000000"/>
              </a:solidFill>
              <a:effectLst/>
              <a:uFillTx/>
              <a:latin typeface="Arial"/>
            </a:endParaRPr>
          </a:p>
        </p:txBody>
      </p:sp>
      <p:sp>
        <p:nvSpPr>
          <p:cNvPr id="565" name="Shape 43"/>
          <p:cNvSpPr/>
          <p:nvPr/>
        </p:nvSpPr>
        <p:spPr>
          <a:xfrm>
            <a:off x="3483720" y="38131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66" name="Text 44"/>
          <p:cNvSpPr/>
          <p:nvPr/>
        </p:nvSpPr>
        <p:spPr>
          <a:xfrm>
            <a:off x="348372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567" name="Shape 45"/>
          <p:cNvSpPr/>
          <p:nvPr/>
        </p:nvSpPr>
        <p:spPr>
          <a:xfrm>
            <a:off x="4069080" y="38131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68" name="Text 46"/>
          <p:cNvSpPr/>
          <p:nvPr/>
        </p:nvSpPr>
        <p:spPr>
          <a:xfrm>
            <a:off x="406908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69" name="Text 47"/>
          <p:cNvSpPr/>
          <p:nvPr/>
        </p:nvSpPr>
        <p:spPr>
          <a:xfrm>
            <a:off x="877680" y="442584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K-Fsp</a:t>
            </a:r>
            <a:endParaRPr b="0" lang="en-US" sz="1000" strike="noStrike" u="none">
              <a:solidFill>
                <a:srgbClr val="000000"/>
              </a:solidFill>
              <a:effectLst/>
              <a:uFillTx/>
              <a:latin typeface="Arial"/>
            </a:endParaRPr>
          </a:p>
        </p:txBody>
      </p:sp>
      <p:sp>
        <p:nvSpPr>
          <p:cNvPr id="570" name="Text 48"/>
          <p:cNvSpPr/>
          <p:nvPr/>
        </p:nvSpPr>
        <p:spPr>
          <a:xfrm>
            <a:off x="343800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K-Fsp</a:t>
            </a:r>
            <a:endParaRPr b="0" lang="en-US" sz="900" strike="noStrike" u="none">
              <a:solidFill>
                <a:srgbClr val="000000"/>
              </a:solidFill>
              <a:effectLst/>
              <a:uFillTx/>
              <a:latin typeface="Arial"/>
            </a:endParaRPr>
          </a:p>
        </p:txBody>
      </p:sp>
      <p:sp>
        <p:nvSpPr>
          <p:cNvPr id="571" name="Shape 49"/>
          <p:cNvSpPr/>
          <p:nvPr/>
        </p:nvSpPr>
        <p:spPr>
          <a:xfrm>
            <a:off x="1728360" y="433440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72" name="Text 50"/>
          <p:cNvSpPr/>
          <p:nvPr/>
        </p:nvSpPr>
        <p:spPr>
          <a:xfrm>
            <a:off x="172836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73" name="Shape 51"/>
          <p:cNvSpPr/>
          <p:nvPr/>
        </p:nvSpPr>
        <p:spPr>
          <a:xfrm>
            <a:off x="2313360" y="433440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74" name="Text 52"/>
          <p:cNvSpPr/>
          <p:nvPr/>
        </p:nvSpPr>
        <p:spPr>
          <a:xfrm>
            <a:off x="231336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75" name="Shape 53"/>
          <p:cNvSpPr/>
          <p:nvPr/>
        </p:nvSpPr>
        <p:spPr>
          <a:xfrm>
            <a:off x="2898720" y="433440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76" name="Text 54"/>
          <p:cNvSpPr/>
          <p:nvPr/>
        </p:nvSpPr>
        <p:spPr>
          <a:xfrm>
            <a:off x="289872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77" name="Shape 55"/>
          <p:cNvSpPr/>
          <p:nvPr/>
        </p:nvSpPr>
        <p:spPr>
          <a:xfrm>
            <a:off x="3483720" y="4334400"/>
            <a:ext cx="547920" cy="48384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78" name="Text 56"/>
          <p:cNvSpPr/>
          <p:nvPr/>
        </p:nvSpPr>
        <p:spPr>
          <a:xfrm>
            <a:off x="348372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10</a:t>
            </a:r>
            <a:endParaRPr b="0" lang="en-US" sz="1200" strike="noStrike" u="none">
              <a:solidFill>
                <a:srgbClr val="000000"/>
              </a:solidFill>
              <a:effectLst/>
              <a:uFillTx/>
              <a:latin typeface="Arial"/>
            </a:endParaRPr>
          </a:p>
        </p:txBody>
      </p:sp>
      <p:sp>
        <p:nvSpPr>
          <p:cNvPr id="579" name="Shape 57"/>
          <p:cNvSpPr/>
          <p:nvPr/>
        </p:nvSpPr>
        <p:spPr>
          <a:xfrm>
            <a:off x="4069080" y="4334400"/>
            <a:ext cx="547920" cy="48384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80" name="Text 58"/>
          <p:cNvSpPr/>
          <p:nvPr/>
        </p:nvSpPr>
        <p:spPr>
          <a:xfrm>
            <a:off x="406908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5</a:t>
            </a:r>
            <a:endParaRPr b="0" lang="en-US" sz="1200" strike="noStrike" u="none">
              <a:solidFill>
                <a:srgbClr val="000000"/>
              </a:solidFill>
              <a:effectLst/>
              <a:uFillTx/>
              <a:latin typeface="Arial"/>
            </a:endParaRPr>
          </a:p>
        </p:txBody>
      </p:sp>
      <p:sp>
        <p:nvSpPr>
          <p:cNvPr id="581" name="Text 59"/>
          <p:cNvSpPr/>
          <p:nvPr/>
        </p:nvSpPr>
        <p:spPr>
          <a:xfrm>
            <a:off x="877680" y="494676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Quartz</a:t>
            </a:r>
            <a:endParaRPr b="0" lang="en-US" sz="1000" strike="noStrike" u="none">
              <a:solidFill>
                <a:srgbClr val="000000"/>
              </a:solidFill>
              <a:effectLst/>
              <a:uFillTx/>
              <a:latin typeface="Arial"/>
            </a:endParaRPr>
          </a:p>
        </p:txBody>
      </p:sp>
      <p:sp>
        <p:nvSpPr>
          <p:cNvPr id="582" name="Text 60"/>
          <p:cNvSpPr/>
          <p:nvPr/>
        </p:nvSpPr>
        <p:spPr>
          <a:xfrm>
            <a:off x="402336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Quartz</a:t>
            </a:r>
            <a:endParaRPr b="0" lang="en-US" sz="900" strike="noStrike" u="none">
              <a:solidFill>
                <a:srgbClr val="000000"/>
              </a:solidFill>
              <a:effectLst/>
              <a:uFillTx/>
              <a:latin typeface="Arial"/>
            </a:endParaRPr>
          </a:p>
        </p:txBody>
      </p:sp>
      <p:sp>
        <p:nvSpPr>
          <p:cNvPr id="583" name="Shape 61"/>
          <p:cNvSpPr/>
          <p:nvPr/>
        </p:nvSpPr>
        <p:spPr>
          <a:xfrm>
            <a:off x="1728360" y="485532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84" name="Text 62"/>
          <p:cNvSpPr/>
          <p:nvPr/>
        </p:nvSpPr>
        <p:spPr>
          <a:xfrm>
            <a:off x="172836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85" name="Shape 63"/>
          <p:cNvSpPr/>
          <p:nvPr/>
        </p:nvSpPr>
        <p:spPr>
          <a:xfrm>
            <a:off x="2313360" y="48553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86" name="Text 64"/>
          <p:cNvSpPr/>
          <p:nvPr/>
        </p:nvSpPr>
        <p:spPr>
          <a:xfrm>
            <a:off x="231336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587" name="Shape 65"/>
          <p:cNvSpPr/>
          <p:nvPr/>
        </p:nvSpPr>
        <p:spPr>
          <a:xfrm>
            <a:off x="2898720" y="48553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88" name="Text 66"/>
          <p:cNvSpPr/>
          <p:nvPr/>
        </p:nvSpPr>
        <p:spPr>
          <a:xfrm>
            <a:off x="289872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589" name="Shape 67"/>
          <p:cNvSpPr/>
          <p:nvPr/>
        </p:nvSpPr>
        <p:spPr>
          <a:xfrm>
            <a:off x="3483720" y="485532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90" name="Text 68"/>
          <p:cNvSpPr/>
          <p:nvPr/>
        </p:nvSpPr>
        <p:spPr>
          <a:xfrm>
            <a:off x="348372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591" name="Shape 69"/>
          <p:cNvSpPr/>
          <p:nvPr/>
        </p:nvSpPr>
        <p:spPr>
          <a:xfrm>
            <a:off x="4069080" y="4855320"/>
            <a:ext cx="547920" cy="48384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92" name="Text 70"/>
          <p:cNvSpPr/>
          <p:nvPr/>
        </p:nvSpPr>
        <p:spPr>
          <a:xfrm>
            <a:off x="406908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26</a:t>
            </a:r>
            <a:endParaRPr b="0" lang="en-US" sz="1200" strike="noStrike" u="none">
              <a:solidFill>
                <a:srgbClr val="000000"/>
              </a:solidFill>
              <a:effectLst/>
              <a:uFillTx/>
              <a:latin typeface="Arial"/>
            </a:endParaRPr>
          </a:p>
        </p:txBody>
      </p:sp>
      <p:sp>
        <p:nvSpPr>
          <p:cNvPr id="593" name="Text 71"/>
          <p:cNvSpPr/>
          <p:nvPr/>
        </p:nvSpPr>
        <p:spPr>
          <a:xfrm>
            <a:off x="6336720" y="2176200"/>
            <a:ext cx="45712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DECISION TREE · 71 / 117 CORRECT</a:t>
            </a:r>
            <a:endParaRPr b="0" lang="en-US" sz="1100" strike="noStrike" u="none">
              <a:solidFill>
                <a:srgbClr val="000000"/>
              </a:solidFill>
              <a:effectLst/>
              <a:uFillTx/>
              <a:latin typeface="Arial"/>
            </a:endParaRPr>
          </a:p>
        </p:txBody>
      </p:sp>
      <p:sp>
        <p:nvSpPr>
          <p:cNvPr id="594" name="Text 72"/>
          <p:cNvSpPr/>
          <p:nvPr/>
        </p:nvSpPr>
        <p:spPr>
          <a:xfrm>
            <a:off x="6355080" y="286200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Bio</a:t>
            </a:r>
            <a:endParaRPr b="0" lang="en-US" sz="1000" strike="noStrike" u="none">
              <a:solidFill>
                <a:srgbClr val="000000"/>
              </a:solidFill>
              <a:effectLst/>
              <a:uFillTx/>
              <a:latin typeface="Arial"/>
            </a:endParaRPr>
          </a:p>
        </p:txBody>
      </p:sp>
      <p:sp>
        <p:nvSpPr>
          <p:cNvPr id="595" name="Text 73"/>
          <p:cNvSpPr/>
          <p:nvPr/>
        </p:nvSpPr>
        <p:spPr>
          <a:xfrm>
            <a:off x="715968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Bio</a:t>
            </a:r>
            <a:endParaRPr b="0" lang="en-US" sz="900" strike="noStrike" u="none">
              <a:solidFill>
                <a:srgbClr val="000000"/>
              </a:solidFill>
              <a:effectLst/>
              <a:uFillTx/>
              <a:latin typeface="Arial"/>
            </a:endParaRPr>
          </a:p>
        </p:txBody>
      </p:sp>
      <p:sp>
        <p:nvSpPr>
          <p:cNvPr id="596" name="Shape 74"/>
          <p:cNvSpPr/>
          <p:nvPr/>
        </p:nvSpPr>
        <p:spPr>
          <a:xfrm>
            <a:off x="7205400" y="2770560"/>
            <a:ext cx="547920" cy="483840"/>
          </a:xfrm>
          <a:prstGeom prst="roundRect">
            <a:avLst>
              <a:gd name="adj" fmla="val 10377"/>
            </a:avLst>
          </a:prstGeom>
          <a:solidFill>
            <a:srgbClr val="12585a"/>
          </a:solidFill>
          <a:ln w="12700">
            <a:solidFill>
              <a:srgbClr val="12585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597" name="Text 75"/>
          <p:cNvSpPr/>
          <p:nvPr/>
        </p:nvSpPr>
        <p:spPr>
          <a:xfrm>
            <a:off x="720540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24</a:t>
            </a:r>
            <a:endParaRPr b="0" lang="en-US" sz="1200" strike="noStrike" u="none">
              <a:solidFill>
                <a:srgbClr val="000000"/>
              </a:solidFill>
              <a:effectLst/>
              <a:uFillTx/>
              <a:latin typeface="Arial"/>
            </a:endParaRPr>
          </a:p>
        </p:txBody>
      </p:sp>
      <p:sp>
        <p:nvSpPr>
          <p:cNvPr id="598" name="Shape 76"/>
          <p:cNvSpPr/>
          <p:nvPr/>
        </p:nvSpPr>
        <p:spPr>
          <a:xfrm>
            <a:off x="7790760" y="277056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599" name="Text 77"/>
          <p:cNvSpPr/>
          <p:nvPr/>
        </p:nvSpPr>
        <p:spPr>
          <a:xfrm>
            <a:off x="779076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00" name="Shape 78"/>
          <p:cNvSpPr/>
          <p:nvPr/>
        </p:nvSpPr>
        <p:spPr>
          <a:xfrm>
            <a:off x="8375760" y="277056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01" name="Text 79"/>
          <p:cNvSpPr/>
          <p:nvPr/>
        </p:nvSpPr>
        <p:spPr>
          <a:xfrm>
            <a:off x="837576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602" name="Shape 80"/>
          <p:cNvSpPr/>
          <p:nvPr/>
        </p:nvSpPr>
        <p:spPr>
          <a:xfrm>
            <a:off x="8961120" y="277056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03" name="Text 81"/>
          <p:cNvSpPr/>
          <p:nvPr/>
        </p:nvSpPr>
        <p:spPr>
          <a:xfrm>
            <a:off x="896112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04" name="Shape 82"/>
          <p:cNvSpPr/>
          <p:nvPr/>
        </p:nvSpPr>
        <p:spPr>
          <a:xfrm>
            <a:off x="9546480" y="277056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05" name="Text 83"/>
          <p:cNvSpPr/>
          <p:nvPr/>
        </p:nvSpPr>
        <p:spPr>
          <a:xfrm>
            <a:off x="9546480" y="28530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4</a:t>
            </a:r>
            <a:endParaRPr b="0" lang="en-US" sz="1200" strike="noStrike" u="none">
              <a:solidFill>
                <a:srgbClr val="000000"/>
              </a:solidFill>
              <a:effectLst/>
              <a:uFillTx/>
              <a:latin typeface="Arial"/>
            </a:endParaRPr>
          </a:p>
        </p:txBody>
      </p:sp>
      <p:sp>
        <p:nvSpPr>
          <p:cNvPr id="606" name="Text 84"/>
          <p:cNvSpPr/>
          <p:nvPr/>
        </p:nvSpPr>
        <p:spPr>
          <a:xfrm>
            <a:off x="6355080" y="338328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Horn</a:t>
            </a:r>
            <a:endParaRPr b="0" lang="en-US" sz="1000" strike="noStrike" u="none">
              <a:solidFill>
                <a:srgbClr val="000000"/>
              </a:solidFill>
              <a:effectLst/>
              <a:uFillTx/>
              <a:latin typeface="Arial"/>
            </a:endParaRPr>
          </a:p>
        </p:txBody>
      </p:sp>
      <p:sp>
        <p:nvSpPr>
          <p:cNvPr id="607" name="Text 85"/>
          <p:cNvSpPr/>
          <p:nvPr/>
        </p:nvSpPr>
        <p:spPr>
          <a:xfrm>
            <a:off x="774504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Horn</a:t>
            </a:r>
            <a:endParaRPr b="0" lang="en-US" sz="900" strike="noStrike" u="none">
              <a:solidFill>
                <a:srgbClr val="000000"/>
              </a:solidFill>
              <a:effectLst/>
              <a:uFillTx/>
              <a:latin typeface="Arial"/>
            </a:endParaRPr>
          </a:p>
        </p:txBody>
      </p:sp>
      <p:sp>
        <p:nvSpPr>
          <p:cNvPr id="608" name="Shape 86"/>
          <p:cNvSpPr/>
          <p:nvPr/>
        </p:nvSpPr>
        <p:spPr>
          <a:xfrm>
            <a:off x="7205400" y="329184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09" name="Text 87"/>
          <p:cNvSpPr/>
          <p:nvPr/>
        </p:nvSpPr>
        <p:spPr>
          <a:xfrm>
            <a:off x="720540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4</a:t>
            </a:r>
            <a:endParaRPr b="0" lang="en-US" sz="1200" strike="noStrike" u="none">
              <a:solidFill>
                <a:srgbClr val="000000"/>
              </a:solidFill>
              <a:effectLst/>
              <a:uFillTx/>
              <a:latin typeface="Arial"/>
            </a:endParaRPr>
          </a:p>
        </p:txBody>
      </p:sp>
      <p:sp>
        <p:nvSpPr>
          <p:cNvPr id="610" name="Shape 88"/>
          <p:cNvSpPr/>
          <p:nvPr/>
        </p:nvSpPr>
        <p:spPr>
          <a:xfrm>
            <a:off x="7790760" y="3291840"/>
            <a:ext cx="547920" cy="48384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11" name="Text 89"/>
          <p:cNvSpPr/>
          <p:nvPr/>
        </p:nvSpPr>
        <p:spPr>
          <a:xfrm>
            <a:off x="779076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10</a:t>
            </a:r>
            <a:endParaRPr b="0" lang="en-US" sz="1200" strike="noStrike" u="none">
              <a:solidFill>
                <a:srgbClr val="000000"/>
              </a:solidFill>
              <a:effectLst/>
              <a:uFillTx/>
              <a:latin typeface="Arial"/>
            </a:endParaRPr>
          </a:p>
        </p:txBody>
      </p:sp>
      <p:sp>
        <p:nvSpPr>
          <p:cNvPr id="612" name="Shape 90"/>
          <p:cNvSpPr/>
          <p:nvPr/>
        </p:nvSpPr>
        <p:spPr>
          <a:xfrm>
            <a:off x="8375760" y="329184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13" name="Text 91"/>
          <p:cNvSpPr/>
          <p:nvPr/>
        </p:nvSpPr>
        <p:spPr>
          <a:xfrm>
            <a:off x="837576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1</a:t>
            </a:r>
            <a:endParaRPr b="0" lang="en-US" sz="1200" strike="noStrike" u="none">
              <a:solidFill>
                <a:srgbClr val="000000"/>
              </a:solidFill>
              <a:effectLst/>
              <a:uFillTx/>
              <a:latin typeface="Arial"/>
            </a:endParaRPr>
          </a:p>
        </p:txBody>
      </p:sp>
      <p:sp>
        <p:nvSpPr>
          <p:cNvPr id="614" name="Shape 92"/>
          <p:cNvSpPr/>
          <p:nvPr/>
        </p:nvSpPr>
        <p:spPr>
          <a:xfrm>
            <a:off x="8961120" y="329184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15" name="Text 93"/>
          <p:cNvSpPr/>
          <p:nvPr/>
        </p:nvSpPr>
        <p:spPr>
          <a:xfrm>
            <a:off x="896112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16" name="Shape 94"/>
          <p:cNvSpPr/>
          <p:nvPr/>
        </p:nvSpPr>
        <p:spPr>
          <a:xfrm>
            <a:off x="9546480" y="329184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17" name="Text 95"/>
          <p:cNvSpPr/>
          <p:nvPr/>
        </p:nvSpPr>
        <p:spPr>
          <a:xfrm>
            <a:off x="9546480" y="33742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18" name="Text 96"/>
          <p:cNvSpPr/>
          <p:nvPr/>
        </p:nvSpPr>
        <p:spPr>
          <a:xfrm>
            <a:off x="6355080" y="390456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Plag</a:t>
            </a:r>
            <a:endParaRPr b="0" lang="en-US" sz="1000" strike="noStrike" u="none">
              <a:solidFill>
                <a:srgbClr val="000000"/>
              </a:solidFill>
              <a:effectLst/>
              <a:uFillTx/>
              <a:latin typeface="Arial"/>
            </a:endParaRPr>
          </a:p>
        </p:txBody>
      </p:sp>
      <p:sp>
        <p:nvSpPr>
          <p:cNvPr id="619" name="Text 97"/>
          <p:cNvSpPr/>
          <p:nvPr/>
        </p:nvSpPr>
        <p:spPr>
          <a:xfrm>
            <a:off x="833004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Plag</a:t>
            </a:r>
            <a:endParaRPr b="0" lang="en-US" sz="900" strike="noStrike" u="none">
              <a:solidFill>
                <a:srgbClr val="000000"/>
              </a:solidFill>
              <a:effectLst/>
              <a:uFillTx/>
              <a:latin typeface="Arial"/>
            </a:endParaRPr>
          </a:p>
        </p:txBody>
      </p:sp>
      <p:sp>
        <p:nvSpPr>
          <p:cNvPr id="620" name="Shape 98"/>
          <p:cNvSpPr/>
          <p:nvPr/>
        </p:nvSpPr>
        <p:spPr>
          <a:xfrm>
            <a:off x="7205400" y="3813120"/>
            <a:ext cx="547920" cy="48384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21" name="Text 99"/>
          <p:cNvSpPr/>
          <p:nvPr/>
        </p:nvSpPr>
        <p:spPr>
          <a:xfrm>
            <a:off x="720540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6</a:t>
            </a:r>
            <a:endParaRPr b="0" lang="en-US" sz="1200" strike="noStrike" u="none">
              <a:solidFill>
                <a:srgbClr val="000000"/>
              </a:solidFill>
              <a:effectLst/>
              <a:uFillTx/>
              <a:latin typeface="Arial"/>
            </a:endParaRPr>
          </a:p>
        </p:txBody>
      </p:sp>
      <p:sp>
        <p:nvSpPr>
          <p:cNvPr id="622" name="Shape 100"/>
          <p:cNvSpPr/>
          <p:nvPr/>
        </p:nvSpPr>
        <p:spPr>
          <a:xfrm>
            <a:off x="7790760" y="381312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23" name="Text 101"/>
          <p:cNvSpPr/>
          <p:nvPr/>
        </p:nvSpPr>
        <p:spPr>
          <a:xfrm>
            <a:off x="779076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24" name="Shape 102"/>
          <p:cNvSpPr/>
          <p:nvPr/>
        </p:nvSpPr>
        <p:spPr>
          <a:xfrm>
            <a:off x="8375760" y="3813120"/>
            <a:ext cx="547920" cy="48384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25" name="Text 103"/>
          <p:cNvSpPr/>
          <p:nvPr/>
        </p:nvSpPr>
        <p:spPr>
          <a:xfrm>
            <a:off x="837576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18</a:t>
            </a:r>
            <a:endParaRPr b="0" lang="en-US" sz="1200" strike="noStrike" u="none">
              <a:solidFill>
                <a:srgbClr val="000000"/>
              </a:solidFill>
              <a:effectLst/>
              <a:uFillTx/>
              <a:latin typeface="Arial"/>
            </a:endParaRPr>
          </a:p>
        </p:txBody>
      </p:sp>
      <p:sp>
        <p:nvSpPr>
          <p:cNvPr id="626" name="Shape 104"/>
          <p:cNvSpPr/>
          <p:nvPr/>
        </p:nvSpPr>
        <p:spPr>
          <a:xfrm>
            <a:off x="8961120" y="38131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27" name="Text 105"/>
          <p:cNvSpPr/>
          <p:nvPr/>
        </p:nvSpPr>
        <p:spPr>
          <a:xfrm>
            <a:off x="896112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628" name="Shape 106"/>
          <p:cNvSpPr/>
          <p:nvPr/>
        </p:nvSpPr>
        <p:spPr>
          <a:xfrm>
            <a:off x="9546480" y="38131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29" name="Text 107"/>
          <p:cNvSpPr/>
          <p:nvPr/>
        </p:nvSpPr>
        <p:spPr>
          <a:xfrm>
            <a:off x="9546480" y="389520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30" name="Text 108"/>
          <p:cNvSpPr/>
          <p:nvPr/>
        </p:nvSpPr>
        <p:spPr>
          <a:xfrm>
            <a:off x="6355080" y="442584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K-Fsp</a:t>
            </a:r>
            <a:endParaRPr b="0" lang="en-US" sz="1000" strike="noStrike" u="none">
              <a:solidFill>
                <a:srgbClr val="000000"/>
              </a:solidFill>
              <a:effectLst/>
              <a:uFillTx/>
              <a:latin typeface="Arial"/>
            </a:endParaRPr>
          </a:p>
        </p:txBody>
      </p:sp>
      <p:sp>
        <p:nvSpPr>
          <p:cNvPr id="631" name="Text 109"/>
          <p:cNvSpPr/>
          <p:nvPr/>
        </p:nvSpPr>
        <p:spPr>
          <a:xfrm>
            <a:off x="891540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K-Fsp</a:t>
            </a:r>
            <a:endParaRPr b="0" lang="en-US" sz="900" strike="noStrike" u="none">
              <a:solidFill>
                <a:srgbClr val="000000"/>
              </a:solidFill>
              <a:effectLst/>
              <a:uFillTx/>
              <a:latin typeface="Arial"/>
            </a:endParaRPr>
          </a:p>
        </p:txBody>
      </p:sp>
      <p:sp>
        <p:nvSpPr>
          <p:cNvPr id="632" name="Shape 110"/>
          <p:cNvSpPr/>
          <p:nvPr/>
        </p:nvSpPr>
        <p:spPr>
          <a:xfrm>
            <a:off x="7205400" y="433440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33" name="Text 111"/>
          <p:cNvSpPr/>
          <p:nvPr/>
        </p:nvSpPr>
        <p:spPr>
          <a:xfrm>
            <a:off x="720540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34" name="Shape 112"/>
          <p:cNvSpPr/>
          <p:nvPr/>
        </p:nvSpPr>
        <p:spPr>
          <a:xfrm>
            <a:off x="7790760" y="433440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35" name="Text 113"/>
          <p:cNvSpPr/>
          <p:nvPr/>
        </p:nvSpPr>
        <p:spPr>
          <a:xfrm>
            <a:off x="779076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36" name="Shape 114"/>
          <p:cNvSpPr/>
          <p:nvPr/>
        </p:nvSpPr>
        <p:spPr>
          <a:xfrm>
            <a:off x="8375760" y="4334400"/>
            <a:ext cx="547920" cy="48384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37" name="Text 115"/>
          <p:cNvSpPr/>
          <p:nvPr/>
        </p:nvSpPr>
        <p:spPr>
          <a:xfrm>
            <a:off x="837576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5</a:t>
            </a:r>
            <a:endParaRPr b="0" lang="en-US" sz="1200" strike="noStrike" u="none">
              <a:solidFill>
                <a:srgbClr val="000000"/>
              </a:solidFill>
              <a:effectLst/>
              <a:uFillTx/>
              <a:latin typeface="Arial"/>
            </a:endParaRPr>
          </a:p>
        </p:txBody>
      </p:sp>
      <p:sp>
        <p:nvSpPr>
          <p:cNvPr id="638" name="Shape 116"/>
          <p:cNvSpPr/>
          <p:nvPr/>
        </p:nvSpPr>
        <p:spPr>
          <a:xfrm>
            <a:off x="8961120" y="433440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39" name="Text 117"/>
          <p:cNvSpPr/>
          <p:nvPr/>
        </p:nvSpPr>
        <p:spPr>
          <a:xfrm>
            <a:off x="896112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40" name="Shape 118"/>
          <p:cNvSpPr/>
          <p:nvPr/>
        </p:nvSpPr>
        <p:spPr>
          <a:xfrm>
            <a:off x="9546480" y="4334400"/>
            <a:ext cx="547920" cy="48384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41" name="Text 119"/>
          <p:cNvSpPr/>
          <p:nvPr/>
        </p:nvSpPr>
        <p:spPr>
          <a:xfrm>
            <a:off x="9546480" y="441648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7</a:t>
            </a:r>
            <a:endParaRPr b="0" lang="en-US" sz="1200" strike="noStrike" u="none">
              <a:solidFill>
                <a:srgbClr val="000000"/>
              </a:solidFill>
              <a:effectLst/>
              <a:uFillTx/>
              <a:latin typeface="Arial"/>
            </a:endParaRPr>
          </a:p>
        </p:txBody>
      </p:sp>
      <p:sp>
        <p:nvSpPr>
          <p:cNvPr id="642" name="Text 120"/>
          <p:cNvSpPr/>
          <p:nvPr/>
        </p:nvSpPr>
        <p:spPr>
          <a:xfrm>
            <a:off x="6355080" y="4946760"/>
            <a:ext cx="785520" cy="200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1000" strike="noStrike" u="none">
                <a:solidFill>
                  <a:srgbClr val="132b2d"/>
                </a:solidFill>
                <a:effectLst/>
                <a:uFillTx/>
                <a:latin typeface="Inter"/>
                <a:ea typeface="Inter"/>
              </a:rPr>
              <a:t>Quartz</a:t>
            </a:r>
            <a:endParaRPr b="0" lang="en-US" sz="1000" strike="noStrike" u="none">
              <a:solidFill>
                <a:srgbClr val="000000"/>
              </a:solidFill>
              <a:effectLst/>
              <a:uFillTx/>
              <a:latin typeface="Arial"/>
            </a:endParaRPr>
          </a:p>
        </p:txBody>
      </p:sp>
      <p:sp>
        <p:nvSpPr>
          <p:cNvPr id="643" name="Text 121"/>
          <p:cNvSpPr/>
          <p:nvPr/>
        </p:nvSpPr>
        <p:spPr>
          <a:xfrm>
            <a:off x="9500760" y="5486400"/>
            <a:ext cx="657720" cy="227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00" strike="noStrike" u="none">
                <a:solidFill>
                  <a:srgbClr val="667573"/>
                </a:solidFill>
                <a:effectLst/>
                <a:uFillTx/>
                <a:latin typeface="Inter"/>
                <a:ea typeface="Inter"/>
              </a:rPr>
              <a:t>Quartz</a:t>
            </a:r>
            <a:endParaRPr b="0" lang="en-US" sz="900" strike="noStrike" u="none">
              <a:solidFill>
                <a:srgbClr val="000000"/>
              </a:solidFill>
              <a:effectLst/>
              <a:uFillTx/>
              <a:latin typeface="Arial"/>
            </a:endParaRPr>
          </a:p>
        </p:txBody>
      </p:sp>
      <p:sp>
        <p:nvSpPr>
          <p:cNvPr id="644" name="Shape 122"/>
          <p:cNvSpPr/>
          <p:nvPr/>
        </p:nvSpPr>
        <p:spPr>
          <a:xfrm>
            <a:off x="7205400" y="48553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45" name="Text 123"/>
          <p:cNvSpPr/>
          <p:nvPr/>
        </p:nvSpPr>
        <p:spPr>
          <a:xfrm>
            <a:off x="720540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3</a:t>
            </a:r>
            <a:endParaRPr b="0" lang="en-US" sz="1200" strike="noStrike" u="none">
              <a:solidFill>
                <a:srgbClr val="000000"/>
              </a:solidFill>
              <a:effectLst/>
              <a:uFillTx/>
              <a:latin typeface="Arial"/>
            </a:endParaRPr>
          </a:p>
        </p:txBody>
      </p:sp>
      <p:sp>
        <p:nvSpPr>
          <p:cNvPr id="646" name="Shape 124"/>
          <p:cNvSpPr/>
          <p:nvPr/>
        </p:nvSpPr>
        <p:spPr>
          <a:xfrm>
            <a:off x="7790760" y="4855320"/>
            <a:ext cx="547920" cy="483840"/>
          </a:xfrm>
          <a:prstGeom prst="roundRect">
            <a:avLst>
              <a:gd name="adj" fmla="val 10377"/>
            </a:avLst>
          </a:prstGeom>
          <a:solidFill>
            <a:srgbClr val="ebefeb"/>
          </a:solidFill>
          <a:ln w="12700">
            <a:solidFill>
              <a:srgbClr val="ebefeb">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47" name="Text 125"/>
          <p:cNvSpPr/>
          <p:nvPr/>
        </p:nvSpPr>
        <p:spPr>
          <a:xfrm>
            <a:off x="779076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0</a:t>
            </a:r>
            <a:endParaRPr b="0" lang="en-US" sz="1200" strike="noStrike" u="none">
              <a:solidFill>
                <a:srgbClr val="000000"/>
              </a:solidFill>
              <a:effectLst/>
              <a:uFillTx/>
              <a:latin typeface="Arial"/>
            </a:endParaRPr>
          </a:p>
        </p:txBody>
      </p:sp>
      <p:sp>
        <p:nvSpPr>
          <p:cNvPr id="648" name="Shape 126"/>
          <p:cNvSpPr/>
          <p:nvPr/>
        </p:nvSpPr>
        <p:spPr>
          <a:xfrm>
            <a:off x="8375760" y="4855320"/>
            <a:ext cx="547920" cy="483840"/>
          </a:xfrm>
          <a:prstGeom prst="roundRect">
            <a:avLst>
              <a:gd name="adj" fmla="val 10377"/>
            </a:avLst>
          </a:prstGeom>
          <a:solidFill>
            <a:srgbClr val="96cac4"/>
          </a:solidFill>
          <a:ln w="12700">
            <a:solidFill>
              <a:srgbClr val="96cac4">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49" name="Text 127"/>
          <p:cNvSpPr/>
          <p:nvPr/>
        </p:nvSpPr>
        <p:spPr>
          <a:xfrm>
            <a:off x="837576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8</a:t>
            </a:r>
            <a:endParaRPr b="0" lang="en-US" sz="1200" strike="noStrike" u="none">
              <a:solidFill>
                <a:srgbClr val="000000"/>
              </a:solidFill>
              <a:effectLst/>
              <a:uFillTx/>
              <a:latin typeface="Arial"/>
            </a:endParaRPr>
          </a:p>
        </p:txBody>
      </p:sp>
      <p:sp>
        <p:nvSpPr>
          <p:cNvPr id="650" name="Shape 128"/>
          <p:cNvSpPr/>
          <p:nvPr/>
        </p:nvSpPr>
        <p:spPr>
          <a:xfrm>
            <a:off x="8961120" y="4855320"/>
            <a:ext cx="547920" cy="483840"/>
          </a:xfrm>
          <a:prstGeom prst="roundRect">
            <a:avLst>
              <a:gd name="adj" fmla="val 10377"/>
            </a:avLst>
          </a:prstGeom>
          <a:solidFill>
            <a:srgbClr val="e6b599"/>
          </a:solidFill>
          <a:ln w="12700">
            <a:solidFill>
              <a:srgbClr val="e6b599">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51" name="Text 129"/>
          <p:cNvSpPr/>
          <p:nvPr/>
        </p:nvSpPr>
        <p:spPr>
          <a:xfrm>
            <a:off x="896112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200" strike="noStrike" u="none">
                <a:solidFill>
                  <a:srgbClr val="132b2d"/>
                </a:solidFill>
                <a:effectLst/>
                <a:uFillTx/>
                <a:latin typeface="Inter"/>
                <a:ea typeface="Inter"/>
              </a:rPr>
              <a:t>2</a:t>
            </a:r>
            <a:endParaRPr b="0" lang="en-US" sz="1200" strike="noStrike" u="none">
              <a:solidFill>
                <a:srgbClr val="000000"/>
              </a:solidFill>
              <a:effectLst/>
              <a:uFillTx/>
              <a:latin typeface="Arial"/>
            </a:endParaRPr>
          </a:p>
        </p:txBody>
      </p:sp>
      <p:sp>
        <p:nvSpPr>
          <p:cNvPr id="652" name="Shape 130"/>
          <p:cNvSpPr/>
          <p:nvPr/>
        </p:nvSpPr>
        <p:spPr>
          <a:xfrm>
            <a:off x="9546480" y="4855320"/>
            <a:ext cx="547920" cy="483840"/>
          </a:xfrm>
          <a:prstGeom prst="roundRect">
            <a:avLst>
              <a:gd name="adj" fmla="val 10377"/>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53" name="Text 131"/>
          <p:cNvSpPr/>
          <p:nvPr/>
        </p:nvSpPr>
        <p:spPr>
          <a:xfrm>
            <a:off x="9546480" y="4937760"/>
            <a:ext cx="54792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Inter"/>
                <a:ea typeface="Inter"/>
              </a:rPr>
              <a:t>16</a:t>
            </a:r>
            <a:endParaRPr b="0" lang="en-US" sz="1200" strike="noStrike" u="none">
              <a:solidFill>
                <a:srgbClr val="000000"/>
              </a:solidFill>
              <a:effectLst/>
              <a:uFillTx/>
              <a:latin typeface="Arial"/>
            </a:endParaRPr>
          </a:p>
        </p:txBody>
      </p:sp>
      <p:sp>
        <p:nvSpPr>
          <p:cNvPr id="654" name="Shape 132"/>
          <p:cNvSpPr/>
          <p:nvPr/>
        </p:nvSpPr>
        <p:spPr>
          <a:xfrm>
            <a:off x="2148840" y="5843160"/>
            <a:ext cx="7908840" cy="365040"/>
          </a:xfrm>
          <a:prstGeom prst="roundRect">
            <a:avLst>
              <a:gd name="adj" fmla="val 20000"/>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55" name="Text 133"/>
          <p:cNvSpPr/>
          <p:nvPr/>
        </p:nvSpPr>
        <p:spPr>
          <a:xfrm>
            <a:off x="2350080" y="5906880"/>
            <a:ext cx="7497360" cy="200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ce6949"/>
                </a:solidFill>
                <a:effectLst/>
                <a:uFillTx/>
                <a:latin typeface="Inter"/>
                <a:ea typeface="Inter"/>
              </a:rPr>
              <a:t>KNN: 5 of 15 Potassium-feldspar photos were misclassified as Quartz.</a:t>
            </a:r>
            <a:endParaRPr b="0" lang="en-US" sz="1200" strike="noStrike" u="none">
              <a:solidFill>
                <a:srgbClr val="000000"/>
              </a:solidFill>
              <a:effectLst/>
              <a:uFillTx/>
              <a:latin typeface="Arial"/>
            </a:endParaRPr>
          </a:p>
        </p:txBody>
      </p:sp>
      <p:sp>
        <p:nvSpPr>
          <p:cNvPr id="656" name="Text 134"/>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Rows = true labels; columns = predictions. Notebook, Experiment 4; tuned 150×150 models.</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58" name="Shape 1"/>
          <p:cNvSpPr/>
          <p:nvPr/>
        </p:nvSpPr>
        <p:spPr>
          <a:xfrm>
            <a:off x="567000" y="356760"/>
            <a:ext cx="225972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59" name="Text 2"/>
          <p:cNvSpPr/>
          <p:nvPr/>
        </p:nvSpPr>
        <p:spPr>
          <a:xfrm>
            <a:off x="676800" y="379440"/>
            <a:ext cx="20401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660"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errors are visible in real images</a:t>
            </a:r>
            <a:endParaRPr b="0" lang="en-US" sz="3000" strike="noStrike" u="none">
              <a:solidFill>
                <a:srgbClr val="000000"/>
              </a:solidFill>
              <a:effectLst/>
              <a:uFillTx/>
              <a:latin typeface="Arial"/>
            </a:endParaRPr>
          </a:p>
        </p:txBody>
      </p:sp>
      <p:sp>
        <p:nvSpPr>
          <p:cNvPr id="661"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Six examples of test images classified incorrectly by tuned KNN.</a:t>
            </a:r>
            <a:endParaRPr b="0" lang="en-US" sz="1430" strike="noStrike" u="none">
              <a:solidFill>
                <a:srgbClr val="000000"/>
              </a:solidFill>
              <a:effectLst/>
              <a:uFillTx/>
              <a:latin typeface="Arial"/>
            </a:endParaRPr>
          </a:p>
        </p:txBody>
      </p:sp>
      <p:sp>
        <p:nvSpPr>
          <p:cNvPr id="662"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63"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64"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14  /  21</a:t>
            </a:r>
            <a:endParaRPr b="0" lang="en-US" sz="900" strike="noStrike" u="none">
              <a:solidFill>
                <a:srgbClr val="000000"/>
              </a:solidFill>
              <a:effectLst/>
              <a:uFillTx/>
              <a:latin typeface="Arial"/>
            </a:endParaRPr>
          </a:p>
        </p:txBody>
      </p:sp>
      <p:sp>
        <p:nvSpPr>
          <p:cNvPr id="665" name="Shape 8"/>
          <p:cNvSpPr/>
          <p:nvPr/>
        </p:nvSpPr>
        <p:spPr>
          <a:xfrm>
            <a:off x="685800" y="2057400"/>
            <a:ext cx="7515720" cy="3885480"/>
          </a:xfrm>
          <a:prstGeom prst="roundRect">
            <a:avLst>
              <a:gd name="adj" fmla="val 3529"/>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666" name="Image 0" descr="/mnt/data/MUMDMC2025_presentation_assets/notebook_c28_1.png"/>
          <p:cNvPicPr/>
          <p:nvPr/>
        </p:nvPicPr>
        <p:blipFill>
          <a:blip r:embed="rId1"/>
          <a:stretch/>
        </p:blipFill>
        <p:spPr>
          <a:xfrm>
            <a:off x="1963080" y="2240280"/>
            <a:ext cx="4970160" cy="3528720"/>
          </a:xfrm>
          <a:prstGeom prst="rect">
            <a:avLst/>
          </a:prstGeom>
          <a:noFill/>
          <a:ln w="0">
            <a:noFill/>
          </a:ln>
        </p:spPr>
      </p:pic>
      <p:sp>
        <p:nvSpPr>
          <p:cNvPr id="667" name="Shape 9"/>
          <p:cNvSpPr/>
          <p:nvPr/>
        </p:nvSpPr>
        <p:spPr>
          <a:xfrm>
            <a:off x="8403480" y="2048400"/>
            <a:ext cx="3053520" cy="3912840"/>
          </a:xfrm>
          <a:prstGeom prst="roundRect">
            <a:avLst>
              <a:gd name="adj" fmla="val 44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68" name="Text 10"/>
          <p:cNvSpPr/>
          <p:nvPr/>
        </p:nvSpPr>
        <p:spPr>
          <a:xfrm>
            <a:off x="8695800" y="2423160"/>
            <a:ext cx="254124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2585a"/>
                </a:solidFill>
                <a:effectLst/>
                <a:uFillTx/>
                <a:latin typeface="Inter"/>
                <a:ea typeface="Inter"/>
              </a:rPr>
              <a:t>What we can say</a:t>
            </a:r>
            <a:endParaRPr b="0" lang="en-US" sz="1500" strike="noStrike" u="none">
              <a:solidFill>
                <a:srgbClr val="000000"/>
              </a:solidFill>
              <a:effectLst/>
              <a:uFillTx/>
              <a:latin typeface="Arial"/>
            </a:endParaRPr>
          </a:p>
        </p:txBody>
      </p:sp>
      <p:sp>
        <p:nvSpPr>
          <p:cNvPr id="669" name="Text 11"/>
          <p:cNvSpPr/>
          <p:nvPr/>
        </p:nvSpPr>
        <p:spPr>
          <a:xfrm>
            <a:off x="8686800" y="2935080"/>
            <a:ext cx="2550600" cy="25322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 Several K-feldspar images were predicted as Quartz.</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32b2d"/>
                </a:solidFill>
                <a:effectLst/>
                <a:uFillTx/>
                <a:latin typeface="Inter"/>
                <a:ea typeface="Inter"/>
              </a:rPr>
              <a:t>• Appearance changes across rotation angles.</a:t>
            </a:r>
            <a:endParaRPr b="0" lang="en-US" sz="1300" strike="noStrike" u="none">
              <a:solidFill>
                <a:srgbClr val="000000"/>
              </a:solidFill>
              <a:effectLst/>
              <a:uFillTx/>
              <a:latin typeface="Arial"/>
            </a:endParaRPr>
          </a:p>
          <a:p>
            <a:pPr defTabSz="914400">
              <a:lnSpc>
                <a:spcPct val="100000"/>
              </a:lnSpc>
              <a:tabLst>
                <a:tab algn="l" pos="0"/>
              </a:tabLst>
            </a:pPr>
            <a:endParaRPr b="0" lang="en-US" sz="1300" strike="noStrike" u="none">
              <a:solidFill>
                <a:srgbClr val="000000"/>
              </a:solidFill>
              <a:effectLst/>
              <a:uFillTx/>
              <a:latin typeface="Arial"/>
            </a:endParaRPr>
          </a:p>
          <a:p>
            <a:pPr defTabSz="914400">
              <a:lnSpc>
                <a:spcPct val="100000"/>
              </a:lnSpc>
              <a:tabLst>
                <a:tab algn="l" pos="0"/>
              </a:tabLst>
            </a:pPr>
            <a:r>
              <a:rPr b="0" lang="en-US" sz="1300" strike="noStrike" u="none">
                <a:solidFill>
                  <a:srgbClr val="132b2d"/>
                </a:solidFill>
                <a:effectLst/>
                <a:uFillTx/>
                <a:latin typeface="Inter"/>
                <a:ea typeface="Inter"/>
              </a:rPr>
              <a:t>• Six examples cannot prove which visual cues caused each error.</a:t>
            </a:r>
            <a:endParaRPr b="0" lang="en-US" sz="1300" strike="noStrike" u="none">
              <a:solidFill>
                <a:srgbClr val="000000"/>
              </a:solidFill>
              <a:effectLst/>
              <a:uFillTx/>
              <a:latin typeface="Arial"/>
            </a:endParaRPr>
          </a:p>
        </p:txBody>
      </p:sp>
      <p:sp>
        <p:nvSpPr>
          <p:cNvPr id="670" name="Text 12"/>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saved Colab outputs, Experiment 4; examples are actual test images, not stock photography.</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1"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72" name="Shape 1"/>
          <p:cNvSpPr/>
          <p:nvPr/>
        </p:nvSpPr>
        <p:spPr>
          <a:xfrm>
            <a:off x="567000" y="356760"/>
            <a:ext cx="225972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73" name="Text 2"/>
          <p:cNvSpPr/>
          <p:nvPr/>
        </p:nvSpPr>
        <p:spPr>
          <a:xfrm>
            <a:off x="676800" y="379440"/>
            <a:ext cx="20401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04 / EXPERIMENTS</a:t>
            </a:r>
            <a:endParaRPr b="0" lang="en-US" sz="1000" strike="noStrike" u="none">
              <a:solidFill>
                <a:srgbClr val="000000"/>
              </a:solidFill>
              <a:effectLst/>
              <a:uFillTx/>
              <a:latin typeface="Arial"/>
            </a:endParaRPr>
          </a:p>
        </p:txBody>
      </p:sp>
      <p:sp>
        <p:nvSpPr>
          <p:cNvPr id="674"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What does k = 1 really match?</a:t>
            </a:r>
            <a:endParaRPr b="0" lang="en-US" sz="3000" strike="noStrike" u="none">
              <a:solidFill>
                <a:srgbClr val="000000"/>
              </a:solidFill>
              <a:effectLst/>
              <a:uFillTx/>
              <a:latin typeface="Arial"/>
            </a:endParaRPr>
          </a:p>
        </p:txBody>
      </p:sp>
      <p:sp>
        <p:nvSpPr>
          <p:cNvPr id="675"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Nearest-neighbor provenance links high accuracy to shared acquisition folders.</a:t>
            </a:r>
            <a:endParaRPr b="0" lang="en-US" sz="1430" strike="noStrike" u="none">
              <a:solidFill>
                <a:srgbClr val="000000"/>
              </a:solidFill>
              <a:effectLst/>
              <a:uFillTx/>
              <a:latin typeface="Arial"/>
            </a:endParaRPr>
          </a:p>
        </p:txBody>
      </p:sp>
      <p:sp>
        <p:nvSpPr>
          <p:cNvPr id="676"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77"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78"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15  /  21</a:t>
            </a:r>
            <a:endParaRPr b="0" lang="en-US" sz="900" strike="noStrike" u="none">
              <a:solidFill>
                <a:srgbClr val="000000"/>
              </a:solidFill>
              <a:effectLst/>
              <a:uFillTx/>
              <a:latin typeface="Arial"/>
            </a:endParaRPr>
          </a:p>
        </p:txBody>
      </p:sp>
      <p:sp>
        <p:nvSpPr>
          <p:cNvPr id="679" name="Shape 8"/>
          <p:cNvSpPr/>
          <p:nvPr/>
        </p:nvSpPr>
        <p:spPr>
          <a:xfrm>
            <a:off x="694800" y="2112120"/>
            <a:ext cx="4626000" cy="3492360"/>
          </a:xfrm>
          <a:prstGeom prst="roundRect">
            <a:avLst>
              <a:gd name="adj" fmla="val 392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680" name="Image 0" descr="/mnt/data/MUMDMC2025_presentation_assets/nearest_pairs_featured.png"/>
          <p:cNvPicPr/>
          <p:nvPr/>
        </p:nvPicPr>
        <p:blipFill>
          <a:blip r:embed="rId1"/>
          <a:stretch/>
        </p:blipFill>
        <p:spPr>
          <a:xfrm>
            <a:off x="1518840" y="2340720"/>
            <a:ext cx="2941920" cy="3016800"/>
          </a:xfrm>
          <a:prstGeom prst="rect">
            <a:avLst/>
          </a:prstGeom>
          <a:noFill/>
          <a:ln w="0">
            <a:noFill/>
          </a:ln>
        </p:spPr>
      </p:pic>
      <p:sp>
        <p:nvSpPr>
          <p:cNvPr id="681" name="Shape 9"/>
          <p:cNvSpPr/>
          <p:nvPr/>
        </p:nvSpPr>
        <p:spPr>
          <a:xfrm>
            <a:off x="5550480" y="2112120"/>
            <a:ext cx="5897160" cy="3492360"/>
          </a:xfrm>
          <a:prstGeom prst="roundRect">
            <a:avLst>
              <a:gd name="adj" fmla="val 3927"/>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82" name="Text 10"/>
          <p:cNvSpPr/>
          <p:nvPr/>
        </p:nvSpPr>
        <p:spPr>
          <a:xfrm>
            <a:off x="5879520" y="2468880"/>
            <a:ext cx="525708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c3d6d0"/>
                </a:solidFill>
                <a:effectLst/>
                <a:uFillTx/>
                <a:latin typeface="Inter"/>
                <a:ea typeface="Inter"/>
              </a:rPr>
              <a:t>NEAREST NEIGHBOR FROM THE SAME FOLDER</a:t>
            </a:r>
            <a:endParaRPr b="0" lang="en-US" sz="1100" strike="noStrike" u="none">
              <a:solidFill>
                <a:srgbClr val="000000"/>
              </a:solidFill>
              <a:effectLst/>
              <a:uFillTx/>
              <a:latin typeface="Arial"/>
            </a:endParaRPr>
          </a:p>
        </p:txBody>
      </p:sp>
      <p:sp>
        <p:nvSpPr>
          <p:cNvPr id="683" name="Text 11"/>
          <p:cNvSpPr/>
          <p:nvPr/>
        </p:nvSpPr>
        <p:spPr>
          <a:xfrm>
            <a:off x="5897880" y="2825640"/>
            <a:ext cx="4982760" cy="7491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800" strike="noStrike" u="none">
                <a:solidFill>
                  <a:srgbClr val="e7ac60"/>
                </a:solidFill>
                <a:effectLst/>
                <a:uFillTx/>
                <a:latin typeface="Inter"/>
                <a:ea typeface="Inter"/>
              </a:rPr>
              <a:t>101 / 117</a:t>
            </a:r>
            <a:endParaRPr b="0" lang="en-US" sz="3800" strike="noStrike" u="none">
              <a:solidFill>
                <a:srgbClr val="000000"/>
              </a:solidFill>
              <a:effectLst/>
              <a:uFillTx/>
              <a:latin typeface="Arial"/>
            </a:endParaRPr>
          </a:p>
        </p:txBody>
      </p:sp>
      <p:sp>
        <p:nvSpPr>
          <p:cNvPr id="684" name="Shape 12"/>
          <p:cNvSpPr/>
          <p:nvPr/>
        </p:nvSpPr>
        <p:spPr>
          <a:xfrm>
            <a:off x="5879520" y="3785400"/>
            <a:ext cx="5184720" cy="360"/>
          </a:xfrm>
          <a:prstGeom prst="line">
            <a:avLst/>
          </a:prstGeom>
          <a:ln w="12700">
            <a:solidFill>
              <a:srgbClr val="5270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85" name="Text 13"/>
          <p:cNvSpPr/>
          <p:nvPr/>
        </p:nvSpPr>
        <p:spPr>
          <a:xfrm>
            <a:off x="5906880" y="4023360"/>
            <a:ext cx="4799880" cy="410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101 / 101 correct</a:t>
            </a:r>
            <a:endParaRPr b="0" lang="en-US" sz="2100" strike="noStrike" u="none">
              <a:solidFill>
                <a:srgbClr val="000000"/>
              </a:solidFill>
              <a:effectLst/>
              <a:uFillTx/>
              <a:latin typeface="Arial"/>
            </a:endParaRPr>
          </a:p>
        </p:txBody>
      </p:sp>
      <p:sp>
        <p:nvSpPr>
          <p:cNvPr id="686" name="Text 14"/>
          <p:cNvSpPr/>
          <p:nvPr/>
        </p:nvSpPr>
        <p:spPr>
          <a:xfrm>
            <a:off x="5906880" y="4462200"/>
            <a:ext cx="484560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60" strike="noStrike" u="none">
                <a:solidFill>
                  <a:srgbClr val="bcd0cc"/>
                </a:solidFill>
                <a:effectLst/>
                <a:uFillTx/>
                <a:latin typeface="Inter"/>
                <a:ea typeface="Inter"/>
              </a:rPr>
              <a:t>when the nearest neighbor shares the folder</a:t>
            </a:r>
            <a:endParaRPr b="0" lang="en-US" sz="1260" strike="noStrike" u="none">
              <a:solidFill>
                <a:srgbClr val="000000"/>
              </a:solidFill>
              <a:effectLst/>
              <a:uFillTx/>
              <a:latin typeface="Arial"/>
            </a:endParaRPr>
          </a:p>
        </p:txBody>
      </p:sp>
      <p:sp>
        <p:nvSpPr>
          <p:cNvPr id="687" name="Text 15"/>
          <p:cNvSpPr/>
          <p:nvPr/>
        </p:nvSpPr>
        <p:spPr>
          <a:xfrm>
            <a:off x="5906880" y="5020200"/>
            <a:ext cx="4827240" cy="282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e7ac60"/>
                </a:solidFill>
                <a:effectLst/>
                <a:uFillTx/>
                <a:latin typeface="Inter"/>
                <a:ea typeface="Inter"/>
              </a:rPr>
              <a:t>Only 1 / 16 correct otherwise</a:t>
            </a:r>
            <a:endParaRPr b="0" lang="en-US" sz="1300" strike="noStrike" u="none">
              <a:solidFill>
                <a:srgbClr val="000000"/>
              </a:solidFill>
              <a:effectLst/>
              <a:uFillTx/>
              <a:latin typeface="Arial"/>
            </a:endParaRPr>
          </a:p>
        </p:txBody>
      </p:sp>
      <p:sp>
        <p:nvSpPr>
          <p:cNvPr id="688" name="Text 16"/>
          <p:cNvSpPr/>
          <p:nvPr/>
        </p:nvSpPr>
        <p:spPr>
          <a:xfrm>
            <a:off x="831960" y="5779080"/>
            <a:ext cx="10560600" cy="392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20" strike="noStrike" u="none">
                <a:solidFill>
                  <a:srgbClr val="667573"/>
                </a:solidFill>
                <a:effectLst/>
                <a:uFillTx/>
                <a:latin typeface="Inter"/>
                <a:ea typeface="Inter"/>
              </a:rPr>
              <a:t>A same-folder match guarantees the right label here because each folder contains just one mineral class.</a:t>
            </a:r>
            <a:endParaRPr b="0" lang="en-US" sz="1320" strike="noStrike" u="none">
              <a:solidFill>
                <a:srgbClr val="000000"/>
              </a:solidFill>
              <a:effectLst/>
              <a:uFillTx/>
              <a:latin typeface="Arial"/>
            </a:endParaRPr>
          </a:p>
        </p:txBody>
      </p:sp>
      <p:sp>
        <p:nvSpPr>
          <p:cNvPr id="689" name="Text 17"/>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Experiment 4, Euclidean nearest neighbors on 150×150 flattened RGB.</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91" name="Shape 1"/>
          <p:cNvSpPr/>
          <p:nvPr/>
        </p:nvSpPr>
        <p:spPr>
          <a:xfrm>
            <a:off x="567000" y="356760"/>
            <a:ext cx="242784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92" name="Text 2"/>
          <p:cNvSpPr/>
          <p:nvPr/>
        </p:nvSpPr>
        <p:spPr>
          <a:xfrm>
            <a:off x="676800" y="379440"/>
            <a:ext cx="220860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693"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A stronger model — but the same evaluation unit</a:t>
            </a:r>
            <a:endParaRPr b="0" lang="en-US" sz="3000" strike="noStrike" u="none">
              <a:solidFill>
                <a:srgbClr val="000000"/>
              </a:solidFill>
              <a:effectLst/>
              <a:uFillTx/>
              <a:latin typeface="Arial"/>
            </a:endParaRPr>
          </a:p>
        </p:txBody>
      </p:sp>
      <p:sp>
        <p:nvSpPr>
          <p:cNvPr id="694"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tested ImageNet-pretrained EfficientNet-B0 and ConvNeXt-Tiny using transfer learning.</a:t>
            </a:r>
            <a:endParaRPr b="0" lang="en-US" sz="1430" strike="noStrike" u="none">
              <a:solidFill>
                <a:srgbClr val="000000"/>
              </a:solidFill>
              <a:effectLst/>
              <a:uFillTx/>
              <a:latin typeface="Arial"/>
            </a:endParaRPr>
          </a:p>
        </p:txBody>
      </p:sp>
      <p:sp>
        <p:nvSpPr>
          <p:cNvPr id="695"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696"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697"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16  /  21</a:t>
            </a:r>
            <a:endParaRPr b="0" lang="en-US" sz="900" strike="noStrike" u="none">
              <a:solidFill>
                <a:srgbClr val="000000"/>
              </a:solidFill>
              <a:effectLst/>
              <a:uFillTx/>
              <a:latin typeface="Arial"/>
            </a:endParaRPr>
          </a:p>
        </p:txBody>
      </p:sp>
      <p:sp>
        <p:nvSpPr>
          <p:cNvPr id="698" name="Shape 8"/>
          <p:cNvSpPr/>
          <p:nvPr/>
        </p:nvSpPr>
        <p:spPr>
          <a:xfrm>
            <a:off x="704160" y="2176200"/>
            <a:ext cx="4827240" cy="3153960"/>
          </a:xfrm>
          <a:prstGeom prst="roundRect">
            <a:avLst>
              <a:gd name="adj" fmla="val 434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99" name="Text 9"/>
          <p:cNvSpPr/>
          <p:nvPr/>
        </p:nvSpPr>
        <p:spPr>
          <a:xfrm>
            <a:off x="960120" y="2423160"/>
            <a:ext cx="402264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CNN DATA SPLIT</a:t>
            </a:r>
            <a:endParaRPr b="0" lang="en-US" sz="1100" strike="noStrike" u="none">
              <a:solidFill>
                <a:srgbClr val="000000"/>
              </a:solidFill>
              <a:effectLst/>
              <a:uFillTx/>
              <a:latin typeface="Arial"/>
            </a:endParaRPr>
          </a:p>
        </p:txBody>
      </p:sp>
      <p:sp>
        <p:nvSpPr>
          <p:cNvPr id="700" name="Text 10"/>
          <p:cNvSpPr/>
          <p:nvPr/>
        </p:nvSpPr>
        <p:spPr>
          <a:xfrm>
            <a:off x="1024200" y="2917080"/>
            <a:ext cx="1242720" cy="630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287f80"/>
                </a:solidFill>
                <a:effectLst/>
                <a:uFillTx/>
                <a:latin typeface="Inter"/>
                <a:ea typeface="Inter"/>
              </a:rPr>
              <a:t>396</a:t>
            </a:r>
            <a:endParaRPr b="0" lang="en-US" sz="3000" strike="noStrike" u="none">
              <a:solidFill>
                <a:srgbClr val="000000"/>
              </a:solidFill>
              <a:effectLst/>
              <a:uFillTx/>
              <a:latin typeface="Arial"/>
            </a:endParaRPr>
          </a:p>
        </p:txBody>
      </p:sp>
      <p:sp>
        <p:nvSpPr>
          <p:cNvPr id="701" name="Text 11"/>
          <p:cNvSpPr/>
          <p:nvPr/>
        </p:nvSpPr>
        <p:spPr>
          <a:xfrm>
            <a:off x="1005840" y="3547800"/>
            <a:ext cx="1114920" cy="282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train</a:t>
            </a:r>
            <a:endParaRPr b="0" lang="en-US" sz="1400" strike="noStrike" u="none">
              <a:solidFill>
                <a:srgbClr val="000000"/>
              </a:solidFill>
              <a:effectLst/>
              <a:uFillTx/>
              <a:latin typeface="Arial"/>
            </a:endParaRPr>
          </a:p>
        </p:txBody>
      </p:sp>
      <p:sp>
        <p:nvSpPr>
          <p:cNvPr id="702" name="Text 12"/>
          <p:cNvSpPr/>
          <p:nvPr/>
        </p:nvSpPr>
        <p:spPr>
          <a:xfrm>
            <a:off x="2660760" y="2917080"/>
            <a:ext cx="1023480" cy="630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d9794a"/>
                </a:solidFill>
                <a:effectLst/>
                <a:uFillTx/>
                <a:latin typeface="Inter"/>
                <a:ea typeface="Inter"/>
              </a:rPr>
              <a:t>70</a:t>
            </a:r>
            <a:endParaRPr b="0" lang="en-US" sz="3000" strike="noStrike" u="none">
              <a:solidFill>
                <a:srgbClr val="000000"/>
              </a:solidFill>
              <a:effectLst/>
              <a:uFillTx/>
              <a:latin typeface="Arial"/>
            </a:endParaRPr>
          </a:p>
        </p:txBody>
      </p:sp>
      <p:sp>
        <p:nvSpPr>
          <p:cNvPr id="703" name="Text 13"/>
          <p:cNvSpPr/>
          <p:nvPr/>
        </p:nvSpPr>
        <p:spPr>
          <a:xfrm>
            <a:off x="2651760" y="3547800"/>
            <a:ext cx="1279440" cy="282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validation</a:t>
            </a:r>
            <a:endParaRPr b="0" lang="en-US" sz="1400" strike="noStrike" u="none">
              <a:solidFill>
                <a:srgbClr val="000000"/>
              </a:solidFill>
              <a:effectLst/>
              <a:uFillTx/>
              <a:latin typeface="Arial"/>
            </a:endParaRPr>
          </a:p>
        </p:txBody>
      </p:sp>
      <p:sp>
        <p:nvSpPr>
          <p:cNvPr id="704" name="Text 14"/>
          <p:cNvSpPr/>
          <p:nvPr/>
        </p:nvSpPr>
        <p:spPr>
          <a:xfrm>
            <a:off x="4087440" y="2917080"/>
            <a:ext cx="1160640" cy="6303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a:ea typeface="Inter"/>
              </a:rPr>
              <a:t>117</a:t>
            </a:r>
            <a:endParaRPr b="0" lang="en-US" sz="3000" strike="noStrike" u="none">
              <a:solidFill>
                <a:srgbClr val="000000"/>
              </a:solidFill>
              <a:effectLst/>
              <a:uFillTx/>
              <a:latin typeface="Arial"/>
            </a:endParaRPr>
          </a:p>
        </p:txBody>
      </p:sp>
      <p:sp>
        <p:nvSpPr>
          <p:cNvPr id="705" name="Text 15"/>
          <p:cNvSpPr/>
          <p:nvPr/>
        </p:nvSpPr>
        <p:spPr>
          <a:xfrm>
            <a:off x="4087440" y="3547800"/>
            <a:ext cx="858960" cy="282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132b2d"/>
                </a:solidFill>
                <a:effectLst/>
                <a:uFillTx/>
                <a:latin typeface="Inter"/>
                <a:ea typeface="Inter"/>
              </a:rPr>
              <a:t>test</a:t>
            </a:r>
            <a:endParaRPr b="0" lang="en-US" sz="1400" strike="noStrike" u="none">
              <a:solidFill>
                <a:srgbClr val="000000"/>
              </a:solidFill>
              <a:effectLst/>
              <a:uFillTx/>
              <a:latin typeface="Arial"/>
            </a:endParaRPr>
          </a:p>
        </p:txBody>
      </p:sp>
      <p:sp>
        <p:nvSpPr>
          <p:cNvPr id="706" name="Shape 16"/>
          <p:cNvSpPr/>
          <p:nvPr/>
        </p:nvSpPr>
        <p:spPr>
          <a:xfrm>
            <a:off x="1024200" y="4233600"/>
            <a:ext cx="4178160" cy="246240"/>
          </a:xfrm>
          <a:prstGeom prst="roundRect">
            <a:avLst>
              <a:gd name="adj" fmla="val 29630"/>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07" name="Shape 17"/>
          <p:cNvSpPr/>
          <p:nvPr/>
        </p:nvSpPr>
        <p:spPr>
          <a:xfrm>
            <a:off x="1024200" y="4233600"/>
            <a:ext cx="2837880" cy="246240"/>
          </a:xfrm>
          <a:prstGeom prst="roundRect">
            <a:avLst>
              <a:gd name="adj" fmla="val 29630"/>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08" name="Shape 18"/>
          <p:cNvSpPr/>
          <p:nvPr/>
        </p:nvSpPr>
        <p:spPr>
          <a:xfrm>
            <a:off x="3862440" y="4233600"/>
            <a:ext cx="501120" cy="246240"/>
          </a:xfrm>
          <a:prstGeom prst="roundRect">
            <a:avLst>
              <a:gd name="adj" fmla="val 14815"/>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09" name="Shape 19"/>
          <p:cNvSpPr/>
          <p:nvPr/>
        </p:nvSpPr>
        <p:spPr>
          <a:xfrm>
            <a:off x="4364280" y="4233600"/>
            <a:ext cx="838080" cy="246240"/>
          </a:xfrm>
          <a:prstGeom prst="roundRect">
            <a:avLst>
              <a:gd name="adj" fmla="val 14815"/>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10" name="Text 20"/>
          <p:cNvSpPr/>
          <p:nvPr/>
        </p:nvSpPr>
        <p:spPr>
          <a:xfrm>
            <a:off x="1005840" y="4773240"/>
            <a:ext cx="4415760" cy="319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Same 117 test images as classical ML</a:t>
            </a:r>
            <a:endParaRPr b="0" lang="en-US" sz="1200" strike="noStrike" u="none">
              <a:solidFill>
                <a:srgbClr val="000000"/>
              </a:solidFill>
              <a:effectLst/>
              <a:uFillTx/>
              <a:latin typeface="Arial"/>
            </a:endParaRPr>
          </a:p>
        </p:txBody>
      </p:sp>
      <p:sp>
        <p:nvSpPr>
          <p:cNvPr id="711" name="Shape 21"/>
          <p:cNvSpPr/>
          <p:nvPr/>
        </p:nvSpPr>
        <p:spPr>
          <a:xfrm>
            <a:off x="5760720" y="2176200"/>
            <a:ext cx="5686920" cy="3153960"/>
          </a:xfrm>
          <a:prstGeom prst="roundRect">
            <a:avLst>
              <a:gd name="adj" fmla="val 4348"/>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12" name="Text 22"/>
          <p:cNvSpPr/>
          <p:nvPr/>
        </p:nvSpPr>
        <p:spPr>
          <a:xfrm>
            <a:off x="6035040" y="2432160"/>
            <a:ext cx="511992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TWO-STAGE TRANSFER LEARNING</a:t>
            </a:r>
            <a:endParaRPr b="0" lang="en-US" sz="1100" strike="noStrike" u="none">
              <a:solidFill>
                <a:srgbClr val="000000"/>
              </a:solidFill>
              <a:effectLst/>
              <a:uFillTx/>
              <a:latin typeface="Arial"/>
            </a:endParaRPr>
          </a:p>
        </p:txBody>
      </p:sp>
      <p:sp>
        <p:nvSpPr>
          <p:cNvPr id="713" name="Shape 23"/>
          <p:cNvSpPr/>
          <p:nvPr/>
        </p:nvSpPr>
        <p:spPr>
          <a:xfrm>
            <a:off x="6099120" y="2889360"/>
            <a:ext cx="2303640" cy="1736640"/>
          </a:xfrm>
          <a:prstGeom prst="roundRect">
            <a:avLst>
              <a:gd name="adj" fmla="val 7895"/>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14" name="Shape 24"/>
          <p:cNvSpPr/>
          <p:nvPr/>
        </p:nvSpPr>
        <p:spPr>
          <a:xfrm>
            <a:off x="6300360" y="3072240"/>
            <a:ext cx="410760" cy="39240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15" name="Text 25"/>
          <p:cNvSpPr/>
          <p:nvPr/>
        </p:nvSpPr>
        <p:spPr>
          <a:xfrm>
            <a:off x="6318360" y="3099960"/>
            <a:ext cx="37404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1</a:t>
            </a:r>
            <a:endParaRPr b="0" lang="en-US" sz="1600" strike="noStrike" u="none">
              <a:solidFill>
                <a:srgbClr val="000000"/>
              </a:solidFill>
              <a:effectLst/>
              <a:uFillTx/>
              <a:latin typeface="Arial"/>
            </a:endParaRPr>
          </a:p>
        </p:txBody>
      </p:sp>
      <p:sp>
        <p:nvSpPr>
          <p:cNvPr id="716" name="Text 26"/>
          <p:cNvSpPr/>
          <p:nvPr/>
        </p:nvSpPr>
        <p:spPr>
          <a:xfrm>
            <a:off x="6282000" y="3611880"/>
            <a:ext cx="1974240" cy="356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132b2d"/>
                </a:solidFill>
                <a:effectLst/>
                <a:uFillTx/>
                <a:latin typeface="Inter"/>
                <a:ea typeface="Inter"/>
              </a:rPr>
              <a:t>Freeze backbone</a:t>
            </a:r>
            <a:endParaRPr b="0" lang="en-US" sz="1400" strike="noStrike" u="none">
              <a:solidFill>
                <a:srgbClr val="000000"/>
              </a:solidFill>
              <a:effectLst/>
              <a:uFillTx/>
              <a:latin typeface="Arial"/>
            </a:endParaRPr>
          </a:p>
        </p:txBody>
      </p:sp>
      <p:sp>
        <p:nvSpPr>
          <p:cNvPr id="717" name="Text 27"/>
          <p:cNvSpPr/>
          <p:nvPr/>
        </p:nvSpPr>
        <p:spPr>
          <a:xfrm>
            <a:off x="6291000" y="4096440"/>
            <a:ext cx="1965240" cy="300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Train a 5-class head</a:t>
            </a:r>
            <a:endParaRPr b="0" lang="en-US" sz="1200" strike="noStrike" u="none">
              <a:solidFill>
                <a:srgbClr val="000000"/>
              </a:solidFill>
              <a:effectLst/>
              <a:uFillTx/>
              <a:latin typeface="Arial"/>
            </a:endParaRPr>
          </a:p>
        </p:txBody>
      </p:sp>
      <p:sp>
        <p:nvSpPr>
          <p:cNvPr id="718" name="Text 28"/>
          <p:cNvSpPr/>
          <p:nvPr/>
        </p:nvSpPr>
        <p:spPr>
          <a:xfrm>
            <a:off x="8494920" y="3474720"/>
            <a:ext cx="300960" cy="3834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200" strike="noStrike" u="none">
                <a:solidFill>
                  <a:srgbClr val="12585a"/>
                </a:solidFill>
                <a:effectLst/>
                <a:uFillTx/>
                <a:latin typeface="Inter"/>
                <a:ea typeface="Inter"/>
              </a:rPr>
              <a:t>→</a:t>
            </a:r>
            <a:endParaRPr b="0" lang="en-US" sz="2200" strike="noStrike" u="none">
              <a:solidFill>
                <a:srgbClr val="000000"/>
              </a:solidFill>
              <a:effectLst/>
              <a:uFillTx/>
              <a:latin typeface="Arial"/>
            </a:endParaRPr>
          </a:p>
        </p:txBody>
      </p:sp>
      <p:sp>
        <p:nvSpPr>
          <p:cNvPr id="719" name="Shape 29"/>
          <p:cNvSpPr/>
          <p:nvPr/>
        </p:nvSpPr>
        <p:spPr>
          <a:xfrm>
            <a:off x="8924400" y="2889360"/>
            <a:ext cx="2257920" cy="1736640"/>
          </a:xfrm>
          <a:prstGeom prst="roundRect">
            <a:avLst>
              <a:gd name="adj" fmla="val 7895"/>
            </a:avLst>
          </a:prstGeom>
          <a:solidFill>
            <a:srgbClr val="ffffff"/>
          </a:solidFill>
          <a:ln w="12700">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20" name="Shape 30"/>
          <p:cNvSpPr/>
          <p:nvPr/>
        </p:nvSpPr>
        <p:spPr>
          <a:xfrm>
            <a:off x="9116640" y="3072240"/>
            <a:ext cx="410760" cy="39240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721" name="Text 31"/>
          <p:cNvSpPr/>
          <p:nvPr/>
        </p:nvSpPr>
        <p:spPr>
          <a:xfrm>
            <a:off x="9135000" y="3099960"/>
            <a:ext cx="37404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2</a:t>
            </a:r>
            <a:endParaRPr b="0" lang="en-US" sz="1600" strike="noStrike" u="none">
              <a:solidFill>
                <a:srgbClr val="000000"/>
              </a:solidFill>
              <a:effectLst/>
              <a:uFillTx/>
              <a:latin typeface="Arial"/>
            </a:endParaRPr>
          </a:p>
        </p:txBody>
      </p:sp>
      <p:sp>
        <p:nvSpPr>
          <p:cNvPr id="722" name="Text 32"/>
          <p:cNvSpPr/>
          <p:nvPr/>
        </p:nvSpPr>
        <p:spPr>
          <a:xfrm>
            <a:off x="9116640" y="3611880"/>
            <a:ext cx="1864800" cy="356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Fine-tune</a:t>
            </a:r>
            <a:endParaRPr b="0" lang="en-US" sz="1500" strike="noStrike" u="none">
              <a:solidFill>
                <a:srgbClr val="000000"/>
              </a:solidFill>
              <a:effectLst/>
              <a:uFillTx/>
              <a:latin typeface="Arial"/>
            </a:endParaRPr>
          </a:p>
        </p:txBody>
      </p:sp>
      <p:sp>
        <p:nvSpPr>
          <p:cNvPr id="723" name="Text 33"/>
          <p:cNvSpPr/>
          <p:nvPr/>
        </p:nvSpPr>
        <p:spPr>
          <a:xfrm>
            <a:off x="9116640" y="4096440"/>
            <a:ext cx="1873800" cy="300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667573"/>
                </a:solidFill>
                <a:effectLst/>
                <a:uFillTx/>
                <a:latin typeface="Inter"/>
                <a:ea typeface="Inter"/>
              </a:rPr>
              <a:t>Last backbone stage</a:t>
            </a:r>
            <a:endParaRPr b="0" lang="en-US" sz="1200" strike="noStrike" u="none">
              <a:solidFill>
                <a:srgbClr val="000000"/>
              </a:solidFill>
              <a:effectLst/>
              <a:uFillTx/>
              <a:latin typeface="Arial"/>
            </a:endParaRPr>
          </a:p>
        </p:txBody>
      </p:sp>
      <p:sp>
        <p:nvSpPr>
          <p:cNvPr id="724" name="Text 34"/>
          <p:cNvSpPr/>
          <p:nvPr/>
        </p:nvSpPr>
        <p:spPr>
          <a:xfrm>
            <a:off x="1874520" y="5641920"/>
            <a:ext cx="8548920" cy="374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400" strike="noStrike" u="none">
                <a:solidFill>
                  <a:srgbClr val="667573"/>
                </a:solidFill>
                <a:effectLst/>
                <a:uFillTx/>
                <a:latin typeface="Inter"/>
                <a:ea typeface="Inter"/>
              </a:rPr>
              <a:t>ImageNet pretrained · input 224×224 · augmentation on train only</a:t>
            </a:r>
            <a:endParaRPr b="0" lang="en-US" sz="1400" strike="noStrike" u="none">
              <a:solidFill>
                <a:srgbClr val="000000"/>
              </a:solidFill>
              <a:effectLst/>
              <a:uFillTx/>
              <a:latin typeface="Arial"/>
            </a:endParaRPr>
          </a:p>
        </p:txBody>
      </p:sp>
      <p:sp>
        <p:nvSpPr>
          <p:cNvPr id="725" name="Text 35"/>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Experiment 5 in final Colab notebook: EfficientNet-B0, ConvNeXt-Tiny, validation-based checkpoint selection.</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27" name="Shape 1"/>
          <p:cNvSpPr/>
          <p:nvPr/>
        </p:nvSpPr>
        <p:spPr>
          <a:xfrm>
            <a:off x="567000" y="356760"/>
            <a:ext cx="242784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28" name="Text 2"/>
          <p:cNvSpPr/>
          <p:nvPr/>
        </p:nvSpPr>
        <p:spPr>
          <a:xfrm>
            <a:off x="676800" y="379440"/>
            <a:ext cx="220860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729"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CNNs improve every reported test metric</a:t>
            </a:r>
            <a:endParaRPr b="0" lang="en-US" sz="3000" strike="noStrike" u="none">
              <a:solidFill>
                <a:srgbClr val="000000"/>
              </a:solidFill>
              <a:effectLst/>
              <a:uFillTx/>
              <a:latin typeface="Arial"/>
            </a:endParaRPr>
          </a:p>
        </p:txBody>
      </p:sp>
      <p:sp>
        <p:nvSpPr>
          <p:cNvPr id="730"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Results for the 117-image holdout · Precision, Recall, F1 are weighted averages.</a:t>
            </a:r>
            <a:endParaRPr b="0" lang="en-US" sz="1430" strike="noStrike" u="none">
              <a:solidFill>
                <a:srgbClr val="000000"/>
              </a:solidFill>
              <a:effectLst/>
              <a:uFillTx/>
              <a:latin typeface="Arial"/>
            </a:endParaRPr>
          </a:p>
        </p:txBody>
      </p:sp>
      <p:sp>
        <p:nvSpPr>
          <p:cNvPr id="731"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32"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733"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17  /  21</a:t>
            </a:r>
            <a:endParaRPr b="0" lang="en-US" sz="900" strike="noStrike" u="none">
              <a:solidFill>
                <a:srgbClr val="000000"/>
              </a:solidFill>
              <a:effectLst/>
              <a:uFillTx/>
              <a:latin typeface="Arial"/>
            </a:endParaRPr>
          </a:p>
        </p:txBody>
      </p:sp>
      <p:sp>
        <p:nvSpPr>
          <p:cNvPr id="734" name="Shape 8"/>
          <p:cNvSpPr/>
          <p:nvPr/>
        </p:nvSpPr>
        <p:spPr>
          <a:xfrm>
            <a:off x="694800" y="2066400"/>
            <a:ext cx="10780200" cy="3739320"/>
          </a:xfrm>
          <a:prstGeom prst="roundRect">
            <a:avLst>
              <a:gd name="adj" fmla="val 3667"/>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35" name="Text 9"/>
          <p:cNvSpPr/>
          <p:nvPr/>
        </p:nvSpPr>
        <p:spPr>
          <a:xfrm>
            <a:off x="905400" y="2404800"/>
            <a:ext cx="302580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MODEL &amp; TRAINING STAGE</a:t>
            </a:r>
            <a:endParaRPr b="0" lang="en-US" sz="1100" strike="noStrike" u="none">
              <a:solidFill>
                <a:srgbClr val="000000"/>
              </a:solidFill>
              <a:effectLst/>
              <a:uFillTx/>
              <a:latin typeface="Arial"/>
            </a:endParaRPr>
          </a:p>
        </p:txBody>
      </p:sp>
      <p:sp>
        <p:nvSpPr>
          <p:cNvPr id="736" name="Text 10"/>
          <p:cNvSpPr/>
          <p:nvPr/>
        </p:nvSpPr>
        <p:spPr>
          <a:xfrm>
            <a:off x="3767400" y="2404800"/>
            <a:ext cx="1160640" cy="273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ACCURACY</a:t>
            </a:r>
            <a:endParaRPr b="0" lang="en-US" sz="1000" strike="noStrike" u="none">
              <a:solidFill>
                <a:srgbClr val="000000"/>
              </a:solidFill>
              <a:effectLst/>
              <a:uFillTx/>
              <a:latin typeface="Arial"/>
            </a:endParaRPr>
          </a:p>
        </p:txBody>
      </p:sp>
      <p:sp>
        <p:nvSpPr>
          <p:cNvPr id="737" name="Text 11"/>
          <p:cNvSpPr/>
          <p:nvPr/>
        </p:nvSpPr>
        <p:spPr>
          <a:xfrm>
            <a:off x="5139000" y="2404800"/>
            <a:ext cx="1160640" cy="273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PRECISION</a:t>
            </a:r>
            <a:endParaRPr b="0" lang="en-US" sz="1000" strike="noStrike" u="none">
              <a:solidFill>
                <a:srgbClr val="000000"/>
              </a:solidFill>
              <a:effectLst/>
              <a:uFillTx/>
              <a:latin typeface="Arial"/>
            </a:endParaRPr>
          </a:p>
        </p:txBody>
      </p:sp>
      <p:sp>
        <p:nvSpPr>
          <p:cNvPr id="738" name="Text 12"/>
          <p:cNvSpPr/>
          <p:nvPr/>
        </p:nvSpPr>
        <p:spPr>
          <a:xfrm>
            <a:off x="6510600" y="2404800"/>
            <a:ext cx="1160640" cy="273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RECALL</a:t>
            </a:r>
            <a:endParaRPr b="0" lang="en-US" sz="1000" strike="noStrike" u="none">
              <a:solidFill>
                <a:srgbClr val="000000"/>
              </a:solidFill>
              <a:effectLst/>
              <a:uFillTx/>
              <a:latin typeface="Arial"/>
            </a:endParaRPr>
          </a:p>
        </p:txBody>
      </p:sp>
      <p:sp>
        <p:nvSpPr>
          <p:cNvPr id="739" name="Text 13"/>
          <p:cNvSpPr/>
          <p:nvPr/>
        </p:nvSpPr>
        <p:spPr>
          <a:xfrm>
            <a:off x="7882200" y="2404800"/>
            <a:ext cx="1160640" cy="273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F1 (W)</a:t>
            </a:r>
            <a:endParaRPr b="0" lang="en-US" sz="1000" strike="noStrike" u="none">
              <a:solidFill>
                <a:srgbClr val="000000"/>
              </a:solidFill>
              <a:effectLst/>
              <a:uFillTx/>
              <a:latin typeface="Arial"/>
            </a:endParaRPr>
          </a:p>
        </p:txBody>
      </p:sp>
      <p:sp>
        <p:nvSpPr>
          <p:cNvPr id="740" name="Text 14"/>
          <p:cNvSpPr/>
          <p:nvPr/>
        </p:nvSpPr>
        <p:spPr>
          <a:xfrm>
            <a:off x="9253800" y="2404800"/>
            <a:ext cx="1160640" cy="273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667573"/>
                </a:solidFill>
                <a:effectLst/>
                <a:uFillTx/>
                <a:latin typeface="Inter"/>
                <a:ea typeface="Inter"/>
              </a:rPr>
              <a:t>MACRO-F1</a:t>
            </a:r>
            <a:endParaRPr b="0" lang="en-US" sz="1000" strike="noStrike" u="none">
              <a:solidFill>
                <a:srgbClr val="000000"/>
              </a:solidFill>
              <a:effectLst/>
              <a:uFillTx/>
              <a:latin typeface="Arial"/>
            </a:endParaRPr>
          </a:p>
        </p:txBody>
      </p:sp>
      <p:sp>
        <p:nvSpPr>
          <p:cNvPr id="741" name="Shape 15"/>
          <p:cNvSpPr/>
          <p:nvPr/>
        </p:nvSpPr>
        <p:spPr>
          <a:xfrm>
            <a:off x="896040" y="2917080"/>
            <a:ext cx="10332000" cy="511200"/>
          </a:xfrm>
          <a:prstGeom prst="roundRect">
            <a:avLst>
              <a:gd name="adj" fmla="val 8929"/>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42" name="Text 16"/>
          <p:cNvSpPr/>
          <p:nvPr/>
        </p:nvSpPr>
        <p:spPr>
          <a:xfrm>
            <a:off x="1088280" y="2999160"/>
            <a:ext cx="148968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EfficientNet-B0</a:t>
            </a:r>
            <a:endParaRPr b="0" lang="en-US" sz="1340" strike="noStrike" u="none">
              <a:solidFill>
                <a:srgbClr val="000000"/>
              </a:solidFill>
              <a:effectLst/>
              <a:uFillTx/>
              <a:latin typeface="Arial"/>
            </a:endParaRPr>
          </a:p>
        </p:txBody>
      </p:sp>
      <p:sp>
        <p:nvSpPr>
          <p:cNvPr id="743" name="Text 17"/>
          <p:cNvSpPr/>
          <p:nvPr/>
        </p:nvSpPr>
        <p:spPr>
          <a:xfrm>
            <a:off x="2597040" y="3008520"/>
            <a:ext cx="98676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Head only</a:t>
            </a:r>
            <a:endParaRPr b="0" lang="en-US" sz="1100" strike="noStrike" u="none">
              <a:solidFill>
                <a:srgbClr val="000000"/>
              </a:solidFill>
              <a:effectLst/>
              <a:uFillTx/>
              <a:latin typeface="Arial"/>
            </a:endParaRPr>
          </a:p>
        </p:txBody>
      </p:sp>
      <p:sp>
        <p:nvSpPr>
          <p:cNvPr id="744" name="Text 18"/>
          <p:cNvSpPr/>
          <p:nvPr/>
        </p:nvSpPr>
        <p:spPr>
          <a:xfrm>
            <a:off x="3767400" y="298080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45" name="Text 19"/>
          <p:cNvSpPr/>
          <p:nvPr/>
        </p:nvSpPr>
        <p:spPr>
          <a:xfrm>
            <a:off x="5139000" y="298080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97.0%</a:t>
            </a:r>
            <a:endParaRPr b="0" lang="en-US" sz="1370" strike="noStrike" u="none">
              <a:solidFill>
                <a:srgbClr val="000000"/>
              </a:solidFill>
              <a:effectLst/>
              <a:uFillTx/>
              <a:latin typeface="Arial"/>
            </a:endParaRPr>
          </a:p>
        </p:txBody>
      </p:sp>
      <p:sp>
        <p:nvSpPr>
          <p:cNvPr id="746" name="Text 20"/>
          <p:cNvSpPr/>
          <p:nvPr/>
        </p:nvSpPr>
        <p:spPr>
          <a:xfrm>
            <a:off x="6510600" y="298080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47" name="Text 21"/>
          <p:cNvSpPr/>
          <p:nvPr/>
        </p:nvSpPr>
        <p:spPr>
          <a:xfrm>
            <a:off x="7882200" y="298080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48" name="Text 22"/>
          <p:cNvSpPr/>
          <p:nvPr/>
        </p:nvSpPr>
        <p:spPr>
          <a:xfrm>
            <a:off x="9253800" y="298080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96.6%</a:t>
            </a:r>
            <a:endParaRPr b="0" lang="en-US" sz="1370" strike="noStrike" u="none">
              <a:solidFill>
                <a:srgbClr val="000000"/>
              </a:solidFill>
              <a:effectLst/>
              <a:uFillTx/>
              <a:latin typeface="Arial"/>
            </a:endParaRPr>
          </a:p>
        </p:txBody>
      </p:sp>
      <p:sp>
        <p:nvSpPr>
          <p:cNvPr id="749" name="Shape 23"/>
          <p:cNvSpPr/>
          <p:nvPr/>
        </p:nvSpPr>
        <p:spPr>
          <a:xfrm>
            <a:off x="896040" y="3511440"/>
            <a:ext cx="10332000" cy="511200"/>
          </a:xfrm>
          <a:prstGeom prst="roundRect">
            <a:avLst>
              <a:gd name="adj" fmla="val 892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50" name="Text 24"/>
          <p:cNvSpPr/>
          <p:nvPr/>
        </p:nvSpPr>
        <p:spPr>
          <a:xfrm>
            <a:off x="1088280" y="3593520"/>
            <a:ext cx="148968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EfficientNet-B0</a:t>
            </a:r>
            <a:endParaRPr b="0" lang="en-US" sz="1340" strike="noStrike" u="none">
              <a:solidFill>
                <a:srgbClr val="000000"/>
              </a:solidFill>
              <a:effectLst/>
              <a:uFillTx/>
              <a:latin typeface="Arial"/>
            </a:endParaRPr>
          </a:p>
        </p:txBody>
      </p:sp>
      <p:sp>
        <p:nvSpPr>
          <p:cNvPr id="751" name="Text 25"/>
          <p:cNvSpPr/>
          <p:nvPr/>
        </p:nvSpPr>
        <p:spPr>
          <a:xfrm>
            <a:off x="2597040" y="3602880"/>
            <a:ext cx="98676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Fine-tuned</a:t>
            </a:r>
            <a:endParaRPr b="0" lang="en-US" sz="1100" strike="noStrike" u="none">
              <a:solidFill>
                <a:srgbClr val="000000"/>
              </a:solidFill>
              <a:effectLst/>
              <a:uFillTx/>
              <a:latin typeface="Arial"/>
            </a:endParaRPr>
          </a:p>
        </p:txBody>
      </p:sp>
      <p:sp>
        <p:nvSpPr>
          <p:cNvPr id="752" name="Text 26"/>
          <p:cNvSpPr/>
          <p:nvPr/>
        </p:nvSpPr>
        <p:spPr>
          <a:xfrm>
            <a:off x="3767400" y="357516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53" name="Text 27"/>
          <p:cNvSpPr/>
          <p:nvPr/>
        </p:nvSpPr>
        <p:spPr>
          <a:xfrm>
            <a:off x="5139000" y="357516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99.2%</a:t>
            </a:r>
            <a:endParaRPr b="0" lang="en-US" sz="1370" strike="noStrike" u="none">
              <a:solidFill>
                <a:srgbClr val="000000"/>
              </a:solidFill>
              <a:effectLst/>
              <a:uFillTx/>
              <a:latin typeface="Arial"/>
            </a:endParaRPr>
          </a:p>
        </p:txBody>
      </p:sp>
      <p:sp>
        <p:nvSpPr>
          <p:cNvPr id="754" name="Text 28"/>
          <p:cNvSpPr/>
          <p:nvPr/>
        </p:nvSpPr>
        <p:spPr>
          <a:xfrm>
            <a:off x="6510600" y="357516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55" name="Text 29"/>
          <p:cNvSpPr/>
          <p:nvPr/>
        </p:nvSpPr>
        <p:spPr>
          <a:xfrm>
            <a:off x="7882200" y="357516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99.1%</a:t>
            </a:r>
            <a:endParaRPr b="0" lang="en-US" sz="1370" strike="noStrike" u="none">
              <a:solidFill>
                <a:srgbClr val="000000"/>
              </a:solidFill>
              <a:effectLst/>
              <a:uFillTx/>
              <a:latin typeface="Arial"/>
            </a:endParaRPr>
          </a:p>
        </p:txBody>
      </p:sp>
      <p:sp>
        <p:nvSpPr>
          <p:cNvPr id="756" name="Text 30"/>
          <p:cNvSpPr/>
          <p:nvPr/>
        </p:nvSpPr>
        <p:spPr>
          <a:xfrm>
            <a:off x="9253800" y="357516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70" strike="noStrike" u="none">
                <a:solidFill>
                  <a:srgbClr val="132b2d"/>
                </a:solidFill>
                <a:effectLst/>
                <a:uFillTx/>
                <a:latin typeface="Inter"/>
                <a:ea typeface="Inter"/>
              </a:rPr>
              <a:t>99.3%</a:t>
            </a:r>
            <a:endParaRPr b="0" lang="en-US" sz="1370" strike="noStrike" u="none">
              <a:solidFill>
                <a:srgbClr val="000000"/>
              </a:solidFill>
              <a:effectLst/>
              <a:uFillTx/>
              <a:latin typeface="Arial"/>
            </a:endParaRPr>
          </a:p>
        </p:txBody>
      </p:sp>
      <p:sp>
        <p:nvSpPr>
          <p:cNvPr id="757" name="Shape 31"/>
          <p:cNvSpPr/>
          <p:nvPr/>
        </p:nvSpPr>
        <p:spPr>
          <a:xfrm>
            <a:off x="896040" y="4105800"/>
            <a:ext cx="10332000" cy="511200"/>
          </a:xfrm>
          <a:prstGeom prst="roundRect">
            <a:avLst>
              <a:gd name="adj" fmla="val 8929"/>
            </a:avLst>
          </a:prstGeom>
          <a:solidFill>
            <a:srgbClr val="f1f1ec"/>
          </a:solidFill>
          <a:ln w="12700">
            <a:solidFill>
              <a:srgbClr val="f1f1ec">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58" name="Text 32"/>
          <p:cNvSpPr/>
          <p:nvPr/>
        </p:nvSpPr>
        <p:spPr>
          <a:xfrm>
            <a:off x="1088280" y="4187880"/>
            <a:ext cx="148968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ConvNeXt-Tiny</a:t>
            </a:r>
            <a:endParaRPr b="0" lang="en-US" sz="1340" strike="noStrike" u="none">
              <a:solidFill>
                <a:srgbClr val="000000"/>
              </a:solidFill>
              <a:effectLst/>
              <a:uFillTx/>
              <a:latin typeface="Arial"/>
            </a:endParaRPr>
          </a:p>
        </p:txBody>
      </p:sp>
      <p:sp>
        <p:nvSpPr>
          <p:cNvPr id="759" name="Text 33"/>
          <p:cNvSpPr/>
          <p:nvPr/>
        </p:nvSpPr>
        <p:spPr>
          <a:xfrm>
            <a:off x="2597040" y="4197240"/>
            <a:ext cx="98676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Head only</a:t>
            </a:r>
            <a:endParaRPr b="0" lang="en-US" sz="1100" strike="noStrike" u="none">
              <a:solidFill>
                <a:srgbClr val="000000"/>
              </a:solidFill>
              <a:effectLst/>
              <a:uFillTx/>
              <a:latin typeface="Arial"/>
            </a:endParaRPr>
          </a:p>
        </p:txBody>
      </p:sp>
      <p:sp>
        <p:nvSpPr>
          <p:cNvPr id="760" name="Text 34"/>
          <p:cNvSpPr/>
          <p:nvPr/>
        </p:nvSpPr>
        <p:spPr>
          <a:xfrm>
            <a:off x="3767400" y="416952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61" name="Text 35"/>
          <p:cNvSpPr/>
          <p:nvPr/>
        </p:nvSpPr>
        <p:spPr>
          <a:xfrm>
            <a:off x="5139000" y="416952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62" name="Text 36"/>
          <p:cNvSpPr/>
          <p:nvPr/>
        </p:nvSpPr>
        <p:spPr>
          <a:xfrm>
            <a:off x="6510600" y="416952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63" name="Text 37"/>
          <p:cNvSpPr/>
          <p:nvPr/>
        </p:nvSpPr>
        <p:spPr>
          <a:xfrm>
            <a:off x="7882200" y="416952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64" name="Text 38"/>
          <p:cNvSpPr/>
          <p:nvPr/>
        </p:nvSpPr>
        <p:spPr>
          <a:xfrm>
            <a:off x="9253800" y="416952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65" name="Shape 39"/>
          <p:cNvSpPr/>
          <p:nvPr/>
        </p:nvSpPr>
        <p:spPr>
          <a:xfrm>
            <a:off x="896040" y="4700160"/>
            <a:ext cx="10332000" cy="511200"/>
          </a:xfrm>
          <a:prstGeom prst="roundRect">
            <a:avLst>
              <a:gd name="adj" fmla="val 8929"/>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66" name="Text 40"/>
          <p:cNvSpPr/>
          <p:nvPr/>
        </p:nvSpPr>
        <p:spPr>
          <a:xfrm>
            <a:off x="1088280" y="4782240"/>
            <a:ext cx="1489680" cy="291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40" strike="noStrike" u="none">
                <a:solidFill>
                  <a:srgbClr val="132b2d"/>
                </a:solidFill>
                <a:effectLst/>
                <a:uFillTx/>
                <a:latin typeface="Inter"/>
                <a:ea typeface="Inter"/>
              </a:rPr>
              <a:t>ConvNeXt-Tiny</a:t>
            </a:r>
            <a:endParaRPr b="0" lang="en-US" sz="1340" strike="noStrike" u="none">
              <a:solidFill>
                <a:srgbClr val="000000"/>
              </a:solidFill>
              <a:effectLst/>
              <a:uFillTx/>
              <a:latin typeface="Arial"/>
            </a:endParaRPr>
          </a:p>
        </p:txBody>
      </p:sp>
      <p:sp>
        <p:nvSpPr>
          <p:cNvPr id="767" name="Text 41"/>
          <p:cNvSpPr/>
          <p:nvPr/>
        </p:nvSpPr>
        <p:spPr>
          <a:xfrm>
            <a:off x="2597040" y="4791600"/>
            <a:ext cx="986760" cy="273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667573"/>
                </a:solidFill>
                <a:effectLst/>
                <a:uFillTx/>
                <a:latin typeface="Inter"/>
                <a:ea typeface="Inter"/>
              </a:rPr>
              <a:t>Fine-tuned</a:t>
            </a:r>
            <a:endParaRPr b="0" lang="en-US" sz="1100" strike="noStrike" u="none">
              <a:solidFill>
                <a:srgbClr val="000000"/>
              </a:solidFill>
              <a:effectLst/>
              <a:uFillTx/>
              <a:latin typeface="Arial"/>
            </a:endParaRPr>
          </a:p>
        </p:txBody>
      </p:sp>
      <p:sp>
        <p:nvSpPr>
          <p:cNvPr id="768" name="Text 42"/>
          <p:cNvSpPr/>
          <p:nvPr/>
        </p:nvSpPr>
        <p:spPr>
          <a:xfrm>
            <a:off x="3767400" y="476388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69" name="Text 43"/>
          <p:cNvSpPr/>
          <p:nvPr/>
        </p:nvSpPr>
        <p:spPr>
          <a:xfrm>
            <a:off x="5139000" y="476388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0" name="Text 44"/>
          <p:cNvSpPr/>
          <p:nvPr/>
        </p:nvSpPr>
        <p:spPr>
          <a:xfrm>
            <a:off x="6510600" y="476388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1" name="Text 45"/>
          <p:cNvSpPr/>
          <p:nvPr/>
        </p:nvSpPr>
        <p:spPr>
          <a:xfrm>
            <a:off x="7882200" y="476388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2" name="Text 46"/>
          <p:cNvSpPr/>
          <p:nvPr/>
        </p:nvSpPr>
        <p:spPr>
          <a:xfrm>
            <a:off x="9253800" y="4763880"/>
            <a:ext cx="1160640" cy="346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70" strike="noStrike" u="none">
                <a:solidFill>
                  <a:srgbClr val="12585a"/>
                </a:solidFill>
                <a:effectLst/>
                <a:uFillTx/>
                <a:latin typeface="Inter"/>
                <a:ea typeface="Inter"/>
              </a:rPr>
              <a:t>100.0%</a:t>
            </a:r>
            <a:endParaRPr b="0" lang="en-US" sz="1370" strike="noStrike" u="none">
              <a:solidFill>
                <a:srgbClr val="000000"/>
              </a:solidFill>
              <a:effectLst/>
              <a:uFillTx/>
              <a:latin typeface="Arial"/>
            </a:endParaRPr>
          </a:p>
        </p:txBody>
      </p:sp>
      <p:sp>
        <p:nvSpPr>
          <p:cNvPr id="773" name="Shape 47"/>
          <p:cNvSpPr/>
          <p:nvPr/>
        </p:nvSpPr>
        <p:spPr>
          <a:xfrm>
            <a:off x="978480" y="5468040"/>
            <a:ext cx="10194840" cy="209520"/>
          </a:xfrm>
          <a:prstGeom prst="roundRect">
            <a:avLst>
              <a:gd name="adj" fmla="val 19565"/>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74" name="Text 48"/>
          <p:cNvSpPr/>
          <p:nvPr/>
        </p:nvSpPr>
        <p:spPr>
          <a:xfrm>
            <a:off x="1179720" y="5440680"/>
            <a:ext cx="9838080" cy="264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ce6949"/>
                </a:solidFill>
                <a:effectLst/>
                <a:uFillTx/>
                <a:latin typeface="Inter"/>
                <a:ea typeface="Inter"/>
              </a:rPr>
              <a:t>ConvNeXt-Tiny was perfect on this test set even with a frozen pretrained backbone.</a:t>
            </a:r>
            <a:endParaRPr b="0" lang="en-US" sz="1200" strike="noStrike" u="none">
              <a:solidFill>
                <a:srgbClr val="000000"/>
              </a:solidFill>
              <a:effectLst/>
              <a:uFillTx/>
              <a:latin typeface="Arial"/>
            </a:endParaRPr>
          </a:p>
        </p:txBody>
      </p:sp>
      <p:sp>
        <p:nvSpPr>
          <p:cNvPr id="775" name="Text 49"/>
          <p:cNvSpPr/>
          <p:nvPr/>
        </p:nvSpPr>
        <p:spPr>
          <a:xfrm>
            <a:off x="932760" y="5970960"/>
            <a:ext cx="10377720" cy="273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30" strike="noStrike" u="none">
                <a:solidFill>
                  <a:srgbClr val="667573"/>
                </a:solidFill>
                <a:effectLst/>
                <a:uFillTx/>
                <a:latin typeface="Inter"/>
                <a:ea typeface="Inter"/>
              </a:rPr>
              <a:t>Important: 100% on images from known folders ≠ verified 100% on independent crystals.</a:t>
            </a:r>
            <a:endParaRPr b="0" lang="en-US" sz="1230" strike="noStrike" u="none">
              <a:solidFill>
                <a:srgbClr val="000000"/>
              </a:solidFill>
              <a:effectLst/>
              <a:uFillTx/>
              <a:latin typeface="Arial"/>
            </a:endParaRPr>
          </a:p>
        </p:txBody>
      </p:sp>
      <p:sp>
        <p:nvSpPr>
          <p:cNvPr id="776" name="Text 50"/>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Source: final notebook, Experiment 5; 396 train / 70 val / 117 test; transfer learning from ImageNet.</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7"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78" name="Shape 1"/>
          <p:cNvSpPr/>
          <p:nvPr/>
        </p:nvSpPr>
        <p:spPr>
          <a:xfrm>
            <a:off x="567000" y="356760"/>
            <a:ext cx="242784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79" name="Text 2"/>
          <p:cNvSpPr/>
          <p:nvPr/>
        </p:nvSpPr>
        <p:spPr>
          <a:xfrm>
            <a:off x="676800" y="379440"/>
            <a:ext cx="220860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05 / CNN EXTENSION</a:t>
            </a:r>
            <a:endParaRPr b="0" lang="en-US" sz="1000" strike="noStrike" u="none">
              <a:solidFill>
                <a:srgbClr val="000000"/>
              </a:solidFill>
              <a:effectLst/>
              <a:uFillTx/>
              <a:latin typeface="Arial"/>
            </a:endParaRPr>
          </a:p>
        </p:txBody>
      </p:sp>
      <p:sp>
        <p:nvSpPr>
          <p:cNvPr id="780"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Learning curves: rapid convergence on this split</a:t>
            </a:r>
            <a:endParaRPr b="0" lang="en-US" sz="3000" strike="noStrike" u="none">
              <a:solidFill>
                <a:srgbClr val="000000"/>
              </a:solidFill>
              <a:effectLst/>
              <a:uFillTx/>
              <a:latin typeface="Arial"/>
            </a:endParaRPr>
          </a:p>
        </p:txBody>
      </p:sp>
      <p:sp>
        <p:nvSpPr>
          <p:cNvPr id="781"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Train and validation traces illustrate why high accuracy alone is insufficient evidence.</a:t>
            </a:r>
            <a:endParaRPr b="0" lang="en-US" sz="1430" strike="noStrike" u="none">
              <a:solidFill>
                <a:srgbClr val="000000"/>
              </a:solidFill>
              <a:effectLst/>
              <a:uFillTx/>
              <a:latin typeface="Arial"/>
            </a:endParaRPr>
          </a:p>
        </p:txBody>
      </p:sp>
      <p:sp>
        <p:nvSpPr>
          <p:cNvPr id="782"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83"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784"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18  /  21</a:t>
            </a:r>
            <a:endParaRPr b="0" lang="en-US" sz="900" strike="noStrike" u="none">
              <a:solidFill>
                <a:srgbClr val="000000"/>
              </a:solidFill>
              <a:effectLst/>
              <a:uFillTx/>
              <a:latin typeface="Arial"/>
            </a:endParaRPr>
          </a:p>
        </p:txBody>
      </p:sp>
      <p:sp>
        <p:nvSpPr>
          <p:cNvPr id="785" name="Shape 8"/>
          <p:cNvSpPr/>
          <p:nvPr/>
        </p:nvSpPr>
        <p:spPr>
          <a:xfrm>
            <a:off x="685800" y="2048400"/>
            <a:ext cx="7497360" cy="3940200"/>
          </a:xfrm>
          <a:prstGeom prst="roundRect">
            <a:avLst>
              <a:gd name="adj" fmla="val 3480"/>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pic>
        <p:nvPicPr>
          <p:cNvPr id="786" name="Image 0" descr="/mnt/data/MUMDMC2025_presentation_assets/notebook_c44_0.png"/>
          <p:cNvPicPr/>
          <p:nvPr/>
        </p:nvPicPr>
        <p:blipFill>
          <a:blip r:embed="rId1"/>
          <a:stretch/>
        </p:blipFill>
        <p:spPr>
          <a:xfrm>
            <a:off x="1567800" y="2148840"/>
            <a:ext cx="5742720" cy="3675240"/>
          </a:xfrm>
          <a:prstGeom prst="rect">
            <a:avLst/>
          </a:prstGeom>
          <a:noFill/>
          <a:ln w="0">
            <a:noFill/>
          </a:ln>
        </p:spPr>
      </p:pic>
      <p:sp>
        <p:nvSpPr>
          <p:cNvPr id="787" name="Shape 9"/>
          <p:cNvSpPr/>
          <p:nvPr/>
        </p:nvSpPr>
        <p:spPr>
          <a:xfrm>
            <a:off x="8394120" y="2048400"/>
            <a:ext cx="3080880" cy="3940200"/>
          </a:xfrm>
          <a:prstGeom prst="roundRect">
            <a:avLst>
              <a:gd name="adj" fmla="val 445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88" name="Text 10"/>
          <p:cNvSpPr/>
          <p:nvPr/>
        </p:nvSpPr>
        <p:spPr>
          <a:xfrm>
            <a:off x="8668440" y="2414160"/>
            <a:ext cx="257796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WHAT THE CURVES SHOW</a:t>
            </a:r>
            <a:endParaRPr b="0" lang="en-US" sz="1100" strike="noStrike" u="none">
              <a:solidFill>
                <a:srgbClr val="000000"/>
              </a:solidFill>
              <a:effectLst/>
              <a:uFillTx/>
              <a:latin typeface="Arial"/>
            </a:endParaRPr>
          </a:p>
        </p:txBody>
      </p:sp>
      <p:sp>
        <p:nvSpPr>
          <p:cNvPr id="789" name="Text 11"/>
          <p:cNvSpPr/>
          <p:nvPr/>
        </p:nvSpPr>
        <p:spPr>
          <a:xfrm>
            <a:off x="8677800" y="2862000"/>
            <a:ext cx="239508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2585a"/>
                </a:solidFill>
                <a:effectLst/>
                <a:uFillTx/>
                <a:latin typeface="Inter"/>
                <a:ea typeface="Inter"/>
              </a:rPr>
              <a:t>EfficientNet-B0</a:t>
            </a:r>
            <a:endParaRPr b="0" lang="en-US" sz="1600" strike="noStrike" u="none">
              <a:solidFill>
                <a:srgbClr val="000000"/>
              </a:solidFill>
              <a:effectLst/>
              <a:uFillTx/>
              <a:latin typeface="Arial"/>
            </a:endParaRPr>
          </a:p>
        </p:txBody>
      </p:sp>
      <p:sp>
        <p:nvSpPr>
          <p:cNvPr id="790" name="Text 12"/>
          <p:cNvSpPr/>
          <p:nvPr/>
        </p:nvSpPr>
        <p:spPr>
          <a:xfrm>
            <a:off x="8677800" y="3255120"/>
            <a:ext cx="2431440" cy="858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Validation accuracy reaches 100%, but fluctuates after fine-tuning.</a:t>
            </a:r>
            <a:endParaRPr b="0" lang="en-US" sz="1300" strike="noStrike" u="none">
              <a:solidFill>
                <a:srgbClr val="000000"/>
              </a:solidFill>
              <a:effectLst/>
              <a:uFillTx/>
              <a:latin typeface="Arial"/>
            </a:endParaRPr>
          </a:p>
        </p:txBody>
      </p:sp>
      <p:sp>
        <p:nvSpPr>
          <p:cNvPr id="791" name="Shape 13"/>
          <p:cNvSpPr/>
          <p:nvPr/>
        </p:nvSpPr>
        <p:spPr>
          <a:xfrm>
            <a:off x="8686800" y="4233600"/>
            <a:ext cx="2432160" cy="360"/>
          </a:xfrm>
          <a:prstGeom prst="line">
            <a:avLst/>
          </a:prstGeom>
          <a:ln w="1270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92" name="Text 14"/>
          <p:cNvSpPr/>
          <p:nvPr/>
        </p:nvSpPr>
        <p:spPr>
          <a:xfrm>
            <a:off x="8677800" y="4407480"/>
            <a:ext cx="2449800" cy="319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2585a"/>
                </a:solidFill>
                <a:effectLst/>
                <a:uFillTx/>
                <a:latin typeface="Inter"/>
                <a:ea typeface="Inter"/>
              </a:rPr>
              <a:t>ConvNeXt-Tiny</a:t>
            </a:r>
            <a:endParaRPr b="0" lang="en-US" sz="1600" strike="noStrike" u="none">
              <a:solidFill>
                <a:srgbClr val="000000"/>
              </a:solidFill>
              <a:effectLst/>
              <a:uFillTx/>
              <a:latin typeface="Arial"/>
            </a:endParaRPr>
          </a:p>
        </p:txBody>
      </p:sp>
      <p:sp>
        <p:nvSpPr>
          <p:cNvPr id="793" name="Text 15"/>
          <p:cNvSpPr/>
          <p:nvPr/>
        </p:nvSpPr>
        <p:spPr>
          <a:xfrm>
            <a:off x="8677800" y="4791600"/>
            <a:ext cx="2422440" cy="7491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300" strike="noStrike" u="none">
                <a:solidFill>
                  <a:srgbClr val="132b2d"/>
                </a:solidFill>
                <a:effectLst/>
                <a:uFillTx/>
                <a:latin typeface="Inter"/>
                <a:ea typeface="Inter"/>
              </a:rPr>
              <a:t>Validation accuracy remains at 100% over many epochs.</a:t>
            </a:r>
            <a:endParaRPr b="0" lang="en-US" sz="1300" strike="noStrike" u="none">
              <a:solidFill>
                <a:srgbClr val="000000"/>
              </a:solidFill>
              <a:effectLst/>
              <a:uFillTx/>
              <a:latin typeface="Arial"/>
            </a:endParaRPr>
          </a:p>
        </p:txBody>
      </p:sp>
      <p:sp>
        <p:nvSpPr>
          <p:cNvPr id="794" name="Text 16"/>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Original plots from Experiment 5, training/validation learning curves; dotted line marks fine-tuning.</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5"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96" name="Shape 1"/>
          <p:cNvSpPr/>
          <p:nvPr/>
        </p:nvSpPr>
        <p:spPr>
          <a:xfrm>
            <a:off x="567000" y="356760"/>
            <a:ext cx="283392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97" name="Text 2"/>
          <p:cNvSpPr/>
          <p:nvPr/>
        </p:nvSpPr>
        <p:spPr>
          <a:xfrm>
            <a:off x="676800" y="379440"/>
            <a:ext cx="26143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06 / SCIENTIFIC INTERPRETATION</a:t>
            </a:r>
            <a:endParaRPr b="0" lang="en-US" sz="1000" strike="noStrike" u="none">
              <a:solidFill>
                <a:srgbClr val="000000"/>
              </a:solidFill>
              <a:effectLst/>
              <a:uFillTx/>
              <a:latin typeface="Arial"/>
            </a:endParaRPr>
          </a:p>
        </p:txBody>
      </p:sp>
      <p:sp>
        <p:nvSpPr>
          <p:cNvPr id="798"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The unit of splitting is the real issue</a:t>
            </a:r>
            <a:endParaRPr b="0" lang="en-US" sz="3000" strike="noStrike" u="none">
              <a:solidFill>
                <a:srgbClr val="000000"/>
              </a:solidFill>
              <a:effectLst/>
              <a:uFillTx/>
              <a:latin typeface="Arial"/>
            </a:endParaRPr>
          </a:p>
        </p:txBody>
      </p:sp>
      <p:sp>
        <p:nvSpPr>
          <p:cNvPr id="799"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The test set contains unseen photographs—not necessarily unseen crystals.</a:t>
            </a:r>
            <a:endParaRPr b="0" lang="en-US" sz="1430" strike="noStrike" u="none">
              <a:solidFill>
                <a:srgbClr val="000000"/>
              </a:solidFill>
              <a:effectLst/>
              <a:uFillTx/>
              <a:latin typeface="Arial"/>
            </a:endParaRPr>
          </a:p>
        </p:txBody>
      </p:sp>
      <p:sp>
        <p:nvSpPr>
          <p:cNvPr id="800"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01"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02"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19  /  21</a:t>
            </a:r>
            <a:endParaRPr b="0" lang="en-US" sz="900" strike="noStrike" u="none">
              <a:solidFill>
                <a:srgbClr val="000000"/>
              </a:solidFill>
              <a:effectLst/>
              <a:uFillTx/>
              <a:latin typeface="Arial"/>
            </a:endParaRPr>
          </a:p>
        </p:txBody>
      </p:sp>
      <p:sp>
        <p:nvSpPr>
          <p:cNvPr id="803" name="Shape 8"/>
          <p:cNvSpPr/>
          <p:nvPr/>
        </p:nvSpPr>
        <p:spPr>
          <a:xfrm>
            <a:off x="685800" y="2057400"/>
            <a:ext cx="7470000" cy="3620160"/>
          </a:xfrm>
          <a:prstGeom prst="roundRect">
            <a:avLst>
              <a:gd name="adj" fmla="val 3788"/>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04" name="Text 9"/>
          <p:cNvSpPr/>
          <p:nvPr/>
        </p:nvSpPr>
        <p:spPr>
          <a:xfrm>
            <a:off x="932760" y="2350080"/>
            <a:ext cx="694872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ILLUSTRATIVE IMAGE-LEVEL SPLIT OF ONE ACQUISITION FOLDER</a:t>
            </a:r>
            <a:endParaRPr b="0" lang="en-US" sz="1100" strike="noStrike" u="none">
              <a:solidFill>
                <a:srgbClr val="000000"/>
              </a:solidFill>
              <a:effectLst/>
              <a:uFillTx/>
              <a:latin typeface="Arial"/>
            </a:endParaRPr>
          </a:p>
        </p:txBody>
      </p:sp>
      <p:sp>
        <p:nvSpPr>
          <p:cNvPr id="805" name="Shape 10"/>
          <p:cNvSpPr/>
          <p:nvPr/>
        </p:nvSpPr>
        <p:spPr>
          <a:xfrm>
            <a:off x="987480" y="2935080"/>
            <a:ext cx="922680" cy="112392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06" name="Text 11"/>
          <p:cNvSpPr/>
          <p:nvPr/>
        </p:nvSpPr>
        <p:spPr>
          <a:xfrm>
            <a:off x="1143000" y="3182040"/>
            <a:ext cx="7034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07" name="Text 12"/>
          <p:cNvSpPr/>
          <p:nvPr/>
        </p:nvSpPr>
        <p:spPr>
          <a:xfrm>
            <a:off x="1143000" y="3474720"/>
            <a:ext cx="66672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0°</a:t>
            </a:r>
            <a:endParaRPr b="0" lang="en-US" sz="1600" strike="noStrike" u="none">
              <a:solidFill>
                <a:srgbClr val="000000"/>
              </a:solidFill>
              <a:effectLst/>
              <a:uFillTx/>
              <a:latin typeface="Arial"/>
            </a:endParaRPr>
          </a:p>
        </p:txBody>
      </p:sp>
      <p:sp>
        <p:nvSpPr>
          <p:cNvPr id="808" name="Text 13"/>
          <p:cNvSpPr/>
          <p:nvPr/>
        </p:nvSpPr>
        <p:spPr>
          <a:xfrm>
            <a:off x="1042560" y="4297680"/>
            <a:ext cx="83124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09" name="Shape 14"/>
          <p:cNvSpPr/>
          <p:nvPr/>
        </p:nvSpPr>
        <p:spPr>
          <a:xfrm>
            <a:off x="2057400" y="2935080"/>
            <a:ext cx="922680" cy="112392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10" name="Text 15"/>
          <p:cNvSpPr/>
          <p:nvPr/>
        </p:nvSpPr>
        <p:spPr>
          <a:xfrm>
            <a:off x="2212920" y="3182040"/>
            <a:ext cx="7034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11" name="Text 16"/>
          <p:cNvSpPr/>
          <p:nvPr/>
        </p:nvSpPr>
        <p:spPr>
          <a:xfrm>
            <a:off x="2212920" y="3474720"/>
            <a:ext cx="66672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5°</a:t>
            </a:r>
            <a:endParaRPr b="0" lang="en-US" sz="1600" strike="noStrike" u="none">
              <a:solidFill>
                <a:srgbClr val="000000"/>
              </a:solidFill>
              <a:effectLst/>
              <a:uFillTx/>
              <a:latin typeface="Arial"/>
            </a:endParaRPr>
          </a:p>
        </p:txBody>
      </p:sp>
      <p:sp>
        <p:nvSpPr>
          <p:cNvPr id="812" name="Text 17"/>
          <p:cNvSpPr/>
          <p:nvPr/>
        </p:nvSpPr>
        <p:spPr>
          <a:xfrm>
            <a:off x="2112120" y="4297680"/>
            <a:ext cx="83124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13" name="Shape 18"/>
          <p:cNvSpPr/>
          <p:nvPr/>
        </p:nvSpPr>
        <p:spPr>
          <a:xfrm>
            <a:off x="3127320" y="2935080"/>
            <a:ext cx="922680" cy="1123920"/>
          </a:xfrm>
          <a:prstGeom prst="roundRect">
            <a:avLst>
              <a:gd name="adj" fmla="val 1089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14" name="Text 19"/>
          <p:cNvSpPr/>
          <p:nvPr/>
        </p:nvSpPr>
        <p:spPr>
          <a:xfrm>
            <a:off x="3282840" y="3182040"/>
            <a:ext cx="7034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15" name="Text 20"/>
          <p:cNvSpPr/>
          <p:nvPr/>
        </p:nvSpPr>
        <p:spPr>
          <a:xfrm>
            <a:off x="3282840" y="3474720"/>
            <a:ext cx="66672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ce6949"/>
                </a:solidFill>
                <a:effectLst/>
                <a:uFillTx/>
                <a:latin typeface="Inter"/>
                <a:ea typeface="Inter"/>
              </a:rPr>
              <a:t>10°</a:t>
            </a:r>
            <a:endParaRPr b="0" lang="en-US" sz="1600" strike="noStrike" u="none">
              <a:solidFill>
                <a:srgbClr val="000000"/>
              </a:solidFill>
              <a:effectLst/>
              <a:uFillTx/>
              <a:latin typeface="Arial"/>
            </a:endParaRPr>
          </a:p>
        </p:txBody>
      </p:sp>
      <p:sp>
        <p:nvSpPr>
          <p:cNvPr id="816" name="Text 21"/>
          <p:cNvSpPr/>
          <p:nvPr/>
        </p:nvSpPr>
        <p:spPr>
          <a:xfrm>
            <a:off x="3182040" y="4297680"/>
            <a:ext cx="83124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ce6949"/>
                </a:solidFill>
                <a:effectLst/>
                <a:uFillTx/>
                <a:latin typeface="Inter"/>
                <a:ea typeface="Inter"/>
              </a:rPr>
              <a:t>TEST</a:t>
            </a:r>
            <a:endParaRPr b="0" lang="en-US" sz="1100" strike="noStrike" u="none">
              <a:solidFill>
                <a:srgbClr val="000000"/>
              </a:solidFill>
              <a:effectLst/>
              <a:uFillTx/>
              <a:latin typeface="Arial"/>
            </a:endParaRPr>
          </a:p>
        </p:txBody>
      </p:sp>
      <p:sp>
        <p:nvSpPr>
          <p:cNvPr id="817" name="Shape 22"/>
          <p:cNvSpPr/>
          <p:nvPr/>
        </p:nvSpPr>
        <p:spPr>
          <a:xfrm>
            <a:off x="4197240" y="2935080"/>
            <a:ext cx="922680" cy="112392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18" name="Text 23"/>
          <p:cNvSpPr/>
          <p:nvPr/>
        </p:nvSpPr>
        <p:spPr>
          <a:xfrm>
            <a:off x="4352400" y="3182040"/>
            <a:ext cx="7034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19" name="Text 24"/>
          <p:cNvSpPr/>
          <p:nvPr/>
        </p:nvSpPr>
        <p:spPr>
          <a:xfrm>
            <a:off x="4352400" y="3474720"/>
            <a:ext cx="66672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15°</a:t>
            </a:r>
            <a:endParaRPr b="0" lang="en-US" sz="1600" strike="noStrike" u="none">
              <a:solidFill>
                <a:srgbClr val="000000"/>
              </a:solidFill>
              <a:effectLst/>
              <a:uFillTx/>
              <a:latin typeface="Arial"/>
            </a:endParaRPr>
          </a:p>
        </p:txBody>
      </p:sp>
      <p:sp>
        <p:nvSpPr>
          <p:cNvPr id="820" name="Text 25"/>
          <p:cNvSpPr/>
          <p:nvPr/>
        </p:nvSpPr>
        <p:spPr>
          <a:xfrm>
            <a:off x="4251960" y="4297680"/>
            <a:ext cx="83124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21" name="Shape 26"/>
          <p:cNvSpPr/>
          <p:nvPr/>
        </p:nvSpPr>
        <p:spPr>
          <a:xfrm>
            <a:off x="5266800" y="2935080"/>
            <a:ext cx="922680" cy="1123920"/>
          </a:xfrm>
          <a:prstGeom prst="roundRect">
            <a:avLst>
              <a:gd name="adj" fmla="val 1089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22" name="Text 27"/>
          <p:cNvSpPr/>
          <p:nvPr/>
        </p:nvSpPr>
        <p:spPr>
          <a:xfrm>
            <a:off x="5422320" y="3182040"/>
            <a:ext cx="7034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23" name="Text 28"/>
          <p:cNvSpPr/>
          <p:nvPr/>
        </p:nvSpPr>
        <p:spPr>
          <a:xfrm>
            <a:off x="5422320" y="3474720"/>
            <a:ext cx="66672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87f80"/>
                </a:solidFill>
                <a:effectLst/>
                <a:uFillTx/>
                <a:latin typeface="Inter"/>
                <a:ea typeface="Inter"/>
              </a:rPr>
              <a:t>20°</a:t>
            </a:r>
            <a:endParaRPr b="0" lang="en-US" sz="1600" strike="noStrike" u="none">
              <a:solidFill>
                <a:srgbClr val="000000"/>
              </a:solidFill>
              <a:effectLst/>
              <a:uFillTx/>
              <a:latin typeface="Arial"/>
            </a:endParaRPr>
          </a:p>
        </p:txBody>
      </p:sp>
      <p:sp>
        <p:nvSpPr>
          <p:cNvPr id="824" name="Text 29"/>
          <p:cNvSpPr/>
          <p:nvPr/>
        </p:nvSpPr>
        <p:spPr>
          <a:xfrm>
            <a:off x="5321880" y="4297680"/>
            <a:ext cx="83124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12585a"/>
                </a:solidFill>
                <a:effectLst/>
                <a:uFillTx/>
                <a:latin typeface="Inter"/>
                <a:ea typeface="Inter"/>
              </a:rPr>
              <a:t>TRAIN</a:t>
            </a:r>
            <a:endParaRPr b="0" lang="en-US" sz="1100" strike="noStrike" u="none">
              <a:solidFill>
                <a:srgbClr val="000000"/>
              </a:solidFill>
              <a:effectLst/>
              <a:uFillTx/>
              <a:latin typeface="Arial"/>
            </a:endParaRPr>
          </a:p>
        </p:txBody>
      </p:sp>
      <p:sp>
        <p:nvSpPr>
          <p:cNvPr id="825" name="Shape 30"/>
          <p:cNvSpPr/>
          <p:nvPr/>
        </p:nvSpPr>
        <p:spPr>
          <a:xfrm>
            <a:off x="6336720" y="2935080"/>
            <a:ext cx="922680" cy="1123920"/>
          </a:xfrm>
          <a:prstGeom prst="roundRect">
            <a:avLst>
              <a:gd name="adj" fmla="val 10891"/>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26" name="Text 31"/>
          <p:cNvSpPr/>
          <p:nvPr/>
        </p:nvSpPr>
        <p:spPr>
          <a:xfrm>
            <a:off x="6492240" y="3182040"/>
            <a:ext cx="703440" cy="236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trike="noStrike" u="none">
                <a:solidFill>
                  <a:srgbClr val="667573"/>
                </a:solidFill>
                <a:effectLst/>
                <a:uFillTx/>
                <a:latin typeface="Inter"/>
                <a:ea typeface="Inter"/>
              </a:rPr>
              <a:t>ANGLE</a:t>
            </a:r>
            <a:endParaRPr b="0" lang="en-US" sz="1000" strike="noStrike" u="none">
              <a:solidFill>
                <a:srgbClr val="000000"/>
              </a:solidFill>
              <a:effectLst/>
              <a:uFillTx/>
              <a:latin typeface="Arial"/>
            </a:endParaRPr>
          </a:p>
        </p:txBody>
      </p:sp>
      <p:sp>
        <p:nvSpPr>
          <p:cNvPr id="827" name="Text 32"/>
          <p:cNvSpPr/>
          <p:nvPr/>
        </p:nvSpPr>
        <p:spPr>
          <a:xfrm>
            <a:off x="6492240" y="3474720"/>
            <a:ext cx="666720" cy="310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ce6949"/>
                </a:solidFill>
                <a:effectLst/>
                <a:uFillTx/>
                <a:latin typeface="Inter"/>
                <a:ea typeface="Inter"/>
              </a:rPr>
              <a:t>25°</a:t>
            </a:r>
            <a:endParaRPr b="0" lang="en-US" sz="1600" strike="noStrike" u="none">
              <a:solidFill>
                <a:srgbClr val="000000"/>
              </a:solidFill>
              <a:effectLst/>
              <a:uFillTx/>
              <a:latin typeface="Arial"/>
            </a:endParaRPr>
          </a:p>
        </p:txBody>
      </p:sp>
      <p:sp>
        <p:nvSpPr>
          <p:cNvPr id="828" name="Text 33"/>
          <p:cNvSpPr/>
          <p:nvPr/>
        </p:nvSpPr>
        <p:spPr>
          <a:xfrm>
            <a:off x="6391800" y="4297680"/>
            <a:ext cx="83124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00" strike="noStrike" u="none">
                <a:solidFill>
                  <a:srgbClr val="ce6949"/>
                </a:solidFill>
                <a:effectLst/>
                <a:uFillTx/>
                <a:latin typeface="Inter"/>
                <a:ea typeface="Inter"/>
              </a:rPr>
              <a:t>TEST</a:t>
            </a:r>
            <a:endParaRPr b="0" lang="en-US" sz="1100" strike="noStrike" u="none">
              <a:solidFill>
                <a:srgbClr val="000000"/>
              </a:solidFill>
              <a:effectLst/>
              <a:uFillTx/>
              <a:latin typeface="Arial"/>
            </a:endParaRPr>
          </a:p>
        </p:txBody>
      </p:sp>
      <p:sp>
        <p:nvSpPr>
          <p:cNvPr id="829" name="Shape 34"/>
          <p:cNvSpPr/>
          <p:nvPr/>
        </p:nvSpPr>
        <p:spPr>
          <a:xfrm>
            <a:off x="1124640" y="5001480"/>
            <a:ext cx="5970960" cy="360"/>
          </a:xfrm>
          <a:prstGeom prst="line">
            <a:avLst/>
          </a:prstGeom>
          <a:ln w="1778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30" name="Text 35"/>
          <p:cNvSpPr/>
          <p:nvPr/>
        </p:nvSpPr>
        <p:spPr>
          <a:xfrm>
            <a:off x="1874520" y="5129640"/>
            <a:ext cx="4589640" cy="310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132b2d"/>
                </a:solidFill>
                <a:effectLst/>
                <a:uFillTx/>
                <a:latin typeface="Inter"/>
                <a:ea typeface="Inter"/>
              </a:rPr>
              <a:t>Same folder / potentially same physical crystal</a:t>
            </a:r>
            <a:endParaRPr b="0" lang="en-US" sz="1500" strike="noStrike" u="none">
              <a:solidFill>
                <a:srgbClr val="000000"/>
              </a:solidFill>
              <a:effectLst/>
              <a:uFillTx/>
              <a:latin typeface="Arial"/>
            </a:endParaRPr>
          </a:p>
        </p:txBody>
      </p:sp>
      <p:sp>
        <p:nvSpPr>
          <p:cNvPr id="831" name="Shape 36"/>
          <p:cNvSpPr/>
          <p:nvPr/>
        </p:nvSpPr>
        <p:spPr>
          <a:xfrm>
            <a:off x="8366760" y="2057400"/>
            <a:ext cx="3108240" cy="3620160"/>
          </a:xfrm>
          <a:prstGeom prst="roundRect">
            <a:avLst>
              <a:gd name="adj" fmla="val 4412"/>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32" name="Text 37"/>
          <p:cNvSpPr/>
          <p:nvPr/>
        </p:nvSpPr>
        <p:spPr>
          <a:xfrm>
            <a:off x="8650080" y="2523600"/>
            <a:ext cx="26056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900" strike="noStrike" u="none">
                <a:solidFill>
                  <a:srgbClr val="ce6949"/>
                </a:solidFill>
                <a:effectLst/>
                <a:uFillTx/>
                <a:latin typeface="Inter"/>
              </a:rPr>
              <a:t>8 / 8 groups</a:t>
            </a:r>
            <a:endParaRPr b="0" lang="en-US" sz="2900" strike="noStrike" u="none">
              <a:solidFill>
                <a:srgbClr val="000000"/>
              </a:solidFill>
              <a:effectLst/>
              <a:uFillTx/>
              <a:latin typeface="Arial"/>
            </a:endParaRPr>
          </a:p>
        </p:txBody>
      </p:sp>
      <p:sp>
        <p:nvSpPr>
          <p:cNvPr id="833" name="Text 38"/>
          <p:cNvSpPr/>
          <p:nvPr/>
        </p:nvSpPr>
        <p:spPr>
          <a:xfrm>
            <a:off x="8659440" y="3218760"/>
            <a:ext cx="2468520" cy="612360"/>
          </a:xfrm>
          <a:prstGeom prst="rect">
            <a:avLst/>
          </a:prstGeom>
          <a:noFill/>
          <a:ln w="0">
            <a:noFill/>
          </a:ln>
        </p:spPr>
        <p:style>
          <a:lnRef idx="0"/>
          <a:fillRef idx="0"/>
          <a:effectRef idx="0"/>
          <a:fontRef idx="minor"/>
        </p:style>
        <p:txBody>
          <a:bodyPr lIns="0" rIns="0" tIns="0" bIns="0" anchor="ctr">
            <a:noAutofit/>
          </a:bodyPr>
          <a:p>
            <a:r>
              <a:rPr b="1" lang="en-US" sz="1600" strike="noStrike" u="none">
                <a:solidFill>
                  <a:srgbClr val="132b2d"/>
                </a:solidFill>
                <a:effectLst/>
                <a:uFillTx/>
                <a:latin typeface="Inter"/>
              </a:rPr>
              <a:t>appear in both train</a:t>
            </a:r>
            <a:endParaRPr b="0" lang="en-US" sz="1600" strike="noStrike" u="none">
              <a:solidFill>
                <a:srgbClr val="000000"/>
              </a:solidFill>
              <a:effectLst/>
              <a:uFillTx/>
              <a:latin typeface="Arial"/>
            </a:endParaRPr>
          </a:p>
          <a:p>
            <a:pPr defTabSz="914400">
              <a:lnSpc>
                <a:spcPct val="100000"/>
              </a:lnSpc>
              <a:tabLst>
                <a:tab algn="l" pos="0"/>
              </a:tabLst>
            </a:pPr>
            <a:r>
              <a:rPr b="1" lang="en-US" sz="1600" strike="noStrike" u="none">
                <a:solidFill>
                  <a:srgbClr val="132b2d"/>
                </a:solidFill>
                <a:effectLst/>
                <a:uFillTx/>
                <a:latin typeface="Inter"/>
              </a:rPr>
              <a:t>and test</a:t>
            </a:r>
            <a:endParaRPr b="0" lang="en-US" sz="1600" strike="noStrike" u="none">
              <a:solidFill>
                <a:srgbClr val="000000"/>
              </a:solidFill>
              <a:effectLst/>
              <a:uFillTx/>
              <a:latin typeface="Arial"/>
            </a:endParaRPr>
          </a:p>
        </p:txBody>
      </p:sp>
      <p:sp>
        <p:nvSpPr>
          <p:cNvPr id="834" name="Shape 39"/>
          <p:cNvSpPr/>
          <p:nvPr/>
        </p:nvSpPr>
        <p:spPr>
          <a:xfrm>
            <a:off x="8659080" y="4005000"/>
            <a:ext cx="2405160" cy="360"/>
          </a:xfrm>
          <a:prstGeom prst="line">
            <a:avLst/>
          </a:prstGeom>
          <a:ln w="12700">
            <a:solidFill>
              <a:srgbClr val="e5b9a4"/>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35" name="Text 40"/>
          <p:cNvSpPr/>
          <p:nvPr/>
        </p:nvSpPr>
        <p:spPr>
          <a:xfrm>
            <a:off x="8650080" y="4233600"/>
            <a:ext cx="2578320" cy="465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600" strike="noStrike" u="none">
                <a:solidFill>
                  <a:srgbClr val="ce6949"/>
                </a:solidFill>
                <a:effectLst/>
                <a:uFillTx/>
                <a:latin typeface="Inter"/>
              </a:rPr>
              <a:t>117 / 117</a:t>
            </a:r>
            <a:endParaRPr b="0" lang="en-US" sz="2600" strike="noStrike" u="none">
              <a:solidFill>
                <a:srgbClr val="000000"/>
              </a:solidFill>
              <a:effectLst/>
              <a:uFillTx/>
              <a:latin typeface="Arial"/>
            </a:endParaRPr>
          </a:p>
        </p:txBody>
      </p:sp>
      <p:sp>
        <p:nvSpPr>
          <p:cNvPr id="836" name="Text 41"/>
          <p:cNvSpPr/>
          <p:nvPr/>
        </p:nvSpPr>
        <p:spPr>
          <a:xfrm>
            <a:off x="8650080" y="4809600"/>
            <a:ext cx="2633040" cy="676440"/>
          </a:xfrm>
          <a:prstGeom prst="rect">
            <a:avLst/>
          </a:prstGeom>
          <a:noFill/>
          <a:ln w="0">
            <a:noFill/>
          </a:ln>
        </p:spPr>
        <p:style>
          <a:lnRef idx="0"/>
          <a:fillRef idx="0"/>
          <a:effectRef idx="0"/>
          <a:fontRef idx="minor"/>
        </p:style>
        <p:txBody>
          <a:bodyPr lIns="0" rIns="0" tIns="0" bIns="0" anchor="ctr">
            <a:noAutofit/>
          </a:bodyPr>
          <a:p>
            <a:r>
              <a:rPr b="0" lang="en-US" sz="1200" strike="noStrike" u="none">
                <a:solidFill>
                  <a:srgbClr val="132b2d"/>
                </a:solidFill>
                <a:effectLst/>
                <a:uFillTx/>
                <a:latin typeface="Inter"/>
              </a:rPr>
              <a:t>test images belong to groups</a:t>
            </a:r>
            <a:endParaRPr b="0" lang="en-US" sz="1200" strike="noStrike" u="none">
              <a:solidFill>
                <a:srgbClr val="000000"/>
              </a:solidFill>
              <a:effectLst/>
              <a:uFillTx/>
              <a:latin typeface="Arial"/>
            </a:endParaRPr>
          </a:p>
          <a:p>
            <a:pPr defTabSz="914400">
              <a:lnSpc>
                <a:spcPct val="100000"/>
              </a:lnSpc>
              <a:tabLst>
                <a:tab algn="l" pos="0"/>
              </a:tabLst>
            </a:pPr>
            <a:r>
              <a:rPr b="0" lang="en-US" sz="1200" strike="noStrike" u="none">
                <a:solidFill>
                  <a:srgbClr val="132b2d"/>
                </a:solidFill>
                <a:effectLst/>
                <a:uFillTx/>
                <a:latin typeface="Inter"/>
              </a:rPr>
              <a:t>already seen during training</a:t>
            </a:r>
            <a:endParaRPr b="0" lang="en-US" sz="1200" strike="noStrike" u="none">
              <a:solidFill>
                <a:srgbClr val="000000"/>
              </a:solidFill>
              <a:effectLst/>
              <a:uFillTx/>
              <a:latin typeface="Arial"/>
            </a:endParaRPr>
          </a:p>
        </p:txBody>
      </p:sp>
      <p:sp>
        <p:nvSpPr>
          <p:cNvPr id="837" name="Text 42"/>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Group overlap: final notebook Dataset Audit (117/117). Physical crystal identity remains unconfirmed.</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Shape 0"/>
          <p:cNvSpPr/>
          <p:nvPr/>
        </p:nvSpPr>
        <p:spPr>
          <a:xfrm>
            <a:off x="0" y="0"/>
            <a:ext cx="12191040" cy="6857280"/>
          </a:xfrm>
          <a:prstGeom prst="rect">
            <a:avLst/>
          </a:prstGeom>
          <a:solidFill>
            <a:srgbClr val="f6f4ee"/>
          </a:solidFill>
          <a:ln w="12700">
            <a:solidFill>
              <a:srgbClr val="f6f4ee">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39" name="Shape 1"/>
          <p:cNvSpPr/>
          <p:nvPr/>
        </p:nvSpPr>
        <p:spPr>
          <a:xfrm>
            <a:off x="567000" y="356760"/>
            <a:ext cx="2596320" cy="264600"/>
          </a:xfrm>
          <a:prstGeom prst="roundRect">
            <a:avLst>
              <a:gd name="adj" fmla="val 37931"/>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40" name="Text 2"/>
          <p:cNvSpPr/>
          <p:nvPr/>
        </p:nvSpPr>
        <p:spPr>
          <a:xfrm>
            <a:off x="676800" y="379440"/>
            <a:ext cx="23767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12585a"/>
                </a:solidFill>
                <a:effectLst/>
                <a:uFillTx/>
                <a:latin typeface="Inter"/>
                <a:ea typeface="Inter"/>
              </a:rPr>
              <a:t>06 / REPRODUCIBILITY</a:t>
            </a:r>
            <a:endParaRPr b="0" lang="en-US" sz="1000" strike="noStrike" u="none">
              <a:solidFill>
                <a:srgbClr val="000000"/>
              </a:solidFill>
              <a:effectLst/>
              <a:uFillTx/>
              <a:latin typeface="Arial"/>
            </a:endParaRPr>
          </a:p>
        </p:txBody>
      </p:sp>
      <p:sp>
        <p:nvSpPr>
          <p:cNvPr id="841" name="Text 3"/>
          <p:cNvSpPr/>
          <p:nvPr/>
        </p:nvSpPr>
        <p:spPr>
          <a:xfrm>
            <a:off x="567000" y="841320"/>
            <a:ext cx="11017800" cy="6120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132b2d"/>
                </a:solidFill>
                <a:effectLst/>
                <a:uFillTx/>
                <a:latin typeface="Inter Display"/>
                <a:ea typeface="Inter Display"/>
              </a:rPr>
              <a:t>Can someone else repeat the experiment?</a:t>
            </a:r>
            <a:endParaRPr b="0" lang="en-US" sz="3000" strike="noStrike" u="none">
              <a:solidFill>
                <a:srgbClr val="000000"/>
              </a:solidFill>
              <a:effectLst/>
              <a:uFillTx/>
              <a:latin typeface="Arial"/>
            </a:endParaRPr>
          </a:p>
        </p:txBody>
      </p:sp>
      <p:sp>
        <p:nvSpPr>
          <p:cNvPr id="842" name="Text 4"/>
          <p:cNvSpPr/>
          <p:nvPr/>
        </p:nvSpPr>
        <p:spPr>
          <a:xfrm>
            <a:off x="576000" y="1517760"/>
            <a:ext cx="10972080" cy="447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30" strike="noStrike" u="none">
                <a:solidFill>
                  <a:srgbClr val="667573"/>
                </a:solidFill>
                <a:effectLst/>
                <a:uFillTx/>
                <a:latin typeface="Inter"/>
                <a:ea typeface="Inter"/>
              </a:rPr>
              <a:t>We document what can be rerun—and what the available data do not allow us to verify.</a:t>
            </a:r>
            <a:endParaRPr b="0" lang="en-US" sz="1430" strike="noStrike" u="none">
              <a:solidFill>
                <a:srgbClr val="000000"/>
              </a:solidFill>
              <a:effectLst/>
              <a:uFillTx/>
              <a:latin typeface="Arial"/>
            </a:endParaRPr>
          </a:p>
        </p:txBody>
      </p:sp>
      <p:sp>
        <p:nvSpPr>
          <p:cNvPr id="843" name="Shape 5"/>
          <p:cNvSpPr/>
          <p:nvPr/>
        </p:nvSpPr>
        <p:spPr>
          <a:xfrm>
            <a:off x="566640" y="6492240"/>
            <a:ext cx="11046240" cy="360"/>
          </a:xfrm>
          <a:prstGeom prst="line">
            <a:avLst/>
          </a:prstGeom>
          <a:ln w="1016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44" name="Text 6"/>
          <p:cNvSpPr/>
          <p:nvPr/>
        </p:nvSpPr>
        <p:spPr>
          <a:xfrm>
            <a:off x="576000" y="6556320"/>
            <a:ext cx="822888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pc="85" strike="noStrike" u="none">
                <a:solidFill>
                  <a:srgbClr val="667573"/>
                </a:solidFill>
                <a:effectLst/>
                <a:uFillTx/>
                <a:latin typeface="Inter"/>
                <a:ea typeface="Inter"/>
              </a:rPr>
              <a:t>MUMDMC2025  /  REPRODUCTION &amp; CRITICAL EVALUATION</a:t>
            </a:r>
            <a:endParaRPr b="0" lang="en-US" sz="850" strike="noStrike" u="none">
              <a:solidFill>
                <a:srgbClr val="000000"/>
              </a:solidFill>
              <a:effectLst/>
              <a:uFillTx/>
              <a:latin typeface="Arial"/>
            </a:endParaRPr>
          </a:p>
        </p:txBody>
      </p:sp>
      <p:sp>
        <p:nvSpPr>
          <p:cNvPr id="845" name="Text 7"/>
          <p:cNvSpPr/>
          <p:nvPr/>
        </p:nvSpPr>
        <p:spPr>
          <a:xfrm>
            <a:off x="11018520" y="6546960"/>
            <a:ext cx="575280" cy="16380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900" strike="noStrike" u="none">
                <a:solidFill>
                  <a:srgbClr val="667573"/>
                </a:solidFill>
                <a:effectLst/>
                <a:uFillTx/>
                <a:latin typeface="Inter"/>
              </a:rPr>
              <a:t>20  /  21</a:t>
            </a:r>
            <a:endParaRPr b="0" lang="en-US" sz="900" strike="noStrike" u="none">
              <a:solidFill>
                <a:srgbClr val="000000"/>
              </a:solidFill>
              <a:effectLst/>
              <a:uFillTx/>
              <a:latin typeface="Arial"/>
            </a:endParaRPr>
          </a:p>
        </p:txBody>
      </p:sp>
      <p:sp>
        <p:nvSpPr>
          <p:cNvPr id="846" name="Shape 8"/>
          <p:cNvSpPr/>
          <p:nvPr/>
        </p:nvSpPr>
        <p:spPr>
          <a:xfrm>
            <a:off x="694800" y="2121480"/>
            <a:ext cx="5193000" cy="3510720"/>
          </a:xfrm>
          <a:prstGeom prst="roundRect">
            <a:avLst>
              <a:gd name="adj" fmla="val 3646"/>
            </a:avLst>
          </a:prstGeom>
          <a:solidFill>
            <a:srgbClr val="ffffff"/>
          </a:solidFill>
          <a:ln w="12700">
            <a:solidFill>
              <a:srgbClr val="dadfd7"/>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47" name="Text 9"/>
          <p:cNvSpPr/>
          <p:nvPr/>
        </p:nvSpPr>
        <p:spPr>
          <a:xfrm>
            <a:off x="987480" y="2414160"/>
            <a:ext cx="458964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REPRODUCIBLE EXECUTION</a:t>
            </a:r>
            <a:endParaRPr b="0" lang="en-US" sz="1100" strike="noStrike" u="none">
              <a:solidFill>
                <a:srgbClr val="000000"/>
              </a:solidFill>
              <a:effectLst/>
              <a:uFillTx/>
              <a:latin typeface="Arial"/>
            </a:endParaRPr>
          </a:p>
        </p:txBody>
      </p:sp>
      <p:sp>
        <p:nvSpPr>
          <p:cNvPr id="848" name="Shape 10"/>
          <p:cNvSpPr/>
          <p:nvPr/>
        </p:nvSpPr>
        <p:spPr>
          <a:xfrm>
            <a:off x="1033200" y="2880360"/>
            <a:ext cx="410760" cy="39240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49" name="Text 11"/>
          <p:cNvSpPr/>
          <p:nvPr/>
        </p:nvSpPr>
        <p:spPr>
          <a:xfrm>
            <a:off x="1051560" y="2907720"/>
            <a:ext cx="37404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01</a:t>
            </a:r>
            <a:endParaRPr b="0" lang="en-US" sz="1600" strike="noStrike" u="none">
              <a:solidFill>
                <a:srgbClr val="000000"/>
              </a:solidFill>
              <a:effectLst/>
              <a:uFillTx/>
              <a:latin typeface="Arial"/>
            </a:endParaRPr>
          </a:p>
        </p:txBody>
      </p:sp>
      <p:sp>
        <p:nvSpPr>
          <p:cNvPr id="850" name="Text 12"/>
          <p:cNvSpPr/>
          <p:nvPr/>
        </p:nvSpPr>
        <p:spPr>
          <a:xfrm>
            <a:off x="1618560" y="2875680"/>
            <a:ext cx="394956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Google Colab</a:t>
            </a:r>
            <a:endParaRPr b="0" lang="en-US" sz="1450" strike="noStrike" u="none">
              <a:solidFill>
                <a:srgbClr val="000000"/>
              </a:solidFill>
              <a:effectLst/>
              <a:uFillTx/>
              <a:latin typeface="Arial"/>
            </a:endParaRPr>
          </a:p>
        </p:txBody>
      </p:sp>
      <p:sp>
        <p:nvSpPr>
          <p:cNvPr id="851" name="Text 13"/>
          <p:cNvSpPr/>
          <p:nvPr/>
        </p:nvSpPr>
        <p:spPr>
          <a:xfrm>
            <a:off x="1618560" y="3273480"/>
            <a:ext cx="3985920" cy="264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Install, download the archive, run cells top-to-bottom</a:t>
            </a:r>
            <a:endParaRPr b="0" lang="en-US" sz="1060" strike="noStrike" u="none">
              <a:solidFill>
                <a:srgbClr val="000000"/>
              </a:solidFill>
              <a:effectLst/>
              <a:uFillTx/>
              <a:latin typeface="Arial"/>
            </a:endParaRPr>
          </a:p>
        </p:txBody>
      </p:sp>
      <p:sp>
        <p:nvSpPr>
          <p:cNvPr id="852" name="Shape 14"/>
          <p:cNvSpPr/>
          <p:nvPr/>
        </p:nvSpPr>
        <p:spPr>
          <a:xfrm>
            <a:off x="1033200" y="3684960"/>
            <a:ext cx="410760" cy="39240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53" name="Text 15"/>
          <p:cNvSpPr/>
          <p:nvPr/>
        </p:nvSpPr>
        <p:spPr>
          <a:xfrm>
            <a:off x="1051560" y="3712320"/>
            <a:ext cx="37404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02</a:t>
            </a:r>
            <a:endParaRPr b="0" lang="en-US" sz="1600" strike="noStrike" u="none">
              <a:solidFill>
                <a:srgbClr val="000000"/>
              </a:solidFill>
              <a:effectLst/>
              <a:uFillTx/>
              <a:latin typeface="Arial"/>
            </a:endParaRPr>
          </a:p>
        </p:txBody>
      </p:sp>
      <p:sp>
        <p:nvSpPr>
          <p:cNvPr id="854" name="Text 16"/>
          <p:cNvSpPr/>
          <p:nvPr/>
        </p:nvSpPr>
        <p:spPr>
          <a:xfrm>
            <a:off x="1618560" y="3680640"/>
            <a:ext cx="394956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Fixed methodology</a:t>
            </a:r>
            <a:endParaRPr b="0" lang="en-US" sz="1450" strike="noStrike" u="none">
              <a:solidFill>
                <a:srgbClr val="000000"/>
              </a:solidFill>
              <a:effectLst/>
              <a:uFillTx/>
              <a:latin typeface="Arial"/>
            </a:endParaRPr>
          </a:p>
        </p:txBody>
      </p:sp>
      <p:sp>
        <p:nvSpPr>
          <p:cNvPr id="855" name="Text 17"/>
          <p:cNvSpPr/>
          <p:nvPr/>
        </p:nvSpPr>
        <p:spPr>
          <a:xfrm>
            <a:off x="1618560" y="4078080"/>
            <a:ext cx="3985920" cy="264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Seed 42 · 80/20 holdout · stratified 5-fold CV</a:t>
            </a:r>
            <a:endParaRPr b="0" lang="en-US" sz="1060" strike="noStrike" u="none">
              <a:solidFill>
                <a:srgbClr val="000000"/>
              </a:solidFill>
              <a:effectLst/>
              <a:uFillTx/>
              <a:latin typeface="Arial"/>
            </a:endParaRPr>
          </a:p>
        </p:txBody>
      </p:sp>
      <p:sp>
        <p:nvSpPr>
          <p:cNvPr id="856" name="Shape 18"/>
          <p:cNvSpPr/>
          <p:nvPr/>
        </p:nvSpPr>
        <p:spPr>
          <a:xfrm>
            <a:off x="1033200" y="4489560"/>
            <a:ext cx="410760" cy="392400"/>
          </a:xfrm>
          <a:prstGeom prst="roundRect">
            <a:avLst>
              <a:gd name="adj" fmla="val 25581"/>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57" name="Text 19"/>
          <p:cNvSpPr/>
          <p:nvPr/>
        </p:nvSpPr>
        <p:spPr>
          <a:xfrm>
            <a:off x="1051560" y="4517280"/>
            <a:ext cx="37404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03</a:t>
            </a:r>
            <a:endParaRPr b="0" lang="en-US" sz="1600" strike="noStrike" u="none">
              <a:solidFill>
                <a:srgbClr val="000000"/>
              </a:solidFill>
              <a:effectLst/>
              <a:uFillTx/>
              <a:latin typeface="Arial"/>
            </a:endParaRPr>
          </a:p>
        </p:txBody>
      </p:sp>
      <p:sp>
        <p:nvSpPr>
          <p:cNvPr id="858" name="Text 20"/>
          <p:cNvSpPr/>
          <p:nvPr/>
        </p:nvSpPr>
        <p:spPr>
          <a:xfrm>
            <a:off x="1618560" y="4485240"/>
            <a:ext cx="394956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50" strike="noStrike" u="none">
                <a:solidFill>
                  <a:srgbClr val="132b2d"/>
                </a:solidFill>
                <a:effectLst/>
                <a:uFillTx/>
                <a:latin typeface="Inter"/>
                <a:ea typeface="Inter"/>
              </a:rPr>
              <a:t>Recorded outputs</a:t>
            </a:r>
            <a:endParaRPr b="0" lang="en-US" sz="1450" strike="noStrike" u="none">
              <a:solidFill>
                <a:srgbClr val="000000"/>
              </a:solidFill>
              <a:effectLst/>
              <a:uFillTx/>
              <a:latin typeface="Arial"/>
            </a:endParaRPr>
          </a:p>
        </p:txBody>
      </p:sp>
      <p:sp>
        <p:nvSpPr>
          <p:cNvPr id="859" name="Text 21"/>
          <p:cNvSpPr/>
          <p:nvPr/>
        </p:nvSpPr>
        <p:spPr>
          <a:xfrm>
            <a:off x="1618560" y="4883040"/>
            <a:ext cx="3985920" cy="264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60" strike="noStrike" u="none">
                <a:solidFill>
                  <a:srgbClr val="667573"/>
                </a:solidFill>
                <a:effectLst/>
                <a:uFillTx/>
                <a:latin typeface="Inter"/>
                <a:ea typeface="Inter"/>
              </a:rPr>
              <a:t>Metrics, plots, confusion matrices and model files</a:t>
            </a:r>
            <a:endParaRPr b="0" lang="en-US" sz="1060" strike="noStrike" u="none">
              <a:solidFill>
                <a:srgbClr val="000000"/>
              </a:solidFill>
              <a:effectLst/>
              <a:uFillTx/>
              <a:latin typeface="Arial"/>
            </a:endParaRPr>
          </a:p>
        </p:txBody>
      </p:sp>
      <p:sp>
        <p:nvSpPr>
          <p:cNvPr id="860" name="Shape 22"/>
          <p:cNvSpPr/>
          <p:nvPr/>
        </p:nvSpPr>
        <p:spPr>
          <a:xfrm>
            <a:off x="6135480" y="2121480"/>
            <a:ext cx="5321160" cy="3510720"/>
          </a:xfrm>
          <a:prstGeom prst="roundRect">
            <a:avLst>
              <a:gd name="adj" fmla="val 3646"/>
            </a:avLst>
          </a:prstGeom>
          <a:solidFill>
            <a:srgbClr val="eaf3ef"/>
          </a:solidFill>
          <a:ln w="12700">
            <a:solidFill>
              <a:srgbClr val="eaf3e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61" name="Text 23"/>
          <p:cNvSpPr/>
          <p:nvPr/>
        </p:nvSpPr>
        <p:spPr>
          <a:xfrm>
            <a:off x="6446520" y="2414160"/>
            <a:ext cx="4626000" cy="246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100" spc="99" strike="noStrike" u="none">
                <a:solidFill>
                  <a:srgbClr val="667573"/>
                </a:solidFill>
                <a:effectLst/>
                <a:uFillTx/>
                <a:latin typeface="Inter"/>
                <a:ea typeface="Inter"/>
              </a:rPr>
              <a:t>INCLUDED WITH THE PROJECT</a:t>
            </a:r>
            <a:endParaRPr b="0" lang="en-US" sz="1100" strike="noStrike" u="none">
              <a:solidFill>
                <a:srgbClr val="000000"/>
              </a:solidFill>
              <a:effectLst/>
              <a:uFillTx/>
              <a:latin typeface="Arial"/>
            </a:endParaRPr>
          </a:p>
        </p:txBody>
      </p:sp>
      <p:sp>
        <p:nvSpPr>
          <p:cNvPr id="862" name="Text 24"/>
          <p:cNvSpPr/>
          <p:nvPr/>
        </p:nvSpPr>
        <p:spPr>
          <a:xfrm>
            <a:off x="6492240" y="2926080"/>
            <a:ext cx="202932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Notebook</a:t>
            </a:r>
            <a:endParaRPr b="0" lang="en-US" sz="1500" strike="noStrike" u="none">
              <a:solidFill>
                <a:srgbClr val="000000"/>
              </a:solidFill>
              <a:effectLst/>
              <a:uFillTx/>
              <a:latin typeface="Arial"/>
            </a:endParaRPr>
          </a:p>
        </p:txBody>
      </p:sp>
      <p:sp>
        <p:nvSpPr>
          <p:cNvPr id="863" name="Text 25"/>
          <p:cNvSpPr/>
          <p:nvPr/>
        </p:nvSpPr>
        <p:spPr>
          <a:xfrm>
            <a:off x="8458200" y="2926080"/>
            <a:ext cx="2605320" cy="438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Five fully documented experiments</a:t>
            </a:r>
            <a:endParaRPr b="0" lang="en-US" sz="1200" strike="noStrike" u="none">
              <a:solidFill>
                <a:srgbClr val="000000"/>
              </a:solidFill>
              <a:effectLst/>
              <a:uFillTx/>
              <a:latin typeface="Arial"/>
            </a:endParaRPr>
          </a:p>
        </p:txBody>
      </p:sp>
      <p:sp>
        <p:nvSpPr>
          <p:cNvPr id="864" name="Shape 26"/>
          <p:cNvSpPr/>
          <p:nvPr/>
        </p:nvSpPr>
        <p:spPr>
          <a:xfrm>
            <a:off x="6501240" y="3447000"/>
            <a:ext cx="4563000" cy="360"/>
          </a:xfrm>
          <a:prstGeom prst="line">
            <a:avLst/>
          </a:prstGeom>
          <a:ln w="1143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65" name="Text 27"/>
          <p:cNvSpPr/>
          <p:nvPr/>
        </p:nvSpPr>
        <p:spPr>
          <a:xfrm>
            <a:off x="6492240" y="3648600"/>
            <a:ext cx="202932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README</a:t>
            </a:r>
            <a:endParaRPr b="0" lang="en-US" sz="1500" strike="noStrike" u="none">
              <a:solidFill>
                <a:srgbClr val="000000"/>
              </a:solidFill>
              <a:effectLst/>
              <a:uFillTx/>
              <a:latin typeface="Arial"/>
            </a:endParaRPr>
          </a:p>
        </p:txBody>
      </p:sp>
      <p:sp>
        <p:nvSpPr>
          <p:cNvPr id="866" name="Text 28"/>
          <p:cNvSpPr/>
          <p:nvPr/>
        </p:nvSpPr>
        <p:spPr>
          <a:xfrm>
            <a:off x="8458200" y="3648600"/>
            <a:ext cx="2605320" cy="438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Execution steps and data limitations</a:t>
            </a:r>
            <a:endParaRPr b="0" lang="en-US" sz="1200" strike="noStrike" u="none">
              <a:solidFill>
                <a:srgbClr val="000000"/>
              </a:solidFill>
              <a:effectLst/>
              <a:uFillTx/>
              <a:latin typeface="Arial"/>
            </a:endParaRPr>
          </a:p>
        </p:txBody>
      </p:sp>
      <p:sp>
        <p:nvSpPr>
          <p:cNvPr id="867" name="Shape 29"/>
          <p:cNvSpPr/>
          <p:nvPr/>
        </p:nvSpPr>
        <p:spPr>
          <a:xfrm>
            <a:off x="6501240" y="4169520"/>
            <a:ext cx="4563000" cy="360"/>
          </a:xfrm>
          <a:prstGeom prst="line">
            <a:avLst/>
          </a:prstGeom>
          <a:ln w="11430">
            <a:solidFill>
              <a:srgbClr val="dadfd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68" name="Text 30"/>
          <p:cNvSpPr/>
          <p:nvPr/>
        </p:nvSpPr>
        <p:spPr>
          <a:xfrm>
            <a:off x="6492240" y="4370760"/>
            <a:ext cx="2029320" cy="32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132b2d"/>
                </a:solidFill>
                <a:effectLst/>
                <a:uFillTx/>
                <a:latin typeface="Inter"/>
                <a:ea typeface="Inter"/>
              </a:rPr>
              <a:t>Requirements</a:t>
            </a:r>
            <a:endParaRPr b="0" lang="en-US" sz="1500" strike="noStrike" u="none">
              <a:solidFill>
                <a:srgbClr val="000000"/>
              </a:solidFill>
              <a:effectLst/>
              <a:uFillTx/>
              <a:latin typeface="Arial"/>
            </a:endParaRPr>
          </a:p>
        </p:txBody>
      </p:sp>
      <p:sp>
        <p:nvSpPr>
          <p:cNvPr id="869" name="Text 31"/>
          <p:cNvSpPr/>
          <p:nvPr/>
        </p:nvSpPr>
        <p:spPr>
          <a:xfrm>
            <a:off x="8458200" y="4370760"/>
            <a:ext cx="2605320" cy="438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12585a"/>
                </a:solidFill>
                <a:effectLst/>
                <a:uFillTx/>
                <a:latin typeface="Inter"/>
                <a:ea typeface="Inter"/>
              </a:rPr>
              <a:t>Pinned package versions and environment notes</a:t>
            </a:r>
            <a:endParaRPr b="0" lang="en-US" sz="1200" strike="noStrike" u="none">
              <a:solidFill>
                <a:srgbClr val="000000"/>
              </a:solidFill>
              <a:effectLst/>
              <a:uFillTx/>
              <a:latin typeface="Arial"/>
            </a:endParaRPr>
          </a:p>
        </p:txBody>
      </p:sp>
      <p:sp>
        <p:nvSpPr>
          <p:cNvPr id="870" name="Shape 32"/>
          <p:cNvSpPr/>
          <p:nvPr/>
        </p:nvSpPr>
        <p:spPr>
          <a:xfrm>
            <a:off x="996840" y="5806440"/>
            <a:ext cx="10222200" cy="392400"/>
          </a:xfrm>
          <a:prstGeom prst="roundRect">
            <a:avLst>
              <a:gd name="adj" fmla="val 18605"/>
            </a:avLst>
          </a:prstGeom>
          <a:solidFill>
            <a:srgbClr val="faebe0"/>
          </a:solidFill>
          <a:ln w="12700">
            <a:solidFill>
              <a:srgbClr val="faebe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71" name="Text 33"/>
          <p:cNvSpPr/>
          <p:nvPr/>
        </p:nvSpPr>
        <p:spPr>
          <a:xfrm>
            <a:off x="1143000" y="5879520"/>
            <a:ext cx="9929520" cy="236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160" strike="noStrike" u="none">
                <a:solidFill>
                  <a:srgbClr val="ce6949"/>
                </a:solidFill>
                <a:effectLst/>
                <a:uFillTx/>
                <a:latin typeface="Inter"/>
                <a:ea typeface="Inter"/>
              </a:rPr>
              <a:t>Limits: Colab-focused paths, external pretrained weights, and no verified crystal-disjoint test set.</a:t>
            </a:r>
            <a:endParaRPr b="0" lang="en-US" sz="1160" strike="noStrike" u="none">
              <a:solidFill>
                <a:srgbClr val="000000"/>
              </a:solidFill>
              <a:effectLst/>
              <a:uFillTx/>
              <a:latin typeface="Arial"/>
            </a:endParaRPr>
          </a:p>
        </p:txBody>
      </p:sp>
      <p:sp>
        <p:nvSpPr>
          <p:cNvPr id="872" name="Text 34"/>
          <p:cNvSpPr/>
          <p:nvPr/>
        </p:nvSpPr>
        <p:spPr>
          <a:xfrm>
            <a:off x="612720" y="6226920"/>
            <a:ext cx="10926360" cy="163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839" strike="noStrike" u="none">
                <a:solidFill>
                  <a:srgbClr val="667573"/>
                </a:solidFill>
                <a:effectLst/>
                <a:uFillTx/>
                <a:latin typeface="Inter"/>
                <a:ea typeface="Inter"/>
              </a:rPr>
              <a:t>Files: final Colab notebook, README.md, requirements.txt; data loaded from the public experimental ZIP.</a:t>
            </a:r>
            <a:endParaRPr b="0" lang="en-US" sz="839"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3" name="Shape 0"/>
          <p:cNvSpPr/>
          <p:nvPr/>
        </p:nvSpPr>
        <p:spPr>
          <a:xfrm>
            <a:off x="0" y="0"/>
            <a:ext cx="12191040" cy="6857280"/>
          </a:xfrm>
          <a:prstGeom prst="rect">
            <a:avLst/>
          </a:prstGeom>
          <a:solidFill>
            <a:srgbClr val="132b2d"/>
          </a:solidFill>
          <a:ln w="12700">
            <a:solidFill>
              <a:srgbClr val="132b2d">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74" name="Shape 1"/>
          <p:cNvSpPr/>
          <p:nvPr/>
        </p:nvSpPr>
        <p:spPr>
          <a:xfrm>
            <a:off x="667440" y="530280"/>
            <a:ext cx="1334160" cy="264600"/>
          </a:xfrm>
          <a:prstGeom prst="roundRect">
            <a:avLst>
              <a:gd name="adj" fmla="val 37931"/>
            </a:avLst>
          </a:prstGeom>
          <a:solidFill>
            <a:srgbClr val="285052"/>
          </a:solidFill>
          <a:ln w="12700">
            <a:solidFill>
              <a:srgbClr val="285052">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75" name="Text 2"/>
          <p:cNvSpPr/>
          <p:nvPr/>
        </p:nvSpPr>
        <p:spPr>
          <a:xfrm>
            <a:off x="777240" y="553320"/>
            <a:ext cx="1114920" cy="200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cae7dc"/>
                </a:solidFill>
                <a:effectLst/>
                <a:uFillTx/>
                <a:latin typeface="Inter"/>
                <a:ea typeface="Inter"/>
              </a:rPr>
              <a:t>CONCLUSION</a:t>
            </a:r>
            <a:endParaRPr b="0" lang="en-US" sz="1000" strike="noStrike" u="none">
              <a:solidFill>
                <a:srgbClr val="000000"/>
              </a:solidFill>
              <a:effectLst/>
              <a:uFillTx/>
              <a:latin typeface="Arial"/>
            </a:endParaRPr>
          </a:p>
        </p:txBody>
      </p:sp>
      <p:sp>
        <p:nvSpPr>
          <p:cNvPr id="876" name="Text 3"/>
          <p:cNvSpPr/>
          <p:nvPr/>
        </p:nvSpPr>
        <p:spPr>
          <a:xfrm>
            <a:off x="685800" y="1207080"/>
            <a:ext cx="10853280" cy="1416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300" strike="noStrike" u="none">
                <a:solidFill>
                  <a:srgbClr val="ffffff"/>
                </a:solidFill>
                <a:effectLst/>
                <a:uFillTx/>
                <a:latin typeface="Inter Display"/>
                <a:ea typeface="Inter Display"/>
              </a:rPr>
              <a:t>A benchmark is only as strong</a:t>
            </a:r>
            <a:endParaRPr b="0" lang="en-US" sz="3300" strike="noStrike" u="none">
              <a:solidFill>
                <a:srgbClr val="000000"/>
              </a:solidFill>
              <a:effectLst/>
              <a:uFillTx/>
              <a:latin typeface="Arial"/>
            </a:endParaRPr>
          </a:p>
          <a:p>
            <a:pPr defTabSz="914400">
              <a:lnSpc>
                <a:spcPct val="100000"/>
              </a:lnSpc>
              <a:tabLst>
                <a:tab algn="l" pos="0"/>
              </a:tabLst>
            </a:pPr>
            <a:r>
              <a:rPr b="1" lang="en-US" sz="3300" strike="noStrike" u="none">
                <a:solidFill>
                  <a:srgbClr val="ffffff"/>
                </a:solidFill>
                <a:effectLst/>
                <a:uFillTx/>
                <a:latin typeface="Inter Display"/>
                <a:ea typeface="Inter Display"/>
              </a:rPr>
              <a:t>as its test-set independence.</a:t>
            </a:r>
            <a:endParaRPr b="0" lang="en-US" sz="3300" strike="noStrike" u="none">
              <a:solidFill>
                <a:srgbClr val="000000"/>
              </a:solidFill>
              <a:effectLst/>
              <a:uFillTx/>
              <a:latin typeface="Arial"/>
            </a:endParaRPr>
          </a:p>
        </p:txBody>
      </p:sp>
      <p:sp>
        <p:nvSpPr>
          <p:cNvPr id="877" name="Shape 4"/>
          <p:cNvSpPr/>
          <p:nvPr/>
        </p:nvSpPr>
        <p:spPr>
          <a:xfrm>
            <a:off x="703800" y="2916720"/>
            <a:ext cx="10744200" cy="360"/>
          </a:xfrm>
          <a:prstGeom prst="line">
            <a:avLst/>
          </a:prstGeom>
          <a:ln w="15240">
            <a:solidFill>
              <a:srgbClr val="416567"/>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78" name="Shape 5"/>
          <p:cNvSpPr/>
          <p:nvPr/>
        </p:nvSpPr>
        <p:spPr>
          <a:xfrm>
            <a:off x="722520" y="3401640"/>
            <a:ext cx="410760" cy="39240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79" name="Text 6"/>
          <p:cNvSpPr/>
          <p:nvPr/>
        </p:nvSpPr>
        <p:spPr>
          <a:xfrm>
            <a:off x="740520" y="3429000"/>
            <a:ext cx="37404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01</a:t>
            </a:r>
            <a:endParaRPr b="0" lang="en-US" sz="1600" strike="noStrike" u="none">
              <a:solidFill>
                <a:srgbClr val="000000"/>
              </a:solidFill>
              <a:effectLst/>
              <a:uFillTx/>
              <a:latin typeface="Arial"/>
            </a:endParaRPr>
          </a:p>
        </p:txBody>
      </p:sp>
      <p:sp>
        <p:nvSpPr>
          <p:cNvPr id="880" name="Text 7"/>
          <p:cNvSpPr/>
          <p:nvPr/>
        </p:nvSpPr>
        <p:spPr>
          <a:xfrm>
            <a:off x="722520" y="3940920"/>
            <a:ext cx="3465000" cy="438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Reproduced</a:t>
            </a:r>
            <a:endParaRPr b="0" lang="en-US" sz="2100" strike="noStrike" u="none">
              <a:solidFill>
                <a:srgbClr val="000000"/>
              </a:solidFill>
              <a:effectLst/>
              <a:uFillTx/>
              <a:latin typeface="Arial"/>
            </a:endParaRPr>
          </a:p>
        </p:txBody>
      </p:sp>
      <p:sp>
        <p:nvSpPr>
          <p:cNvPr id="881" name="Text 8"/>
          <p:cNvSpPr/>
          <p:nvPr/>
        </p:nvSpPr>
        <p:spPr>
          <a:xfrm>
            <a:off x="722520" y="4544640"/>
            <a:ext cx="3492360" cy="657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DT and KNN on available data</a:t>
            </a:r>
            <a:endParaRPr b="0" lang="en-US" sz="1500" strike="noStrike" u="none">
              <a:solidFill>
                <a:srgbClr val="000000"/>
              </a:solidFill>
              <a:effectLst/>
              <a:uFillTx/>
              <a:latin typeface="Arial"/>
            </a:endParaRPr>
          </a:p>
        </p:txBody>
      </p:sp>
      <p:sp>
        <p:nvSpPr>
          <p:cNvPr id="882" name="Shape 9"/>
          <p:cNvSpPr/>
          <p:nvPr/>
        </p:nvSpPr>
        <p:spPr>
          <a:xfrm>
            <a:off x="4507920" y="3401640"/>
            <a:ext cx="410760" cy="392400"/>
          </a:xfrm>
          <a:prstGeom prst="roundRect">
            <a:avLst>
              <a:gd name="adj" fmla="val 25581"/>
            </a:avLst>
          </a:prstGeom>
          <a:solidFill>
            <a:srgbClr val="287f80"/>
          </a:solidFill>
          <a:ln w="12700">
            <a:solidFill>
              <a:srgbClr val="287f80">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83" name="Text 10"/>
          <p:cNvSpPr/>
          <p:nvPr/>
        </p:nvSpPr>
        <p:spPr>
          <a:xfrm>
            <a:off x="4526280" y="3429000"/>
            <a:ext cx="37404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02</a:t>
            </a:r>
            <a:endParaRPr b="0" lang="en-US" sz="1600" strike="noStrike" u="none">
              <a:solidFill>
                <a:srgbClr val="000000"/>
              </a:solidFill>
              <a:effectLst/>
              <a:uFillTx/>
              <a:latin typeface="Arial"/>
            </a:endParaRPr>
          </a:p>
        </p:txBody>
      </p:sp>
      <p:sp>
        <p:nvSpPr>
          <p:cNvPr id="884" name="Text 11"/>
          <p:cNvSpPr/>
          <p:nvPr/>
        </p:nvSpPr>
        <p:spPr>
          <a:xfrm>
            <a:off x="4507920" y="3940920"/>
            <a:ext cx="3465000" cy="438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Extended</a:t>
            </a:r>
            <a:endParaRPr b="0" lang="en-US" sz="2100" strike="noStrike" u="none">
              <a:solidFill>
                <a:srgbClr val="000000"/>
              </a:solidFill>
              <a:effectLst/>
              <a:uFillTx/>
              <a:latin typeface="Arial"/>
            </a:endParaRPr>
          </a:p>
        </p:txBody>
      </p:sp>
      <p:sp>
        <p:nvSpPr>
          <p:cNvPr id="885" name="Text 12"/>
          <p:cNvSpPr/>
          <p:nvPr/>
        </p:nvSpPr>
        <p:spPr>
          <a:xfrm>
            <a:off x="4507920" y="4544640"/>
            <a:ext cx="3492360" cy="657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CV, tuning, error analysis, CNN</a:t>
            </a:r>
            <a:endParaRPr b="0" lang="en-US" sz="1500" strike="noStrike" u="none">
              <a:solidFill>
                <a:srgbClr val="000000"/>
              </a:solidFill>
              <a:effectLst/>
              <a:uFillTx/>
              <a:latin typeface="Arial"/>
            </a:endParaRPr>
          </a:p>
        </p:txBody>
      </p:sp>
      <p:sp>
        <p:nvSpPr>
          <p:cNvPr id="886" name="Shape 13"/>
          <p:cNvSpPr/>
          <p:nvPr/>
        </p:nvSpPr>
        <p:spPr>
          <a:xfrm>
            <a:off x="8293680" y="3401640"/>
            <a:ext cx="410760" cy="392400"/>
          </a:xfrm>
          <a:prstGeom prst="roundRect">
            <a:avLst>
              <a:gd name="adj" fmla="val 25581"/>
            </a:avLst>
          </a:prstGeom>
          <a:solidFill>
            <a:srgbClr val="d9794a"/>
          </a:solidFill>
          <a:ln w="12700">
            <a:solidFill>
              <a:srgbClr val="d979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87" name="Text 14"/>
          <p:cNvSpPr/>
          <p:nvPr/>
        </p:nvSpPr>
        <p:spPr>
          <a:xfrm>
            <a:off x="8312040" y="3429000"/>
            <a:ext cx="374040" cy="319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600" strike="noStrike" u="none">
                <a:solidFill>
                  <a:srgbClr val="ffffff"/>
                </a:solidFill>
                <a:effectLst/>
                <a:uFillTx/>
                <a:latin typeface="Inter"/>
                <a:ea typeface="Inter"/>
              </a:rPr>
              <a:t>03</a:t>
            </a:r>
            <a:endParaRPr b="0" lang="en-US" sz="1600" strike="noStrike" u="none">
              <a:solidFill>
                <a:srgbClr val="000000"/>
              </a:solidFill>
              <a:effectLst/>
              <a:uFillTx/>
              <a:latin typeface="Arial"/>
            </a:endParaRPr>
          </a:p>
        </p:txBody>
      </p:sp>
      <p:sp>
        <p:nvSpPr>
          <p:cNvPr id="888" name="Text 15"/>
          <p:cNvSpPr/>
          <p:nvPr/>
        </p:nvSpPr>
        <p:spPr>
          <a:xfrm>
            <a:off x="8293680" y="3940920"/>
            <a:ext cx="3465000" cy="438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ffffff"/>
                </a:solidFill>
                <a:effectLst/>
                <a:uFillTx/>
                <a:latin typeface="Inter"/>
                <a:ea typeface="Inter"/>
              </a:rPr>
              <a:t>Identified</a:t>
            </a:r>
            <a:endParaRPr b="0" lang="en-US" sz="2100" strike="noStrike" u="none">
              <a:solidFill>
                <a:srgbClr val="000000"/>
              </a:solidFill>
              <a:effectLst/>
              <a:uFillTx/>
              <a:latin typeface="Arial"/>
            </a:endParaRPr>
          </a:p>
        </p:txBody>
      </p:sp>
      <p:sp>
        <p:nvSpPr>
          <p:cNvPr id="889" name="Text 16"/>
          <p:cNvSpPr/>
          <p:nvPr/>
        </p:nvSpPr>
        <p:spPr>
          <a:xfrm>
            <a:off x="8293680" y="4544640"/>
            <a:ext cx="3492360" cy="6577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bd3cd"/>
                </a:solidFill>
                <a:effectLst/>
                <a:uFillTx/>
                <a:latin typeface="Inter"/>
                <a:ea typeface="Inter"/>
              </a:rPr>
              <a:t>Data–metadata mismatch and group overlap</a:t>
            </a:r>
            <a:endParaRPr b="0" lang="en-US" sz="1500" strike="noStrike" u="none">
              <a:solidFill>
                <a:srgbClr val="000000"/>
              </a:solidFill>
              <a:effectLst/>
              <a:uFillTx/>
              <a:latin typeface="Arial"/>
            </a:endParaRPr>
          </a:p>
        </p:txBody>
      </p:sp>
      <p:sp>
        <p:nvSpPr>
          <p:cNvPr id="890" name="Shape 17"/>
          <p:cNvSpPr/>
          <p:nvPr/>
        </p:nvSpPr>
        <p:spPr>
          <a:xfrm>
            <a:off x="722520" y="5559480"/>
            <a:ext cx="10761840" cy="612000"/>
          </a:xfrm>
          <a:prstGeom prst="roundRect">
            <a:avLst>
              <a:gd name="adj" fmla="val 16418"/>
            </a:avLst>
          </a:prstGeom>
          <a:solidFill>
            <a:srgbClr val="27464a"/>
          </a:solidFill>
          <a:ln w="12700">
            <a:solidFill>
              <a:srgbClr val="27464a">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891" name="Text 18"/>
          <p:cNvSpPr/>
          <p:nvPr/>
        </p:nvSpPr>
        <p:spPr>
          <a:xfrm>
            <a:off x="941760" y="5687640"/>
            <a:ext cx="10359360" cy="300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700" strike="noStrike" u="none">
                <a:solidFill>
                  <a:srgbClr val="e7ac60"/>
                </a:solidFill>
                <a:effectLst/>
                <a:uFillTx/>
                <a:latin typeface="Inter"/>
                <a:ea typeface="Inter"/>
              </a:rPr>
              <a:t>100% accuracy on 117 related images ≠ proven accuracy on unseen crystals.</a:t>
            </a:r>
            <a:endParaRPr b="0" lang="en-US" sz="1700" strike="noStrike" u="none">
              <a:solidFill>
                <a:srgbClr val="000000"/>
              </a:solidFill>
              <a:effectLst/>
              <a:uFillTx/>
              <a:latin typeface="Arial"/>
            </a:endParaRPr>
          </a:p>
        </p:txBody>
      </p:sp>
      <p:sp>
        <p:nvSpPr>
          <p:cNvPr id="892" name="Text 19"/>
          <p:cNvSpPr/>
          <p:nvPr/>
        </p:nvSpPr>
        <p:spPr>
          <a:xfrm>
            <a:off x="740520" y="6473880"/>
            <a:ext cx="10149120" cy="209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00" strike="noStrike" u="none">
                <a:solidFill>
                  <a:srgbClr val="b3c9c3"/>
                </a:solidFill>
                <a:effectLst/>
                <a:uFillTx/>
                <a:latin typeface="Inter"/>
                <a:ea typeface="Inter"/>
              </a:rPr>
              <a:t>Amer et al. (2025) · Scientific Data · DOI: 10.1038/s41597-025-05879-9</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pitchFamily="0" charset="1"/>
        <a:ea typeface=""/>
        <a:cs typeface=""/>
      </a:majorFont>
      <a:minorFont>
        <a:latin typeface="Inter"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2026-10-19T01:15:09Z</dcterms:created>
  <dc:creator>MUMDMC2025 Reproduction Project</dc:creator>
  <dc:description/>
  <dc:language>en-US</dc:language>
  <cp:lastModifiedBy>MUMDMC2025 Reproduction Project</cp:lastModifiedBy>
  <dcterms:modified xsi:type="dcterms:W3CDTF">2026-10-19T01:15:09Z</dcterms:modified>
  <cp:revision>1</cp:revision>
  <dc:subject>Reproduction and critical evaluation of MUMDMC2025</dc:subject>
  <dc:title>100% Accuracy — But on What?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On-screen Show (16:9)</vt:lpwstr>
  </property>
  <property fmtid="{D5CDD505-2E9C-101B-9397-08002B2CF9AE}" pid="4" name="Slides">
    <vt:r8>21</vt:r8>
  </property>
</Properties>
</file>